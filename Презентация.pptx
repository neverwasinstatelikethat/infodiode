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anose="020B0604020202020204" charset="-122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iter" panose="020B0604020202020204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26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144566" y="77024"/>
            <a:ext cx="330428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gradFill flip="none" rotWithShape="1">
                  <a:gsLst>
                    <a:gs pos="0">
                      <a:srgbClr val="3B82F6"/>
                    </a:gs>
                    <a:gs pos="100000">
                      <a:srgbClr val="60A5FA"/>
                    </a:gs>
                  </a:gsLst>
                  <a:lin ang="2700000" scaled="1"/>
                </a:gradFill>
                <a:latin typeface="Liter" pitchFamily="34" charset="0"/>
                <a:ea typeface="Liter" pitchFamily="34" charset="-122"/>
                <a:cs typeface="Liter" pitchFamily="34" charset="-120"/>
              </a:rPr>
              <a:t>InfoDiode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2582" y="828296"/>
            <a:ext cx="5048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Интеллектуальная система извлечения данных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 изолированных SCADA-систем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1875" y="39957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790950" y="3957638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VLM-распознавание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06207" y="39957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796707" y="3957638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GPG-шифрование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7296" y="39957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47625"/>
                </a:moveTo>
                <a:lnTo>
                  <a:pt x="38100" y="47625"/>
                </a:lnTo>
                <a:lnTo>
                  <a:pt x="38100" y="28575"/>
                </a:lnTo>
                <a:lnTo>
                  <a:pt x="19050" y="28575"/>
                </a:lnTo>
                <a:lnTo>
                  <a:pt x="19050" y="47625"/>
                </a:lnTo>
                <a:close/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52388"/>
                </a:lnTo>
                <a:cubicBezTo>
                  <a:pt x="57150" y="60275"/>
                  <a:pt x="50750" y="66675"/>
                  <a:pt x="42863" y="66675"/>
                </a:cubicBez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  <a:moveTo>
                  <a:pt x="19050" y="123825"/>
                </a:moveTo>
                <a:lnTo>
                  <a:pt x="38100" y="123825"/>
                </a:lnTo>
                <a:lnTo>
                  <a:pt x="38100" y="104775"/>
                </a:lnTo>
                <a:lnTo>
                  <a:pt x="19050" y="104775"/>
                </a:lnTo>
                <a:lnTo>
                  <a:pt x="19050" y="123825"/>
                </a:lnTo>
                <a:close/>
                <a:moveTo>
                  <a:pt x="0" y="100013"/>
                </a:moveTo>
                <a:cubicBezTo>
                  <a:pt x="0" y="92125"/>
                  <a:pt x="6400" y="85725"/>
                  <a:pt x="14288" y="85725"/>
                </a:cubicBezTo>
                <a:lnTo>
                  <a:pt x="42863" y="85725"/>
                </a:lnTo>
                <a:cubicBezTo>
                  <a:pt x="50750" y="85725"/>
                  <a:pt x="57150" y="92125"/>
                  <a:pt x="57150" y="100013"/>
                </a:cubicBezTo>
                <a:lnTo>
                  <a:pt x="57150" y="128588"/>
                </a:lnTo>
                <a:cubicBezTo>
                  <a:pt x="57150" y="136475"/>
                  <a:pt x="50750" y="142875"/>
                  <a:pt x="42863" y="142875"/>
                </a:cubicBezTo>
                <a:lnTo>
                  <a:pt x="14288" y="142875"/>
                </a:lnTo>
                <a:cubicBezTo>
                  <a:pt x="6400" y="142875"/>
                  <a:pt x="0" y="136475"/>
                  <a:pt x="0" y="128588"/>
                </a:cubicBezTo>
                <a:lnTo>
                  <a:pt x="0" y="100013"/>
                </a:lnTo>
                <a:close/>
                <a:moveTo>
                  <a:pt x="95250" y="28575"/>
                </a:moveTo>
                <a:lnTo>
                  <a:pt x="95250" y="47625"/>
                </a:lnTo>
                <a:lnTo>
                  <a:pt x="114300" y="47625"/>
                </a:lnTo>
                <a:lnTo>
                  <a:pt x="114300" y="28575"/>
                </a:lnTo>
                <a:lnTo>
                  <a:pt x="95250" y="28575"/>
                </a:lnTo>
                <a:close/>
                <a:moveTo>
                  <a:pt x="90488" y="9525"/>
                </a:moveTo>
                <a:lnTo>
                  <a:pt x="119062" y="9525"/>
                </a:lnTo>
                <a:cubicBezTo>
                  <a:pt x="126950" y="9525"/>
                  <a:pt x="133350" y="15925"/>
                  <a:pt x="133350" y="23813"/>
                </a:cubicBezTo>
                <a:lnTo>
                  <a:pt x="133350" y="52388"/>
                </a:lnTo>
                <a:cubicBezTo>
                  <a:pt x="133350" y="60275"/>
                  <a:pt x="126950" y="66675"/>
                  <a:pt x="119062" y="66675"/>
                </a:cubicBezTo>
                <a:lnTo>
                  <a:pt x="90488" y="66675"/>
                </a:lnTo>
                <a:cubicBezTo>
                  <a:pt x="82600" y="66675"/>
                  <a:pt x="76200" y="60275"/>
                  <a:pt x="76200" y="52388"/>
                </a:cubicBezTo>
                <a:lnTo>
                  <a:pt x="76200" y="23813"/>
                </a:lnTo>
                <a:cubicBezTo>
                  <a:pt x="76200" y="15925"/>
                  <a:pt x="82600" y="9525"/>
                  <a:pt x="90488" y="9525"/>
                </a:cubicBezTo>
                <a:close/>
                <a:moveTo>
                  <a:pt x="85725" y="104775"/>
                </a:moveTo>
                <a:cubicBezTo>
                  <a:pt x="80468" y="104775"/>
                  <a:pt x="76200" y="100507"/>
                  <a:pt x="76200" y="95250"/>
                </a:cubicBezTo>
                <a:cubicBezTo>
                  <a:pt x="76200" y="89993"/>
                  <a:pt x="80468" y="85725"/>
                  <a:pt x="85725" y="85725"/>
                </a:cubicBezTo>
                <a:cubicBezTo>
                  <a:pt x="90982" y="85725"/>
                  <a:pt x="95250" y="89993"/>
                  <a:pt x="95250" y="95250"/>
                </a:cubicBezTo>
                <a:cubicBezTo>
                  <a:pt x="95250" y="100507"/>
                  <a:pt x="90982" y="104775"/>
                  <a:pt x="85725" y="104775"/>
                </a:cubicBezTo>
                <a:close/>
                <a:moveTo>
                  <a:pt x="85725" y="123825"/>
                </a:moveTo>
                <a:cubicBezTo>
                  <a:pt x="90994" y="123825"/>
                  <a:pt x="95250" y="128081"/>
                  <a:pt x="95250" y="133350"/>
                </a:cubicBezTo>
                <a:cubicBezTo>
                  <a:pt x="95250" y="138619"/>
                  <a:pt x="90994" y="142875"/>
                  <a:pt x="85725" y="142875"/>
                </a:cubicBezTo>
                <a:cubicBezTo>
                  <a:pt x="80456" y="142875"/>
                  <a:pt x="76200" y="138619"/>
                  <a:pt x="76200" y="133350"/>
                </a:cubicBezTo>
                <a:cubicBezTo>
                  <a:pt x="76200" y="128081"/>
                  <a:pt x="80456" y="123825"/>
                  <a:pt x="85725" y="123825"/>
                </a:cubicBezTo>
                <a:close/>
                <a:moveTo>
                  <a:pt x="114300" y="133350"/>
                </a:moveTo>
                <a:cubicBezTo>
                  <a:pt x="114300" y="128081"/>
                  <a:pt x="118556" y="123825"/>
                  <a:pt x="123825" y="123825"/>
                </a:cubicBezTo>
                <a:cubicBezTo>
                  <a:pt x="129094" y="123825"/>
                  <a:pt x="133350" y="128081"/>
                  <a:pt x="133350" y="133350"/>
                </a:cubicBezTo>
                <a:cubicBezTo>
                  <a:pt x="133350" y="138619"/>
                  <a:pt x="129094" y="142875"/>
                  <a:pt x="123825" y="142875"/>
                </a:cubicBezTo>
                <a:cubicBezTo>
                  <a:pt x="118556" y="142875"/>
                  <a:pt x="114300" y="138619"/>
                  <a:pt x="114300" y="133350"/>
                </a:cubicBezTo>
                <a:close/>
                <a:moveTo>
                  <a:pt x="123825" y="104775"/>
                </a:moveTo>
                <a:cubicBezTo>
                  <a:pt x="118568" y="104775"/>
                  <a:pt x="114300" y="100507"/>
                  <a:pt x="114300" y="95250"/>
                </a:cubicBezTo>
                <a:cubicBezTo>
                  <a:pt x="114300" y="89993"/>
                  <a:pt x="118568" y="85725"/>
                  <a:pt x="123825" y="85725"/>
                </a:cubicBezTo>
                <a:cubicBezTo>
                  <a:pt x="129082" y="85725"/>
                  <a:pt x="133350" y="89993"/>
                  <a:pt x="133350" y="95250"/>
                </a:cubicBezTo>
                <a:cubicBezTo>
                  <a:pt x="133350" y="100507"/>
                  <a:pt x="129082" y="104775"/>
                  <a:pt x="123825" y="104775"/>
                </a:cubicBezTo>
                <a:close/>
                <a:moveTo>
                  <a:pt x="114300" y="114300"/>
                </a:moveTo>
                <a:cubicBezTo>
                  <a:pt x="114300" y="119557"/>
                  <a:pt x="110032" y="123825"/>
                  <a:pt x="104775" y="123825"/>
                </a:cubicBezTo>
                <a:cubicBezTo>
                  <a:pt x="99518" y="123825"/>
                  <a:pt x="95250" y="119557"/>
                  <a:pt x="95250" y="114300"/>
                </a:cubicBezTo>
                <a:cubicBezTo>
                  <a:pt x="95250" y="109043"/>
                  <a:pt x="99518" y="104775"/>
                  <a:pt x="104775" y="104775"/>
                </a:cubicBezTo>
                <a:cubicBezTo>
                  <a:pt x="110032" y="104775"/>
                  <a:pt x="114300" y="109043"/>
                  <a:pt x="114300" y="1143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617321" y="3957638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QR-инфодиод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24646" y="4495800"/>
            <a:ext cx="1819275" cy="923925"/>
          </a:xfrm>
          <a:custGeom>
            <a:avLst/>
            <a:gdLst/>
            <a:ahLst/>
            <a:cxnLst/>
            <a:rect l="l" t="t" r="r" b="b"/>
            <a:pathLst>
              <a:path w="1819275" h="923925">
                <a:moveTo>
                  <a:pt x="76196" y="0"/>
                </a:moveTo>
                <a:lnTo>
                  <a:pt x="1743079" y="0"/>
                </a:lnTo>
                <a:cubicBezTo>
                  <a:pt x="1785161" y="0"/>
                  <a:pt x="1819275" y="34114"/>
                  <a:pt x="1819275" y="76196"/>
                </a:cubicBezTo>
                <a:lnTo>
                  <a:pt x="1819275" y="847729"/>
                </a:lnTo>
                <a:cubicBezTo>
                  <a:pt x="1819275" y="889811"/>
                  <a:pt x="1785161" y="923925"/>
                  <a:pt x="17430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6084" y="4652963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8471" y="5072063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распознавания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84874" y="4495800"/>
            <a:ext cx="1819275" cy="923925"/>
          </a:xfrm>
          <a:custGeom>
            <a:avLst/>
            <a:gdLst/>
            <a:ahLst/>
            <a:cxnLst/>
            <a:rect l="l" t="t" r="r" b="b"/>
            <a:pathLst>
              <a:path w="1819275" h="923925">
                <a:moveTo>
                  <a:pt x="76196" y="0"/>
                </a:moveTo>
                <a:lnTo>
                  <a:pt x="1743079" y="0"/>
                </a:lnTo>
                <a:cubicBezTo>
                  <a:pt x="1785161" y="0"/>
                  <a:pt x="1819275" y="34114"/>
                  <a:pt x="1819275" y="76196"/>
                </a:cubicBezTo>
                <a:lnTo>
                  <a:pt x="1819275" y="847729"/>
                </a:lnTo>
                <a:cubicBezTo>
                  <a:pt x="1819275" y="889811"/>
                  <a:pt x="1785161" y="923925"/>
                  <a:pt x="17430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6312" y="4652963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500мс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8699" y="5072063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Интервал снимков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45102" y="4495800"/>
            <a:ext cx="1819275" cy="923925"/>
          </a:xfrm>
          <a:custGeom>
            <a:avLst/>
            <a:gdLst/>
            <a:ahLst/>
            <a:cxnLst/>
            <a:rect l="l" t="t" r="r" b="b"/>
            <a:pathLst>
              <a:path w="1819275" h="923925">
                <a:moveTo>
                  <a:pt x="76196" y="0"/>
                </a:moveTo>
                <a:lnTo>
                  <a:pt x="1743079" y="0"/>
                </a:lnTo>
                <a:cubicBezTo>
                  <a:pt x="1785161" y="0"/>
                  <a:pt x="1819275" y="34114"/>
                  <a:pt x="1819275" y="76196"/>
                </a:cubicBezTo>
                <a:lnTo>
                  <a:pt x="1819275" y="847729"/>
                </a:lnTo>
                <a:cubicBezTo>
                  <a:pt x="1819275" y="889811"/>
                  <a:pt x="1785161" y="923925"/>
                  <a:pt x="17430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6539" y="4652963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8927" y="5072063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Покрытие параметров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81000" y="628650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Хакатон РТУ МИРЭА 2026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41334" y="62865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Задача 2: Инфодиод на базе видеокамеры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Проблематика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Вызовы передачи данных из объектов критической информационной инфраструктуры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29275" cy="2543175"/>
          </a:xfrm>
          <a:custGeom>
            <a:avLst/>
            <a:gdLst/>
            <a:ahLst/>
            <a:cxnLst/>
            <a:rect l="l" t="t" r="r" b="b"/>
            <a:pathLst>
              <a:path w="5629275" h="2543175">
                <a:moveTo>
                  <a:pt x="76194" y="0"/>
                </a:moveTo>
                <a:lnTo>
                  <a:pt x="5553081" y="0"/>
                </a:lnTo>
                <a:cubicBezTo>
                  <a:pt x="5595162" y="0"/>
                  <a:pt x="5629275" y="34113"/>
                  <a:pt x="5629275" y="76194"/>
                </a:cubicBezTo>
                <a:lnTo>
                  <a:pt x="5629275" y="2466981"/>
                </a:lnTo>
                <a:cubicBezTo>
                  <a:pt x="5629275" y="2509062"/>
                  <a:pt x="5595162" y="2543175"/>
                  <a:pt x="5553081" y="2543175"/>
                </a:cubicBezTo>
                <a:lnTo>
                  <a:pt x="76194" y="2543175"/>
                </a:lnTo>
                <a:cubicBezTo>
                  <a:pt x="34113" y="2543175"/>
                  <a:pt x="0" y="2509062"/>
                  <a:pt x="0" y="2466981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19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0081" y="152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2962" y="138131"/>
                </a:moveTo>
                <a:lnTo>
                  <a:pt x="33319" y="48488"/>
                </a:lnTo>
                <a:cubicBezTo>
                  <a:pt x="25818" y="59003"/>
                  <a:pt x="21431" y="71862"/>
                  <a:pt x="21431" y="85725"/>
                </a:cubicBezTo>
                <a:cubicBezTo>
                  <a:pt x="21431" y="121221"/>
                  <a:pt x="50229" y="150019"/>
                  <a:pt x="85725" y="150019"/>
                </a:cubicBezTo>
                <a:cubicBezTo>
                  <a:pt x="99622" y="150019"/>
                  <a:pt x="112481" y="145632"/>
                  <a:pt x="122962" y="138131"/>
                </a:cubicBezTo>
                <a:close/>
                <a:moveTo>
                  <a:pt x="138131" y="122962"/>
                </a:moveTo>
                <a:cubicBezTo>
                  <a:pt x="145632" y="112447"/>
                  <a:pt x="150019" y="99588"/>
                  <a:pt x="150019" y="85725"/>
                </a:cubicBezTo>
                <a:cubicBezTo>
                  <a:pt x="150019" y="50229"/>
                  <a:pt x="121221" y="21431"/>
                  <a:pt x="85725" y="21431"/>
                </a:cubicBezTo>
                <a:cubicBezTo>
                  <a:pt x="71828" y="21431"/>
                  <a:pt x="58969" y="25818"/>
                  <a:pt x="48488" y="33319"/>
                </a:cubicBezTo>
                <a:lnTo>
                  <a:pt x="138131" y="122962"/>
                </a:ln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476375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Запрет на подключение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19145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Требования регуляторов к объектам КИИ означают </a:t>
            </a: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полный запрет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на подключение технологических сетей к системам глобальной связи.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7688" y="2528888"/>
            <a:ext cx="5305425" cy="619125"/>
          </a:xfrm>
          <a:custGeom>
            <a:avLst/>
            <a:gdLst/>
            <a:ahLst/>
            <a:cxnLst/>
            <a:rect l="l" t="t" r="r" b="b"/>
            <a:pathLst>
              <a:path w="5305425" h="619125">
                <a:moveTo>
                  <a:pt x="76202" y="0"/>
                </a:moveTo>
                <a:lnTo>
                  <a:pt x="5229223" y="0"/>
                </a:lnTo>
                <a:cubicBezTo>
                  <a:pt x="5271308" y="0"/>
                  <a:pt x="5305425" y="34117"/>
                  <a:pt x="5305425" y="76202"/>
                </a:cubicBezTo>
                <a:lnTo>
                  <a:pt x="5305425" y="542923"/>
                </a:lnTo>
                <a:cubicBezTo>
                  <a:pt x="5305425" y="585008"/>
                  <a:pt x="5271308" y="619125"/>
                  <a:pt x="52292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76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95350" y="2647950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Это создаёт парадокс: данные необходимы (например, для передачи параметров работы двигателя изготовителю), но их извлечение затруднено.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929063"/>
            <a:ext cx="5629275" cy="2543175"/>
          </a:xfrm>
          <a:custGeom>
            <a:avLst/>
            <a:gdLst/>
            <a:ahLst/>
            <a:cxnLst/>
            <a:rect l="l" t="t" r="r" b="b"/>
            <a:pathLst>
              <a:path w="5629275" h="2543175">
                <a:moveTo>
                  <a:pt x="76194" y="0"/>
                </a:moveTo>
                <a:lnTo>
                  <a:pt x="5553081" y="0"/>
                </a:lnTo>
                <a:cubicBezTo>
                  <a:pt x="5595162" y="0"/>
                  <a:pt x="5629275" y="34113"/>
                  <a:pt x="5629275" y="76194"/>
                </a:cubicBezTo>
                <a:lnTo>
                  <a:pt x="5629275" y="2466981"/>
                </a:lnTo>
                <a:cubicBezTo>
                  <a:pt x="5629275" y="2509062"/>
                  <a:pt x="5595162" y="2543175"/>
                  <a:pt x="5553081" y="2543175"/>
                </a:cubicBezTo>
                <a:lnTo>
                  <a:pt x="76194" y="2543175"/>
                </a:lnTo>
                <a:cubicBezTo>
                  <a:pt x="34113" y="2543175"/>
                  <a:pt x="0" y="2509062"/>
                  <a:pt x="0" y="2466981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2925" y="4086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0081" y="4191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6441" y="10716"/>
                </a:moveTo>
                <a:cubicBezTo>
                  <a:pt x="96441" y="4789"/>
                  <a:pt x="91652" y="0"/>
                  <a:pt x="85725" y="0"/>
                </a:cubicBezTo>
                <a:cubicBezTo>
                  <a:pt x="79798" y="0"/>
                  <a:pt x="75009" y="4789"/>
                  <a:pt x="75009" y="10716"/>
                </a:cubicBezTo>
                <a:lnTo>
                  <a:pt x="75009" y="80367"/>
                </a:lnTo>
                <a:cubicBezTo>
                  <a:pt x="75009" y="83314"/>
                  <a:pt x="72598" y="85725"/>
                  <a:pt x="69652" y="85725"/>
                </a:cubicBezTo>
                <a:cubicBezTo>
                  <a:pt x="66705" y="85725"/>
                  <a:pt x="64294" y="83314"/>
                  <a:pt x="64294" y="80367"/>
                </a:cubicBezTo>
                <a:lnTo>
                  <a:pt x="64294" y="21431"/>
                </a:lnTo>
                <a:cubicBezTo>
                  <a:pt x="64294" y="15504"/>
                  <a:pt x="59505" y="10716"/>
                  <a:pt x="53578" y="10716"/>
                </a:cubicBezTo>
                <a:cubicBezTo>
                  <a:pt x="47651" y="10716"/>
                  <a:pt x="42863" y="15504"/>
                  <a:pt x="42863" y="21431"/>
                </a:cubicBezTo>
                <a:lnTo>
                  <a:pt x="42863" y="112514"/>
                </a:lnTo>
                <a:cubicBezTo>
                  <a:pt x="42863" y="113016"/>
                  <a:pt x="42863" y="113552"/>
                  <a:pt x="42896" y="114054"/>
                </a:cubicBezTo>
                <a:lnTo>
                  <a:pt x="22637" y="94766"/>
                </a:lnTo>
                <a:cubicBezTo>
                  <a:pt x="17279" y="89676"/>
                  <a:pt x="8807" y="89877"/>
                  <a:pt x="3683" y="95235"/>
                </a:cubicBezTo>
                <a:cubicBezTo>
                  <a:pt x="-1440" y="100593"/>
                  <a:pt x="-1206" y="109065"/>
                  <a:pt x="4152" y="114188"/>
                </a:cubicBezTo>
                <a:lnTo>
                  <a:pt x="41791" y="150019"/>
                </a:lnTo>
                <a:cubicBezTo>
                  <a:pt x="56224" y="163782"/>
                  <a:pt x="75411" y="171450"/>
                  <a:pt x="95369" y="171450"/>
                </a:cubicBezTo>
                <a:lnTo>
                  <a:pt x="101798" y="171450"/>
                </a:lnTo>
                <a:cubicBezTo>
                  <a:pt x="134347" y="171450"/>
                  <a:pt x="160734" y="145063"/>
                  <a:pt x="160734" y="112514"/>
                </a:cubicBezTo>
                <a:lnTo>
                  <a:pt x="160734" y="42863"/>
                </a:lnTo>
                <a:cubicBezTo>
                  <a:pt x="160734" y="36935"/>
                  <a:pt x="155946" y="32147"/>
                  <a:pt x="150019" y="32147"/>
                </a:cubicBezTo>
                <a:cubicBezTo>
                  <a:pt x="144092" y="32147"/>
                  <a:pt x="139303" y="36935"/>
                  <a:pt x="139303" y="42863"/>
                </a:cubicBezTo>
                <a:lnTo>
                  <a:pt x="139303" y="80367"/>
                </a:lnTo>
                <a:cubicBezTo>
                  <a:pt x="139303" y="83314"/>
                  <a:pt x="136892" y="85725"/>
                  <a:pt x="133945" y="85725"/>
                </a:cubicBezTo>
                <a:cubicBezTo>
                  <a:pt x="130999" y="85725"/>
                  <a:pt x="128588" y="83314"/>
                  <a:pt x="128588" y="80367"/>
                </a:cubicBezTo>
                <a:lnTo>
                  <a:pt x="128588" y="21431"/>
                </a:lnTo>
                <a:cubicBezTo>
                  <a:pt x="128588" y="15504"/>
                  <a:pt x="123799" y="10716"/>
                  <a:pt x="117872" y="10716"/>
                </a:cubicBezTo>
                <a:cubicBezTo>
                  <a:pt x="111945" y="10716"/>
                  <a:pt x="107156" y="15504"/>
                  <a:pt x="107156" y="21431"/>
                </a:cubicBezTo>
                <a:lnTo>
                  <a:pt x="107156" y="80367"/>
                </a:lnTo>
                <a:cubicBezTo>
                  <a:pt x="107156" y="83314"/>
                  <a:pt x="104745" y="85725"/>
                  <a:pt x="101798" y="85725"/>
                </a:cubicBezTo>
                <a:cubicBezTo>
                  <a:pt x="98852" y="85725"/>
                  <a:pt x="96441" y="83314"/>
                  <a:pt x="96441" y="80367"/>
                </a:cubicBezTo>
                <a:lnTo>
                  <a:pt x="96441" y="10716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6" name="Text 14"/>
          <p:cNvSpPr/>
          <p:nvPr/>
        </p:nvSpPr>
        <p:spPr>
          <a:xfrm>
            <a:off x="1038225" y="4143375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Ручной процесс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2925" y="45815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 практике приходится </a:t>
            </a: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сохранять данные в файл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и вручную выводить их из контура защиты, отправлять электронной почтой. Процесс медленный, подвержен ошибкам и не масштабируется.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6963" y="1262063"/>
            <a:ext cx="5629275" cy="3000375"/>
          </a:xfrm>
          <a:custGeom>
            <a:avLst/>
            <a:gdLst/>
            <a:ahLst/>
            <a:cxnLst/>
            <a:rect l="l" t="t" r="r" b="b"/>
            <a:pathLst>
              <a:path w="5629275" h="3000375">
                <a:moveTo>
                  <a:pt x="76210" y="0"/>
                </a:moveTo>
                <a:lnTo>
                  <a:pt x="5553065" y="0"/>
                </a:lnTo>
                <a:cubicBezTo>
                  <a:pt x="5595155" y="0"/>
                  <a:pt x="5629275" y="34120"/>
                  <a:pt x="5629275" y="76210"/>
                </a:cubicBezTo>
                <a:lnTo>
                  <a:pt x="5629275" y="2924165"/>
                </a:lnTo>
                <a:cubicBezTo>
                  <a:pt x="5629275" y="2966255"/>
                  <a:pt x="5595155" y="3000375"/>
                  <a:pt x="5553065" y="3000375"/>
                </a:cubicBezTo>
                <a:lnTo>
                  <a:pt x="76210" y="3000375"/>
                </a:lnTo>
                <a:cubicBezTo>
                  <a:pt x="34120" y="3000375"/>
                  <a:pt x="0" y="2966255"/>
                  <a:pt x="0" y="2924165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4125" y="1419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41281" y="152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29425" y="1476375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Требования задания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4125" y="1933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25505" y="1971675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7025" y="1914525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Распознавание значений параметров на видеозаписи мнемосхемы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34125" y="2257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15088" y="22955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7025" y="2238375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Упаковка в XML с меткой времени, таблица соответствия параметров и кодов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4125" y="2581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14641" y="261937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7025" y="2562225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Шифрование и отправка по электронной почте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4125" y="2905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14641" y="29432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7025" y="288607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распознавания ≥ 95%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4125" y="3228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15385" y="326707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77025" y="320992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Частота формирования срезов — 500 мс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4125" y="3552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14195" y="35909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77025" y="353377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Работа без подключения к интернету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4125" y="3876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19106" y="391477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77025" y="3857625"/>
            <a:ext cx="427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Распознавание под разными углами съёмки, включая ручную съёмку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963" y="4386263"/>
            <a:ext cx="5629275" cy="1000125"/>
          </a:xfrm>
          <a:custGeom>
            <a:avLst/>
            <a:gdLst/>
            <a:ahLst/>
            <a:cxnLst/>
            <a:rect l="l" t="t" r="r" b="b"/>
            <a:pathLst>
              <a:path w="5629275" h="1000125">
                <a:moveTo>
                  <a:pt x="76200" y="0"/>
                </a:moveTo>
                <a:lnTo>
                  <a:pt x="5553075" y="0"/>
                </a:lnTo>
                <a:cubicBezTo>
                  <a:pt x="5595159" y="0"/>
                  <a:pt x="5629275" y="34116"/>
                  <a:pt x="5629275" y="76200"/>
                </a:cubicBezTo>
                <a:lnTo>
                  <a:pt x="5629275" y="923925"/>
                </a:lnTo>
                <a:cubicBezTo>
                  <a:pt x="5629275" y="966009"/>
                  <a:pt x="5595159" y="1000125"/>
                  <a:pt x="55530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7938" y="4772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6729264" y="4543425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Дополнительное задание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29264" y="4848225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Кодирование значений в QR-код 177×177 пикселей с периодом обновления 500 мс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20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Решение: InfoDiode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VLM-based подход к извлечению данных из air-gapped SCADA-систем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6791325" cy="2333625"/>
          </a:xfrm>
          <a:custGeom>
            <a:avLst/>
            <a:gdLst/>
            <a:ahLst/>
            <a:cxnLst/>
            <a:rect l="l" t="t" r="r" b="b"/>
            <a:pathLst>
              <a:path w="6791325" h="2333625">
                <a:moveTo>
                  <a:pt x="76193" y="0"/>
                </a:moveTo>
                <a:lnTo>
                  <a:pt x="6715132" y="0"/>
                </a:lnTo>
                <a:cubicBezTo>
                  <a:pt x="6757184" y="0"/>
                  <a:pt x="6791325" y="34141"/>
                  <a:pt x="6791325" y="76193"/>
                </a:cubicBezTo>
                <a:lnTo>
                  <a:pt x="6791325" y="2257432"/>
                </a:lnTo>
                <a:cubicBezTo>
                  <a:pt x="6791325" y="2299484"/>
                  <a:pt x="6757184" y="2333625"/>
                  <a:pt x="6715132" y="2333625"/>
                </a:cubicBezTo>
                <a:lnTo>
                  <a:pt x="76193" y="2333625"/>
                </a:lnTo>
                <a:cubicBezTo>
                  <a:pt x="34141" y="2333625"/>
                  <a:pt x="0" y="2299484"/>
                  <a:pt x="0" y="225743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550" y="14573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419225"/>
            <a:ext cx="633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Ключевая идея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800225"/>
            <a:ext cx="6553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Использование </a:t>
            </a:r>
            <a:r>
              <a:rPr lang="en-US" sz="1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визуально-языковой модели (VLM)</a:t>
            </a: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для чтения промышленных мнемосхем из видеопотока. Система понимает визуальный контекст SCADA-интерфейса и извлекает структурированные данные без интеграции с вендором.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688" y="2662238"/>
            <a:ext cx="2095500" cy="771525"/>
          </a:xfrm>
          <a:custGeom>
            <a:avLst/>
            <a:gdLst/>
            <a:ahLst/>
            <a:cxnLst/>
            <a:rect l="l" t="t" r="r" b="b"/>
            <a:pathLst>
              <a:path w="2095500" h="771525">
                <a:moveTo>
                  <a:pt x="76204" y="0"/>
                </a:moveTo>
                <a:lnTo>
                  <a:pt x="2019296" y="0"/>
                </a:lnTo>
                <a:cubicBezTo>
                  <a:pt x="2061383" y="0"/>
                  <a:pt x="2095500" y="34117"/>
                  <a:pt x="2095500" y="76204"/>
                </a:cubicBezTo>
                <a:lnTo>
                  <a:pt x="2095500" y="695321"/>
                </a:lnTo>
                <a:cubicBezTo>
                  <a:pt x="2095500" y="737408"/>
                  <a:pt x="2061383" y="771525"/>
                  <a:pt x="20192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1080" y="2781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3009900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 интеграции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 вендором SCADA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30698" y="2662238"/>
            <a:ext cx="2095500" cy="771525"/>
          </a:xfrm>
          <a:custGeom>
            <a:avLst/>
            <a:gdLst/>
            <a:ahLst/>
            <a:cxnLst/>
            <a:rect l="l" t="t" r="r" b="b"/>
            <a:pathLst>
              <a:path w="2095500" h="771525">
                <a:moveTo>
                  <a:pt x="76204" y="0"/>
                </a:moveTo>
                <a:lnTo>
                  <a:pt x="2019296" y="0"/>
                </a:lnTo>
                <a:cubicBezTo>
                  <a:pt x="2061383" y="0"/>
                  <a:pt x="2095500" y="34117"/>
                  <a:pt x="2095500" y="76204"/>
                </a:cubicBezTo>
                <a:lnTo>
                  <a:pt x="2095500" y="695321"/>
                </a:lnTo>
                <a:cubicBezTo>
                  <a:pt x="2095500" y="737408"/>
                  <a:pt x="2061383" y="771525"/>
                  <a:pt x="20192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4091" y="2781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2821186" y="3009900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 дообучения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13858" y="2662238"/>
            <a:ext cx="2095500" cy="771525"/>
          </a:xfrm>
          <a:custGeom>
            <a:avLst/>
            <a:gdLst/>
            <a:ahLst/>
            <a:cxnLst/>
            <a:rect l="l" t="t" r="r" b="b"/>
            <a:pathLst>
              <a:path w="2095500" h="771525">
                <a:moveTo>
                  <a:pt x="76204" y="0"/>
                </a:moveTo>
                <a:lnTo>
                  <a:pt x="2019296" y="0"/>
                </a:lnTo>
                <a:cubicBezTo>
                  <a:pt x="2061383" y="0"/>
                  <a:pt x="2095500" y="34117"/>
                  <a:pt x="2095500" y="76204"/>
                </a:cubicBezTo>
                <a:lnTo>
                  <a:pt x="2095500" y="695321"/>
                </a:lnTo>
                <a:cubicBezTo>
                  <a:pt x="2095500" y="737408"/>
                  <a:pt x="2061383" y="771525"/>
                  <a:pt x="20192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7251" y="2781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7" name="Text 15"/>
          <p:cNvSpPr/>
          <p:nvPr/>
        </p:nvSpPr>
        <p:spPr>
          <a:xfrm>
            <a:off x="5004346" y="3009900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 доступа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 интернету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3719512"/>
            <a:ext cx="6791325" cy="2181225"/>
          </a:xfrm>
          <a:custGeom>
            <a:avLst/>
            <a:gdLst/>
            <a:ahLst/>
            <a:cxnLst/>
            <a:rect l="l" t="t" r="r" b="b"/>
            <a:pathLst>
              <a:path w="6791325" h="2181225">
                <a:moveTo>
                  <a:pt x="76190" y="0"/>
                </a:moveTo>
                <a:lnTo>
                  <a:pt x="6715135" y="0"/>
                </a:lnTo>
                <a:cubicBezTo>
                  <a:pt x="6757213" y="0"/>
                  <a:pt x="6791325" y="34112"/>
                  <a:pt x="6791325" y="76190"/>
                </a:cubicBezTo>
                <a:lnTo>
                  <a:pt x="6791325" y="2105035"/>
                </a:lnTo>
                <a:cubicBezTo>
                  <a:pt x="6791325" y="2147113"/>
                  <a:pt x="6757213" y="2181225"/>
                  <a:pt x="6715135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925" y="3876675"/>
            <a:ext cx="656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системы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7688" y="4262438"/>
            <a:ext cx="1352550" cy="885825"/>
          </a:xfrm>
          <a:custGeom>
            <a:avLst/>
            <a:gdLst/>
            <a:ahLst/>
            <a:cxnLst/>
            <a:rect l="l" t="t" r="r" b="b"/>
            <a:pathLst>
              <a:path w="1352550" h="885825">
                <a:moveTo>
                  <a:pt x="76199" y="0"/>
                </a:moveTo>
                <a:lnTo>
                  <a:pt x="1276351" y="0"/>
                </a:lnTo>
                <a:cubicBezTo>
                  <a:pt x="1318435" y="0"/>
                  <a:pt x="1352550" y="34115"/>
                  <a:pt x="1352550" y="76199"/>
                </a:cubicBezTo>
                <a:lnTo>
                  <a:pt x="1352550" y="809626"/>
                </a:lnTo>
                <a:cubicBezTo>
                  <a:pt x="1352550" y="851710"/>
                  <a:pt x="1318435" y="885825"/>
                  <a:pt x="12763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4780" y="4381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33413" y="46863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Камера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75" y="4876800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Экран SCADA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999208" y="4629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2251621" y="4262438"/>
            <a:ext cx="1352550" cy="885825"/>
          </a:xfrm>
          <a:custGeom>
            <a:avLst/>
            <a:gdLst/>
            <a:ahLst/>
            <a:cxnLst/>
            <a:rect l="l" t="t" r="r" b="b"/>
            <a:pathLst>
              <a:path w="1352550" h="885825">
                <a:moveTo>
                  <a:pt x="76199" y="0"/>
                </a:moveTo>
                <a:lnTo>
                  <a:pt x="1276351" y="0"/>
                </a:lnTo>
                <a:cubicBezTo>
                  <a:pt x="1318435" y="0"/>
                  <a:pt x="1352550" y="34115"/>
                  <a:pt x="1352550" y="76199"/>
                </a:cubicBezTo>
                <a:lnTo>
                  <a:pt x="1352550" y="809626"/>
                </a:lnTo>
                <a:cubicBezTo>
                  <a:pt x="1352550" y="851710"/>
                  <a:pt x="1318435" y="885825"/>
                  <a:pt x="12763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3149" y="438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337346" y="46863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VLM-сервер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42108" y="4876800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llama.cpp:8090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03290" y="4629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3955703" y="4262438"/>
            <a:ext cx="1352550" cy="885825"/>
          </a:xfrm>
          <a:custGeom>
            <a:avLst/>
            <a:gdLst/>
            <a:ahLst/>
            <a:cxnLst/>
            <a:rect l="l" t="t" r="r" b="b"/>
            <a:pathLst>
              <a:path w="1352550" h="885825">
                <a:moveTo>
                  <a:pt x="76199" y="0"/>
                </a:moveTo>
                <a:lnTo>
                  <a:pt x="1276351" y="0"/>
                </a:lnTo>
                <a:cubicBezTo>
                  <a:pt x="1318435" y="0"/>
                  <a:pt x="1352550" y="34115"/>
                  <a:pt x="1352550" y="76199"/>
                </a:cubicBezTo>
                <a:lnTo>
                  <a:pt x="1352550" y="809626"/>
                </a:lnTo>
                <a:cubicBezTo>
                  <a:pt x="1352550" y="851710"/>
                  <a:pt x="1318435" y="885825"/>
                  <a:pt x="12763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1370" y="4381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041428" y="46863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046190" y="4876800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Порт 8000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07223" y="4629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5659636" y="4262438"/>
            <a:ext cx="1352550" cy="885825"/>
          </a:xfrm>
          <a:custGeom>
            <a:avLst/>
            <a:gdLst/>
            <a:ahLst/>
            <a:cxnLst/>
            <a:rect l="l" t="t" r="r" b="b"/>
            <a:pathLst>
              <a:path w="1352550" h="885825">
                <a:moveTo>
                  <a:pt x="76199" y="0"/>
                </a:moveTo>
                <a:lnTo>
                  <a:pt x="1276351" y="0"/>
                </a:lnTo>
                <a:cubicBezTo>
                  <a:pt x="1318435" y="0"/>
                  <a:pt x="1352550" y="34115"/>
                  <a:pt x="1352550" y="76199"/>
                </a:cubicBezTo>
                <a:lnTo>
                  <a:pt x="1352550" y="809626"/>
                </a:lnTo>
                <a:cubicBezTo>
                  <a:pt x="1352550" y="851710"/>
                  <a:pt x="1318435" y="885825"/>
                  <a:pt x="12763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1164" y="438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745361" y="46863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Svelte UI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50123" y="4876800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Порт 5173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6024563"/>
            <a:ext cx="3333750" cy="581025"/>
          </a:xfrm>
          <a:custGeom>
            <a:avLst/>
            <a:gdLst/>
            <a:ahLst/>
            <a:cxnLst/>
            <a:rect l="l" t="t" r="r" b="b"/>
            <a:pathLst>
              <a:path w="3333750" h="581025">
                <a:moveTo>
                  <a:pt x="76201" y="0"/>
                </a:moveTo>
                <a:lnTo>
                  <a:pt x="3257549" y="0"/>
                </a:lnTo>
                <a:cubicBezTo>
                  <a:pt x="3299605" y="0"/>
                  <a:pt x="3333750" y="34145"/>
                  <a:pt x="3333750" y="76201"/>
                </a:cubicBezTo>
                <a:lnTo>
                  <a:pt x="3333750" y="504824"/>
                </a:lnTo>
                <a:cubicBezTo>
                  <a:pt x="3333750" y="546880"/>
                  <a:pt x="3299605" y="581025"/>
                  <a:pt x="32575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2450" y="62198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857250" y="6143625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GPG Шифрование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7250" y="6334125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AES256 + RSA 4096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1403" y="6024563"/>
            <a:ext cx="3333750" cy="581025"/>
          </a:xfrm>
          <a:custGeom>
            <a:avLst/>
            <a:gdLst/>
            <a:ahLst/>
            <a:cxnLst/>
            <a:rect l="l" t="t" r="r" b="b"/>
            <a:pathLst>
              <a:path w="3333750" h="581025">
                <a:moveTo>
                  <a:pt x="76201" y="0"/>
                </a:moveTo>
                <a:lnTo>
                  <a:pt x="3257549" y="0"/>
                </a:lnTo>
                <a:cubicBezTo>
                  <a:pt x="3299605" y="0"/>
                  <a:pt x="3333750" y="34145"/>
                  <a:pt x="3333750" y="76201"/>
                </a:cubicBezTo>
                <a:lnTo>
                  <a:pt x="3333750" y="504824"/>
                </a:lnTo>
                <a:cubicBezTo>
                  <a:pt x="3333750" y="546880"/>
                  <a:pt x="3299605" y="581025"/>
                  <a:pt x="32575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84278" y="6219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4312890" y="61436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 Отправка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12890" y="6334125"/>
            <a:ext cx="102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Локальный сервер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35143" y="1262063"/>
            <a:ext cx="4467225" cy="2466975"/>
          </a:xfrm>
          <a:custGeom>
            <a:avLst/>
            <a:gdLst/>
            <a:ahLst/>
            <a:cxnLst/>
            <a:rect l="l" t="t" r="r" b="b"/>
            <a:pathLst>
              <a:path w="4467225" h="2466975">
                <a:moveTo>
                  <a:pt x="76205" y="0"/>
                </a:moveTo>
                <a:lnTo>
                  <a:pt x="4391020" y="0"/>
                </a:lnTo>
                <a:cubicBezTo>
                  <a:pt x="4433079" y="0"/>
                  <a:pt x="4467225" y="34146"/>
                  <a:pt x="4467225" y="76205"/>
                </a:cubicBezTo>
                <a:lnTo>
                  <a:pt x="4467225" y="2390770"/>
                </a:lnTo>
                <a:cubicBezTo>
                  <a:pt x="4467225" y="2432857"/>
                  <a:pt x="4433107" y="2466975"/>
                  <a:pt x="4391020" y="2466975"/>
                </a:cubicBezTo>
                <a:lnTo>
                  <a:pt x="76205" y="2466975"/>
                </a:lnTo>
                <a:cubicBezTo>
                  <a:pt x="34118" y="2466975"/>
                  <a:pt x="0" y="2432857"/>
                  <a:pt x="0" y="23907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2305" y="14192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Достижения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92305" y="192405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распознавания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02677" y="1800225"/>
            <a:ext cx="108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97.44%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92305" y="2181225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4114800" y="0"/>
                </a:lnTo>
                <a:cubicBezTo>
                  <a:pt x="4135828" y="0"/>
                  <a:pt x="4152900" y="17072"/>
                  <a:pt x="4152900" y="38100"/>
                </a:cubicBezTo>
                <a:lnTo>
                  <a:pt x="4152900" y="38100"/>
                </a:lnTo>
                <a:cubicBezTo>
                  <a:pt x="4152900" y="59128"/>
                  <a:pt x="4135828" y="76200"/>
                  <a:pt x="4114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Shape 50"/>
          <p:cNvSpPr/>
          <p:nvPr/>
        </p:nvSpPr>
        <p:spPr>
          <a:xfrm>
            <a:off x="7492305" y="2181225"/>
            <a:ext cx="4048125" cy="76200"/>
          </a:xfrm>
          <a:custGeom>
            <a:avLst/>
            <a:gdLst/>
            <a:ahLst/>
            <a:cxnLst/>
            <a:rect l="l" t="t" r="r" b="b"/>
            <a:pathLst>
              <a:path w="4048125" h="76200">
                <a:moveTo>
                  <a:pt x="38100" y="0"/>
                </a:moveTo>
                <a:lnTo>
                  <a:pt x="4010025" y="0"/>
                </a:lnTo>
                <a:cubicBezTo>
                  <a:pt x="4031053" y="0"/>
                  <a:pt x="4048125" y="17072"/>
                  <a:pt x="4048125" y="38100"/>
                </a:cubicBezTo>
                <a:lnTo>
                  <a:pt x="4048125" y="38100"/>
                </a:lnTo>
                <a:cubicBezTo>
                  <a:pt x="4048125" y="59128"/>
                  <a:pt x="4031053" y="76200"/>
                  <a:pt x="4010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53" name="Text 51"/>
          <p:cNvSpPr/>
          <p:nvPr/>
        </p:nvSpPr>
        <p:spPr>
          <a:xfrm>
            <a:off x="7492305" y="2295525"/>
            <a:ext cx="421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Требование: ≥95%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92305" y="2566988"/>
            <a:ext cx="4152900" cy="9525"/>
          </a:xfrm>
          <a:custGeom>
            <a:avLst/>
            <a:gdLst/>
            <a:ahLst/>
            <a:cxnLst/>
            <a:rect l="l" t="t" r="r" b="b"/>
            <a:pathLst>
              <a:path w="4152900" h="9525">
                <a:moveTo>
                  <a:pt x="0" y="0"/>
                </a:moveTo>
                <a:lnTo>
                  <a:pt x="4152900" y="0"/>
                </a:lnTo>
                <a:lnTo>
                  <a:pt x="4152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5" name="Text 53"/>
          <p:cNvSpPr/>
          <p:nvPr/>
        </p:nvSpPr>
        <p:spPr>
          <a:xfrm>
            <a:off x="7492305" y="277177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имён параметров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84421" y="2686050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92305" y="3109913"/>
            <a:ext cx="4152900" cy="9525"/>
          </a:xfrm>
          <a:custGeom>
            <a:avLst/>
            <a:gdLst/>
            <a:ahLst/>
            <a:cxnLst/>
            <a:rect l="l" t="t" r="r" b="b"/>
            <a:pathLst>
              <a:path w="4152900" h="9525">
                <a:moveTo>
                  <a:pt x="0" y="0"/>
                </a:moveTo>
                <a:lnTo>
                  <a:pt x="4152900" y="0"/>
                </a:lnTo>
                <a:lnTo>
                  <a:pt x="4152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8" name="Text 56"/>
          <p:cNvSpPr/>
          <p:nvPr/>
        </p:nvSpPr>
        <p:spPr>
          <a:xfrm>
            <a:off x="7492305" y="33147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Покрытие параметров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84421" y="3228975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35143" y="3852863"/>
            <a:ext cx="4467225" cy="2752725"/>
          </a:xfrm>
          <a:custGeom>
            <a:avLst/>
            <a:gdLst/>
            <a:ahLst/>
            <a:cxnLst/>
            <a:rect l="l" t="t" r="r" b="b"/>
            <a:pathLst>
              <a:path w="4467225" h="2752725">
                <a:moveTo>
                  <a:pt x="76195" y="0"/>
                </a:moveTo>
                <a:lnTo>
                  <a:pt x="4391030" y="0"/>
                </a:lnTo>
                <a:cubicBezTo>
                  <a:pt x="4433083" y="0"/>
                  <a:pt x="4467225" y="34142"/>
                  <a:pt x="4467225" y="76195"/>
                </a:cubicBezTo>
                <a:lnTo>
                  <a:pt x="4467225" y="2676530"/>
                </a:lnTo>
                <a:cubicBezTo>
                  <a:pt x="4467225" y="2718611"/>
                  <a:pt x="4433111" y="2752725"/>
                  <a:pt x="4391030" y="2752725"/>
                </a:cubicBezTo>
                <a:lnTo>
                  <a:pt x="76195" y="2752725"/>
                </a:lnTo>
                <a:cubicBezTo>
                  <a:pt x="34142" y="2752725"/>
                  <a:pt x="0" y="2718583"/>
                  <a:pt x="0" y="26765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2305" y="40100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Поток данных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92305" y="4391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583686" y="4429125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97105" y="4410075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Извлечение кадров (1с)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492305" y="4695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573268" y="47339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797105" y="471487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Сегментация на 4 зоны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492305" y="5000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572821" y="50387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797105" y="5019675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VLM-анализ (Qwen3.5-4B)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492305" y="5305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7572821" y="53435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797105" y="532447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Нормализация + валидация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492305" y="5610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573566" y="56483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797105" y="562927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Темпоральное сглаживание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92305" y="5915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7572375" y="59531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797105" y="593407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XML (500мс)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492305" y="6219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7577286" y="625792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797105" y="6238875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Шифрование GPG → Email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116" y="395028"/>
            <a:ext cx="71823" cy="287293"/>
          </a:xfrm>
          <a:custGeom>
            <a:avLst/>
            <a:gdLst/>
            <a:ahLst/>
            <a:cxnLst/>
            <a:rect l="l" t="t" r="r" b="b"/>
            <a:pathLst>
              <a:path w="71823" h="287293">
                <a:moveTo>
                  <a:pt x="35912" y="0"/>
                </a:moveTo>
                <a:lnTo>
                  <a:pt x="35912" y="0"/>
                </a:lnTo>
                <a:cubicBezTo>
                  <a:pt x="55745" y="0"/>
                  <a:pt x="71823" y="16078"/>
                  <a:pt x="71823" y="35912"/>
                </a:cubicBezTo>
                <a:lnTo>
                  <a:pt x="71823" y="251381"/>
                </a:lnTo>
                <a:cubicBezTo>
                  <a:pt x="71823" y="271215"/>
                  <a:pt x="55745" y="287293"/>
                  <a:pt x="35912" y="287293"/>
                </a:cubicBezTo>
                <a:lnTo>
                  <a:pt x="35912" y="287293"/>
                </a:lnTo>
                <a:cubicBezTo>
                  <a:pt x="16078" y="287293"/>
                  <a:pt x="0" y="271215"/>
                  <a:pt x="0" y="25138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38675" y="359116"/>
            <a:ext cx="3420583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системы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8675" y="790056"/>
            <a:ext cx="1137501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Модульная структура с чётким разделением ответственности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605" y="1189573"/>
            <a:ext cx="7595311" cy="5665060"/>
          </a:xfrm>
          <a:custGeom>
            <a:avLst/>
            <a:gdLst/>
            <a:ahLst/>
            <a:cxnLst/>
            <a:rect l="l" t="t" r="r" b="b"/>
            <a:pathLst>
              <a:path w="7595311" h="5665060">
                <a:moveTo>
                  <a:pt x="71833" y="0"/>
                </a:moveTo>
                <a:lnTo>
                  <a:pt x="7523478" y="0"/>
                </a:lnTo>
                <a:cubicBezTo>
                  <a:pt x="7563150" y="0"/>
                  <a:pt x="7595311" y="32161"/>
                  <a:pt x="7595311" y="71833"/>
                </a:cubicBezTo>
                <a:lnTo>
                  <a:pt x="7595311" y="5593227"/>
                </a:lnTo>
                <a:cubicBezTo>
                  <a:pt x="7595311" y="5632900"/>
                  <a:pt x="7563150" y="5665060"/>
                  <a:pt x="7523478" y="5665060"/>
                </a:cubicBezTo>
                <a:lnTo>
                  <a:pt x="71833" y="5665060"/>
                </a:lnTo>
                <a:cubicBezTo>
                  <a:pt x="32161" y="5665060"/>
                  <a:pt x="0" y="5632900"/>
                  <a:pt x="0" y="5593227"/>
                </a:cubicBezTo>
                <a:lnTo>
                  <a:pt x="0" y="71833"/>
                </a:lnTo>
                <a:cubicBezTo>
                  <a:pt x="0" y="32187"/>
                  <a:pt x="32187" y="0"/>
                  <a:pt x="7183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1741" y="1337708"/>
            <a:ext cx="737984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Компоненты системы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6230" y="1701314"/>
            <a:ext cx="3582186" cy="1158150"/>
          </a:xfrm>
          <a:custGeom>
            <a:avLst/>
            <a:gdLst/>
            <a:ahLst/>
            <a:cxnLst/>
            <a:rect l="l" t="t" r="r" b="b"/>
            <a:pathLst>
              <a:path w="3582186" h="1158150">
                <a:moveTo>
                  <a:pt x="71828" y="0"/>
                </a:moveTo>
                <a:lnTo>
                  <a:pt x="3510357" y="0"/>
                </a:lnTo>
                <a:cubicBezTo>
                  <a:pt x="3550027" y="0"/>
                  <a:pt x="3582186" y="32159"/>
                  <a:pt x="3582186" y="71828"/>
                </a:cubicBezTo>
                <a:lnTo>
                  <a:pt x="3582186" y="1086322"/>
                </a:lnTo>
                <a:cubicBezTo>
                  <a:pt x="3582186" y="1125992"/>
                  <a:pt x="3550027" y="1158150"/>
                  <a:pt x="3510357" y="1158150"/>
                </a:cubicBezTo>
                <a:lnTo>
                  <a:pt x="71828" y="1158150"/>
                </a:lnTo>
                <a:cubicBezTo>
                  <a:pt x="32159" y="1158150"/>
                  <a:pt x="0" y="1125992"/>
                  <a:pt x="0" y="1086322"/>
                </a:cubicBezTo>
                <a:lnTo>
                  <a:pt x="0" y="71828"/>
                </a:lnTo>
                <a:cubicBezTo>
                  <a:pt x="0" y="32185"/>
                  <a:pt x="32185" y="0"/>
                  <a:pt x="718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432" y="1831493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26934" y="17956"/>
                </a:moveTo>
                <a:cubicBezTo>
                  <a:pt x="17030" y="17956"/>
                  <a:pt x="8978" y="26008"/>
                  <a:pt x="8978" y="35912"/>
                </a:cubicBezTo>
                <a:lnTo>
                  <a:pt x="8978" y="107735"/>
                </a:lnTo>
                <a:cubicBezTo>
                  <a:pt x="8978" y="117639"/>
                  <a:pt x="17030" y="125691"/>
                  <a:pt x="26934" y="125691"/>
                </a:cubicBezTo>
                <a:lnTo>
                  <a:pt x="98757" y="125691"/>
                </a:lnTo>
                <a:cubicBezTo>
                  <a:pt x="108661" y="125691"/>
                  <a:pt x="116713" y="117639"/>
                  <a:pt x="116713" y="107735"/>
                </a:cubicBezTo>
                <a:lnTo>
                  <a:pt x="116713" y="35912"/>
                </a:lnTo>
                <a:cubicBezTo>
                  <a:pt x="116713" y="26008"/>
                  <a:pt x="108661" y="17956"/>
                  <a:pt x="98757" y="17956"/>
                </a:cubicBezTo>
                <a:lnTo>
                  <a:pt x="26934" y="17956"/>
                </a:lnTo>
                <a:close/>
                <a:moveTo>
                  <a:pt x="130180" y="94268"/>
                </a:moveTo>
                <a:lnTo>
                  <a:pt x="150801" y="110765"/>
                </a:lnTo>
                <a:cubicBezTo>
                  <a:pt x="151979" y="111719"/>
                  <a:pt x="153438" y="112224"/>
                  <a:pt x="154953" y="112224"/>
                </a:cubicBezTo>
                <a:cubicBezTo>
                  <a:pt x="158628" y="112224"/>
                  <a:pt x="161602" y="109250"/>
                  <a:pt x="161602" y="105575"/>
                </a:cubicBezTo>
                <a:lnTo>
                  <a:pt x="161602" y="38072"/>
                </a:lnTo>
                <a:cubicBezTo>
                  <a:pt x="161602" y="34397"/>
                  <a:pt x="158628" y="31423"/>
                  <a:pt x="154953" y="31423"/>
                </a:cubicBezTo>
                <a:cubicBezTo>
                  <a:pt x="153438" y="31423"/>
                  <a:pt x="151979" y="31928"/>
                  <a:pt x="150801" y="32882"/>
                </a:cubicBezTo>
                <a:lnTo>
                  <a:pt x="130180" y="49378"/>
                </a:lnTo>
                <a:lnTo>
                  <a:pt x="130180" y="9426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79835" y="1813538"/>
            <a:ext cx="79903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Видеозахват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8454" y="2064919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Извлечение кадров (500мс)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8454" y="2244477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CLAHE-контраст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8454" y="2424035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Определение типа видео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454" y="2603594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Пропуск похожих кадров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18775" y="1701314"/>
            <a:ext cx="3582186" cy="1158150"/>
          </a:xfrm>
          <a:custGeom>
            <a:avLst/>
            <a:gdLst/>
            <a:ahLst/>
            <a:cxnLst/>
            <a:rect l="l" t="t" r="r" b="b"/>
            <a:pathLst>
              <a:path w="3582186" h="1158150">
                <a:moveTo>
                  <a:pt x="71828" y="0"/>
                </a:moveTo>
                <a:lnTo>
                  <a:pt x="3510357" y="0"/>
                </a:lnTo>
                <a:cubicBezTo>
                  <a:pt x="3550027" y="0"/>
                  <a:pt x="3582186" y="32159"/>
                  <a:pt x="3582186" y="71828"/>
                </a:cubicBezTo>
                <a:lnTo>
                  <a:pt x="3582186" y="1086322"/>
                </a:lnTo>
                <a:cubicBezTo>
                  <a:pt x="3582186" y="1125992"/>
                  <a:pt x="3550027" y="1158150"/>
                  <a:pt x="3510357" y="1158150"/>
                </a:cubicBezTo>
                <a:lnTo>
                  <a:pt x="71828" y="1158150"/>
                </a:lnTo>
                <a:cubicBezTo>
                  <a:pt x="32159" y="1158150"/>
                  <a:pt x="0" y="1125992"/>
                  <a:pt x="0" y="1086322"/>
                </a:cubicBezTo>
                <a:lnTo>
                  <a:pt x="0" y="71828"/>
                </a:lnTo>
                <a:cubicBezTo>
                  <a:pt x="0" y="32185"/>
                  <a:pt x="32185" y="0"/>
                  <a:pt x="718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9977" y="1831493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8978" y="33499"/>
                </a:moveTo>
                <a:cubicBezTo>
                  <a:pt x="3619" y="30413"/>
                  <a:pt x="0" y="24605"/>
                  <a:pt x="0" y="17956"/>
                </a:cubicBezTo>
                <a:cubicBezTo>
                  <a:pt x="0" y="8052"/>
                  <a:pt x="8052" y="0"/>
                  <a:pt x="17956" y="0"/>
                </a:cubicBezTo>
                <a:cubicBezTo>
                  <a:pt x="24605" y="0"/>
                  <a:pt x="30413" y="3619"/>
                  <a:pt x="33499" y="8978"/>
                </a:cubicBezTo>
                <a:lnTo>
                  <a:pt x="128075" y="8978"/>
                </a:lnTo>
                <a:cubicBezTo>
                  <a:pt x="131190" y="3619"/>
                  <a:pt x="136969" y="0"/>
                  <a:pt x="143618" y="0"/>
                </a:cubicBezTo>
                <a:cubicBezTo>
                  <a:pt x="153522" y="0"/>
                  <a:pt x="161574" y="8052"/>
                  <a:pt x="161574" y="17956"/>
                </a:cubicBezTo>
                <a:cubicBezTo>
                  <a:pt x="161574" y="24605"/>
                  <a:pt x="157955" y="30413"/>
                  <a:pt x="152596" y="33499"/>
                </a:cubicBezTo>
                <a:lnTo>
                  <a:pt x="152596" y="110120"/>
                </a:lnTo>
                <a:cubicBezTo>
                  <a:pt x="157955" y="113234"/>
                  <a:pt x="161574" y="119013"/>
                  <a:pt x="161574" y="125663"/>
                </a:cubicBezTo>
                <a:cubicBezTo>
                  <a:pt x="161574" y="135566"/>
                  <a:pt x="153522" y="143618"/>
                  <a:pt x="143618" y="143618"/>
                </a:cubicBezTo>
                <a:cubicBezTo>
                  <a:pt x="136969" y="143618"/>
                  <a:pt x="131162" y="139999"/>
                  <a:pt x="128075" y="134641"/>
                </a:cubicBezTo>
                <a:lnTo>
                  <a:pt x="33499" y="134641"/>
                </a:lnTo>
                <a:cubicBezTo>
                  <a:pt x="30385" y="139999"/>
                  <a:pt x="24605" y="143618"/>
                  <a:pt x="17956" y="143618"/>
                </a:cubicBezTo>
                <a:cubicBezTo>
                  <a:pt x="8052" y="143618"/>
                  <a:pt x="0" y="135566"/>
                  <a:pt x="0" y="125663"/>
                </a:cubicBezTo>
                <a:cubicBezTo>
                  <a:pt x="0" y="119013"/>
                  <a:pt x="3619" y="113206"/>
                  <a:pt x="8978" y="110120"/>
                </a:cubicBezTo>
                <a:lnTo>
                  <a:pt x="8978" y="33499"/>
                </a:lnTo>
                <a:close/>
                <a:moveTo>
                  <a:pt x="134669" y="33499"/>
                </a:moveTo>
                <a:cubicBezTo>
                  <a:pt x="131947" y="31928"/>
                  <a:pt x="129675" y="29655"/>
                  <a:pt x="128104" y="26934"/>
                </a:cubicBezTo>
                <a:lnTo>
                  <a:pt x="33499" y="26934"/>
                </a:lnTo>
                <a:cubicBezTo>
                  <a:pt x="31928" y="29655"/>
                  <a:pt x="29655" y="31928"/>
                  <a:pt x="26934" y="33499"/>
                </a:cubicBezTo>
                <a:lnTo>
                  <a:pt x="26934" y="110120"/>
                </a:lnTo>
                <a:cubicBezTo>
                  <a:pt x="29655" y="111691"/>
                  <a:pt x="31928" y="113963"/>
                  <a:pt x="33499" y="116685"/>
                </a:cubicBezTo>
                <a:lnTo>
                  <a:pt x="128075" y="116685"/>
                </a:lnTo>
                <a:cubicBezTo>
                  <a:pt x="129647" y="113963"/>
                  <a:pt x="131919" y="111691"/>
                  <a:pt x="134641" y="110120"/>
                </a:cubicBezTo>
                <a:lnTo>
                  <a:pt x="134641" y="33499"/>
                </a:lnTo>
                <a:close/>
                <a:moveTo>
                  <a:pt x="40401" y="49378"/>
                </a:moveTo>
                <a:cubicBezTo>
                  <a:pt x="40401" y="44413"/>
                  <a:pt x="44413" y="40401"/>
                  <a:pt x="49378" y="40401"/>
                </a:cubicBezTo>
                <a:lnTo>
                  <a:pt x="80801" y="40401"/>
                </a:lnTo>
                <a:cubicBezTo>
                  <a:pt x="85767" y="40401"/>
                  <a:pt x="89779" y="44413"/>
                  <a:pt x="89779" y="49378"/>
                </a:cubicBezTo>
                <a:lnTo>
                  <a:pt x="89779" y="67334"/>
                </a:lnTo>
                <a:cubicBezTo>
                  <a:pt x="89779" y="72300"/>
                  <a:pt x="85767" y="76312"/>
                  <a:pt x="80801" y="76312"/>
                </a:cubicBezTo>
                <a:lnTo>
                  <a:pt x="49378" y="76312"/>
                </a:lnTo>
                <a:cubicBezTo>
                  <a:pt x="44413" y="76312"/>
                  <a:pt x="40401" y="72300"/>
                  <a:pt x="40401" y="67334"/>
                </a:cubicBezTo>
                <a:lnTo>
                  <a:pt x="40401" y="49378"/>
                </a:lnTo>
                <a:close/>
                <a:moveTo>
                  <a:pt x="71823" y="89779"/>
                </a:moveTo>
                <a:lnTo>
                  <a:pt x="80801" y="89779"/>
                </a:lnTo>
                <a:cubicBezTo>
                  <a:pt x="93202" y="89779"/>
                  <a:pt x="103246" y="79735"/>
                  <a:pt x="103246" y="67334"/>
                </a:cubicBezTo>
                <a:lnTo>
                  <a:pt x="112224" y="67334"/>
                </a:lnTo>
                <a:cubicBezTo>
                  <a:pt x="117190" y="67334"/>
                  <a:pt x="121202" y="71346"/>
                  <a:pt x="121202" y="76312"/>
                </a:cubicBezTo>
                <a:lnTo>
                  <a:pt x="121202" y="94268"/>
                </a:lnTo>
                <a:cubicBezTo>
                  <a:pt x="121202" y="99234"/>
                  <a:pt x="117190" y="103246"/>
                  <a:pt x="112224" y="103246"/>
                </a:cubicBezTo>
                <a:lnTo>
                  <a:pt x="80801" y="103246"/>
                </a:lnTo>
                <a:cubicBezTo>
                  <a:pt x="75835" y="103246"/>
                  <a:pt x="71823" y="99234"/>
                  <a:pt x="71823" y="94268"/>
                </a:cubicBezTo>
                <a:lnTo>
                  <a:pt x="71823" y="8977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82381" y="1813538"/>
            <a:ext cx="105041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Сегментация зон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30999" y="2064919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4 семантические зоны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30999" y="2244477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Относительные координаты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30999" y="2424035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Residual-области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30999" y="2603594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Upscale &lt;512px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6230" y="2976177"/>
            <a:ext cx="3582186" cy="1158150"/>
          </a:xfrm>
          <a:custGeom>
            <a:avLst/>
            <a:gdLst/>
            <a:ahLst/>
            <a:cxnLst/>
            <a:rect l="l" t="t" r="r" b="b"/>
            <a:pathLst>
              <a:path w="3582186" h="1158150">
                <a:moveTo>
                  <a:pt x="71828" y="0"/>
                </a:moveTo>
                <a:lnTo>
                  <a:pt x="3510357" y="0"/>
                </a:lnTo>
                <a:cubicBezTo>
                  <a:pt x="3550027" y="0"/>
                  <a:pt x="3582186" y="32159"/>
                  <a:pt x="3582186" y="71828"/>
                </a:cubicBezTo>
                <a:lnTo>
                  <a:pt x="3582186" y="1086322"/>
                </a:lnTo>
                <a:cubicBezTo>
                  <a:pt x="3582186" y="1125992"/>
                  <a:pt x="3550027" y="1158150"/>
                  <a:pt x="3510357" y="1158150"/>
                </a:cubicBezTo>
                <a:lnTo>
                  <a:pt x="71828" y="1158150"/>
                </a:lnTo>
                <a:cubicBezTo>
                  <a:pt x="32159" y="1158150"/>
                  <a:pt x="0" y="1125992"/>
                  <a:pt x="0" y="1086322"/>
                </a:cubicBezTo>
                <a:lnTo>
                  <a:pt x="0" y="71828"/>
                </a:lnTo>
                <a:cubicBezTo>
                  <a:pt x="0" y="32185"/>
                  <a:pt x="32185" y="0"/>
                  <a:pt x="718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09" y="3106356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33667" y="15711"/>
                </a:moveTo>
                <a:cubicBezTo>
                  <a:pt x="33667" y="7042"/>
                  <a:pt x="40709" y="0"/>
                  <a:pt x="49378" y="0"/>
                </a:cubicBezTo>
                <a:lnTo>
                  <a:pt x="56112" y="0"/>
                </a:lnTo>
                <a:cubicBezTo>
                  <a:pt x="61078" y="0"/>
                  <a:pt x="65090" y="4012"/>
                  <a:pt x="65090" y="8978"/>
                </a:cubicBezTo>
                <a:lnTo>
                  <a:pt x="65090" y="134669"/>
                </a:lnTo>
                <a:cubicBezTo>
                  <a:pt x="65090" y="139635"/>
                  <a:pt x="61078" y="143647"/>
                  <a:pt x="56112" y="143647"/>
                </a:cubicBezTo>
                <a:lnTo>
                  <a:pt x="47134" y="143647"/>
                </a:lnTo>
                <a:cubicBezTo>
                  <a:pt x="38773" y="143647"/>
                  <a:pt x="31731" y="137923"/>
                  <a:pt x="29739" y="130180"/>
                </a:cubicBezTo>
                <a:cubicBezTo>
                  <a:pt x="29543" y="130180"/>
                  <a:pt x="29375" y="130180"/>
                  <a:pt x="29178" y="130180"/>
                </a:cubicBezTo>
                <a:cubicBezTo>
                  <a:pt x="16777" y="130180"/>
                  <a:pt x="6733" y="120136"/>
                  <a:pt x="6733" y="107735"/>
                </a:cubicBezTo>
                <a:cubicBezTo>
                  <a:pt x="6733" y="102685"/>
                  <a:pt x="8417" y="98028"/>
                  <a:pt x="11222" y="94268"/>
                </a:cubicBezTo>
                <a:cubicBezTo>
                  <a:pt x="5780" y="90172"/>
                  <a:pt x="2244" y="83663"/>
                  <a:pt x="2244" y="76312"/>
                </a:cubicBezTo>
                <a:cubicBezTo>
                  <a:pt x="2244" y="67643"/>
                  <a:pt x="7182" y="60096"/>
                  <a:pt x="14365" y="56364"/>
                </a:cubicBezTo>
                <a:cubicBezTo>
                  <a:pt x="12373" y="52998"/>
                  <a:pt x="11222" y="49070"/>
                  <a:pt x="11222" y="44890"/>
                </a:cubicBezTo>
                <a:cubicBezTo>
                  <a:pt x="11222" y="32489"/>
                  <a:pt x="21266" y="22445"/>
                  <a:pt x="33667" y="22445"/>
                </a:cubicBezTo>
                <a:lnTo>
                  <a:pt x="33667" y="15711"/>
                </a:lnTo>
                <a:close/>
                <a:moveTo>
                  <a:pt x="109979" y="15711"/>
                </a:moveTo>
                <a:lnTo>
                  <a:pt x="109979" y="22445"/>
                </a:lnTo>
                <a:cubicBezTo>
                  <a:pt x="122380" y="22445"/>
                  <a:pt x="132424" y="32489"/>
                  <a:pt x="132424" y="44890"/>
                </a:cubicBezTo>
                <a:cubicBezTo>
                  <a:pt x="132424" y="49098"/>
                  <a:pt x="131274" y="53026"/>
                  <a:pt x="129282" y="56364"/>
                </a:cubicBezTo>
                <a:cubicBezTo>
                  <a:pt x="136492" y="60096"/>
                  <a:pt x="141402" y="67615"/>
                  <a:pt x="141402" y="76312"/>
                </a:cubicBezTo>
                <a:cubicBezTo>
                  <a:pt x="141402" y="83663"/>
                  <a:pt x="137867" y="90172"/>
                  <a:pt x="132424" y="94268"/>
                </a:cubicBezTo>
                <a:cubicBezTo>
                  <a:pt x="135230" y="98028"/>
                  <a:pt x="136913" y="102685"/>
                  <a:pt x="136913" y="107735"/>
                </a:cubicBezTo>
                <a:cubicBezTo>
                  <a:pt x="136913" y="120136"/>
                  <a:pt x="126869" y="130180"/>
                  <a:pt x="114468" y="130180"/>
                </a:cubicBezTo>
                <a:cubicBezTo>
                  <a:pt x="114272" y="130180"/>
                  <a:pt x="114104" y="130180"/>
                  <a:pt x="113907" y="130180"/>
                </a:cubicBezTo>
                <a:cubicBezTo>
                  <a:pt x="111915" y="137923"/>
                  <a:pt x="104873" y="143647"/>
                  <a:pt x="96513" y="143647"/>
                </a:cubicBezTo>
                <a:lnTo>
                  <a:pt x="87535" y="143647"/>
                </a:lnTo>
                <a:cubicBezTo>
                  <a:pt x="82569" y="143647"/>
                  <a:pt x="78557" y="139635"/>
                  <a:pt x="78557" y="134669"/>
                </a:cubicBezTo>
                <a:lnTo>
                  <a:pt x="78557" y="8978"/>
                </a:lnTo>
                <a:cubicBezTo>
                  <a:pt x="78557" y="4012"/>
                  <a:pt x="82569" y="0"/>
                  <a:pt x="87535" y="0"/>
                </a:cubicBezTo>
                <a:lnTo>
                  <a:pt x="94268" y="0"/>
                </a:lnTo>
                <a:cubicBezTo>
                  <a:pt x="102937" y="0"/>
                  <a:pt x="109979" y="7042"/>
                  <a:pt x="109979" y="1571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79835" y="3088401"/>
            <a:ext cx="94268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VLM-инференс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8454" y="3339782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Qwen3.5-4B (Q4_K_M)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454" y="3519340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llama.cpp сервер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8454" y="3698898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Параллельные запросы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8454" y="3878457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5 уровней JSON repair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18775" y="2976177"/>
            <a:ext cx="3582186" cy="1158150"/>
          </a:xfrm>
          <a:custGeom>
            <a:avLst/>
            <a:gdLst/>
            <a:ahLst/>
            <a:cxnLst/>
            <a:rect l="l" t="t" r="r" b="b"/>
            <a:pathLst>
              <a:path w="3582186" h="1158150">
                <a:moveTo>
                  <a:pt x="71828" y="0"/>
                </a:moveTo>
                <a:lnTo>
                  <a:pt x="3510357" y="0"/>
                </a:lnTo>
                <a:cubicBezTo>
                  <a:pt x="3550027" y="0"/>
                  <a:pt x="3582186" y="32159"/>
                  <a:pt x="3582186" y="71828"/>
                </a:cubicBezTo>
                <a:lnTo>
                  <a:pt x="3582186" y="1086322"/>
                </a:lnTo>
                <a:cubicBezTo>
                  <a:pt x="3582186" y="1125992"/>
                  <a:pt x="3550027" y="1158150"/>
                  <a:pt x="3510357" y="1158150"/>
                </a:cubicBezTo>
                <a:lnTo>
                  <a:pt x="71828" y="1158150"/>
                </a:lnTo>
                <a:cubicBezTo>
                  <a:pt x="32159" y="1158150"/>
                  <a:pt x="0" y="1125992"/>
                  <a:pt x="0" y="1086322"/>
                </a:cubicBezTo>
                <a:lnTo>
                  <a:pt x="0" y="71828"/>
                </a:lnTo>
                <a:cubicBezTo>
                  <a:pt x="0" y="32185"/>
                  <a:pt x="32185" y="0"/>
                  <a:pt x="718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6911" y="3106356"/>
            <a:ext cx="107735" cy="143647"/>
          </a:xfrm>
          <a:custGeom>
            <a:avLst/>
            <a:gdLst/>
            <a:ahLst/>
            <a:cxnLst/>
            <a:rect l="l" t="t" r="r" b="b"/>
            <a:pathLst>
              <a:path w="107735" h="143647">
                <a:moveTo>
                  <a:pt x="0" y="17956"/>
                </a:moveTo>
                <a:cubicBezTo>
                  <a:pt x="0" y="8052"/>
                  <a:pt x="8052" y="0"/>
                  <a:pt x="17956" y="0"/>
                </a:cubicBezTo>
                <a:lnTo>
                  <a:pt x="59899" y="0"/>
                </a:lnTo>
                <a:cubicBezTo>
                  <a:pt x="64669" y="0"/>
                  <a:pt x="69242" y="1880"/>
                  <a:pt x="72609" y="5246"/>
                </a:cubicBezTo>
                <a:lnTo>
                  <a:pt x="102488" y="35154"/>
                </a:lnTo>
                <a:cubicBezTo>
                  <a:pt x="105855" y="38521"/>
                  <a:pt x="107735" y="43094"/>
                  <a:pt x="107735" y="47863"/>
                </a:cubicBezTo>
                <a:lnTo>
                  <a:pt x="107735" y="125691"/>
                </a:lnTo>
                <a:cubicBezTo>
                  <a:pt x="107735" y="135594"/>
                  <a:pt x="99683" y="143647"/>
                  <a:pt x="89779" y="143647"/>
                </a:cubicBezTo>
                <a:lnTo>
                  <a:pt x="17956" y="143647"/>
                </a:lnTo>
                <a:cubicBezTo>
                  <a:pt x="8052" y="143647"/>
                  <a:pt x="0" y="135594"/>
                  <a:pt x="0" y="125691"/>
                </a:cubicBezTo>
                <a:lnTo>
                  <a:pt x="0" y="17956"/>
                </a:lnTo>
                <a:close/>
                <a:moveTo>
                  <a:pt x="58356" y="16413"/>
                </a:moveTo>
                <a:lnTo>
                  <a:pt x="58356" y="42645"/>
                </a:lnTo>
                <a:cubicBezTo>
                  <a:pt x="58356" y="46377"/>
                  <a:pt x="61358" y="49378"/>
                  <a:pt x="65090" y="49378"/>
                </a:cubicBezTo>
                <a:lnTo>
                  <a:pt x="91322" y="49378"/>
                </a:lnTo>
                <a:lnTo>
                  <a:pt x="58356" y="16413"/>
                </a:lnTo>
                <a:close/>
                <a:moveTo>
                  <a:pt x="43262" y="82933"/>
                </a:moveTo>
                <a:cubicBezTo>
                  <a:pt x="45675" y="80100"/>
                  <a:pt x="45366" y="75863"/>
                  <a:pt x="42533" y="73451"/>
                </a:cubicBezTo>
                <a:cubicBezTo>
                  <a:pt x="39699" y="71038"/>
                  <a:pt x="35463" y="71346"/>
                  <a:pt x="33050" y="74180"/>
                </a:cubicBezTo>
                <a:lnTo>
                  <a:pt x="19583" y="89891"/>
                </a:lnTo>
                <a:cubicBezTo>
                  <a:pt x="17423" y="92416"/>
                  <a:pt x="17423" y="96120"/>
                  <a:pt x="19583" y="98645"/>
                </a:cubicBezTo>
                <a:lnTo>
                  <a:pt x="33050" y="114356"/>
                </a:lnTo>
                <a:cubicBezTo>
                  <a:pt x="35463" y="117190"/>
                  <a:pt x="39727" y="117498"/>
                  <a:pt x="42533" y="115086"/>
                </a:cubicBezTo>
                <a:cubicBezTo>
                  <a:pt x="45338" y="112673"/>
                  <a:pt x="45675" y="108408"/>
                  <a:pt x="43262" y="105603"/>
                </a:cubicBezTo>
                <a:lnTo>
                  <a:pt x="33555" y="94268"/>
                </a:lnTo>
                <a:lnTo>
                  <a:pt x="43262" y="82933"/>
                </a:lnTo>
                <a:close/>
                <a:moveTo>
                  <a:pt x="74685" y="74180"/>
                </a:moveTo>
                <a:cubicBezTo>
                  <a:pt x="72272" y="71346"/>
                  <a:pt x="68008" y="71038"/>
                  <a:pt x="65202" y="73451"/>
                </a:cubicBezTo>
                <a:cubicBezTo>
                  <a:pt x="62396" y="75863"/>
                  <a:pt x="62060" y="80128"/>
                  <a:pt x="64473" y="82933"/>
                </a:cubicBezTo>
                <a:lnTo>
                  <a:pt x="74180" y="94268"/>
                </a:lnTo>
                <a:lnTo>
                  <a:pt x="64473" y="105603"/>
                </a:lnTo>
                <a:cubicBezTo>
                  <a:pt x="62060" y="108436"/>
                  <a:pt x="62368" y="112673"/>
                  <a:pt x="65202" y="115086"/>
                </a:cubicBezTo>
                <a:cubicBezTo>
                  <a:pt x="68036" y="117498"/>
                  <a:pt x="72272" y="117190"/>
                  <a:pt x="74685" y="114356"/>
                </a:cubicBezTo>
                <a:lnTo>
                  <a:pt x="88152" y="98645"/>
                </a:lnTo>
                <a:cubicBezTo>
                  <a:pt x="90312" y="96120"/>
                  <a:pt x="90312" y="92416"/>
                  <a:pt x="88152" y="89891"/>
                </a:cubicBezTo>
                <a:lnTo>
                  <a:pt x="74685" y="7418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582381" y="3088401"/>
            <a:ext cx="114019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 данных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30999" y="3339782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Нормализация параметров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30999" y="3519340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Валидация диапазонов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30999" y="3698898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Темпоральное сглаживание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30999" y="3878457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Fuzzy matching лейблов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6230" y="4251040"/>
            <a:ext cx="3582186" cy="1158150"/>
          </a:xfrm>
          <a:custGeom>
            <a:avLst/>
            <a:gdLst/>
            <a:ahLst/>
            <a:cxnLst/>
            <a:rect l="l" t="t" r="r" b="b"/>
            <a:pathLst>
              <a:path w="3582186" h="1158150">
                <a:moveTo>
                  <a:pt x="71828" y="0"/>
                </a:moveTo>
                <a:lnTo>
                  <a:pt x="3510357" y="0"/>
                </a:lnTo>
                <a:cubicBezTo>
                  <a:pt x="3550027" y="0"/>
                  <a:pt x="3582186" y="32159"/>
                  <a:pt x="3582186" y="71828"/>
                </a:cubicBezTo>
                <a:lnTo>
                  <a:pt x="3582186" y="1086322"/>
                </a:lnTo>
                <a:cubicBezTo>
                  <a:pt x="3582186" y="1125992"/>
                  <a:pt x="3550027" y="1158150"/>
                  <a:pt x="3510357" y="1158150"/>
                </a:cubicBezTo>
                <a:lnTo>
                  <a:pt x="71828" y="1158150"/>
                </a:lnTo>
                <a:cubicBezTo>
                  <a:pt x="32159" y="1158150"/>
                  <a:pt x="0" y="1125992"/>
                  <a:pt x="0" y="1086322"/>
                </a:cubicBezTo>
                <a:lnTo>
                  <a:pt x="0" y="71828"/>
                </a:lnTo>
                <a:cubicBezTo>
                  <a:pt x="0" y="32185"/>
                  <a:pt x="32185" y="0"/>
                  <a:pt x="718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432" y="4381219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27074" y="0"/>
                </a:moveTo>
                <a:cubicBezTo>
                  <a:pt x="17170" y="0"/>
                  <a:pt x="9118" y="8052"/>
                  <a:pt x="9118" y="17956"/>
                </a:cubicBezTo>
                <a:lnTo>
                  <a:pt x="9118" y="125691"/>
                </a:lnTo>
                <a:cubicBezTo>
                  <a:pt x="9118" y="135594"/>
                  <a:pt x="17170" y="143647"/>
                  <a:pt x="27074" y="143647"/>
                </a:cubicBezTo>
                <a:lnTo>
                  <a:pt x="98897" y="143647"/>
                </a:lnTo>
                <a:cubicBezTo>
                  <a:pt x="108801" y="143647"/>
                  <a:pt x="116853" y="135594"/>
                  <a:pt x="116853" y="125691"/>
                </a:cubicBezTo>
                <a:lnTo>
                  <a:pt x="116853" y="98757"/>
                </a:lnTo>
                <a:lnTo>
                  <a:pt x="138765" y="98757"/>
                </a:lnTo>
                <a:lnTo>
                  <a:pt x="130067" y="107454"/>
                </a:lnTo>
                <a:cubicBezTo>
                  <a:pt x="127430" y="110092"/>
                  <a:pt x="127430" y="114356"/>
                  <a:pt x="130067" y="116965"/>
                </a:cubicBezTo>
                <a:cubicBezTo>
                  <a:pt x="132705" y="119575"/>
                  <a:pt x="136969" y="119603"/>
                  <a:pt x="139578" y="116965"/>
                </a:cubicBezTo>
                <a:lnTo>
                  <a:pt x="159779" y="96765"/>
                </a:lnTo>
                <a:cubicBezTo>
                  <a:pt x="162416" y="94128"/>
                  <a:pt x="162416" y="89863"/>
                  <a:pt x="159779" y="87254"/>
                </a:cubicBezTo>
                <a:lnTo>
                  <a:pt x="139578" y="67054"/>
                </a:lnTo>
                <a:cubicBezTo>
                  <a:pt x="136941" y="64416"/>
                  <a:pt x="132677" y="64416"/>
                  <a:pt x="130067" y="67054"/>
                </a:cubicBezTo>
                <a:cubicBezTo>
                  <a:pt x="127458" y="69691"/>
                  <a:pt x="127430" y="73956"/>
                  <a:pt x="130067" y="76565"/>
                </a:cubicBezTo>
                <a:lnTo>
                  <a:pt x="138765" y="85262"/>
                </a:lnTo>
                <a:lnTo>
                  <a:pt x="116853" y="85262"/>
                </a:lnTo>
                <a:lnTo>
                  <a:pt x="116853" y="47807"/>
                </a:lnTo>
                <a:cubicBezTo>
                  <a:pt x="116853" y="43038"/>
                  <a:pt x="114973" y="38465"/>
                  <a:pt x="111607" y="35098"/>
                </a:cubicBezTo>
                <a:lnTo>
                  <a:pt x="81699" y="5246"/>
                </a:lnTo>
                <a:cubicBezTo>
                  <a:pt x="78332" y="1880"/>
                  <a:pt x="73787" y="0"/>
                  <a:pt x="69018" y="0"/>
                </a:cubicBezTo>
                <a:lnTo>
                  <a:pt x="27074" y="0"/>
                </a:lnTo>
                <a:close/>
                <a:moveTo>
                  <a:pt x="100440" y="49378"/>
                </a:moveTo>
                <a:lnTo>
                  <a:pt x="74208" y="49378"/>
                </a:lnTo>
                <a:cubicBezTo>
                  <a:pt x="70477" y="49378"/>
                  <a:pt x="67475" y="46377"/>
                  <a:pt x="67475" y="42645"/>
                </a:cubicBezTo>
                <a:lnTo>
                  <a:pt x="67475" y="16413"/>
                </a:lnTo>
                <a:lnTo>
                  <a:pt x="100440" y="49378"/>
                </a:lnTo>
                <a:close/>
                <a:moveTo>
                  <a:pt x="62986" y="92024"/>
                </a:moveTo>
                <a:cubicBezTo>
                  <a:pt x="62986" y="88292"/>
                  <a:pt x="65988" y="85290"/>
                  <a:pt x="69719" y="85290"/>
                </a:cubicBezTo>
                <a:lnTo>
                  <a:pt x="98897" y="85290"/>
                </a:lnTo>
                <a:lnTo>
                  <a:pt x="98897" y="98757"/>
                </a:lnTo>
                <a:lnTo>
                  <a:pt x="69719" y="98757"/>
                </a:lnTo>
                <a:cubicBezTo>
                  <a:pt x="65988" y="98757"/>
                  <a:pt x="62986" y="95755"/>
                  <a:pt x="62986" y="920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879835" y="4363264"/>
            <a:ext cx="96063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XML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8454" y="4614645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Формат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8454" y="4794203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Снапшоты 500мс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8454" y="4973761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Стабильные param_id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8454" y="5153320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XML-экранирование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18775" y="4251040"/>
            <a:ext cx="3582186" cy="1158150"/>
          </a:xfrm>
          <a:custGeom>
            <a:avLst/>
            <a:gdLst/>
            <a:ahLst/>
            <a:cxnLst/>
            <a:rect l="l" t="t" r="r" b="b"/>
            <a:pathLst>
              <a:path w="3582186" h="1158150">
                <a:moveTo>
                  <a:pt x="71828" y="0"/>
                </a:moveTo>
                <a:lnTo>
                  <a:pt x="3510357" y="0"/>
                </a:lnTo>
                <a:cubicBezTo>
                  <a:pt x="3550027" y="0"/>
                  <a:pt x="3582186" y="32159"/>
                  <a:pt x="3582186" y="71828"/>
                </a:cubicBezTo>
                <a:lnTo>
                  <a:pt x="3582186" y="1086322"/>
                </a:lnTo>
                <a:cubicBezTo>
                  <a:pt x="3582186" y="1125992"/>
                  <a:pt x="3550027" y="1158150"/>
                  <a:pt x="3510357" y="1158150"/>
                </a:cubicBezTo>
                <a:lnTo>
                  <a:pt x="71828" y="1158150"/>
                </a:lnTo>
                <a:cubicBezTo>
                  <a:pt x="32159" y="1158150"/>
                  <a:pt x="0" y="1125992"/>
                  <a:pt x="0" y="1086322"/>
                </a:cubicBezTo>
                <a:lnTo>
                  <a:pt x="0" y="71828"/>
                </a:lnTo>
                <a:cubicBezTo>
                  <a:pt x="0" y="32185"/>
                  <a:pt x="32185" y="0"/>
                  <a:pt x="718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48955" y="4381219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0"/>
                </a:moveTo>
                <a:cubicBezTo>
                  <a:pt x="73114" y="0"/>
                  <a:pt x="74404" y="281"/>
                  <a:pt x="75583" y="814"/>
                </a:cubicBezTo>
                <a:lnTo>
                  <a:pt x="128440" y="23230"/>
                </a:lnTo>
                <a:cubicBezTo>
                  <a:pt x="134613" y="25840"/>
                  <a:pt x="139214" y="31928"/>
                  <a:pt x="139186" y="39278"/>
                </a:cubicBezTo>
                <a:cubicBezTo>
                  <a:pt x="139045" y="67110"/>
                  <a:pt x="127599" y="118031"/>
                  <a:pt x="79258" y="141178"/>
                </a:cubicBezTo>
                <a:cubicBezTo>
                  <a:pt x="74573" y="143422"/>
                  <a:pt x="69130" y="143422"/>
                  <a:pt x="64445" y="141178"/>
                </a:cubicBezTo>
                <a:cubicBezTo>
                  <a:pt x="16076" y="118031"/>
                  <a:pt x="4657" y="67110"/>
                  <a:pt x="4517" y="39278"/>
                </a:cubicBezTo>
                <a:cubicBezTo>
                  <a:pt x="4489" y="31928"/>
                  <a:pt x="9090" y="25840"/>
                  <a:pt x="15262" y="23230"/>
                </a:cubicBezTo>
                <a:lnTo>
                  <a:pt x="68092" y="814"/>
                </a:lnTo>
                <a:cubicBezTo>
                  <a:pt x="69270" y="281"/>
                  <a:pt x="70533" y="0"/>
                  <a:pt x="71823" y="0"/>
                </a:cubicBezTo>
                <a:close/>
                <a:moveTo>
                  <a:pt x="71823" y="18741"/>
                </a:moveTo>
                <a:lnTo>
                  <a:pt x="71823" y="124821"/>
                </a:lnTo>
                <a:cubicBezTo>
                  <a:pt x="110541" y="106080"/>
                  <a:pt x="120949" y="64557"/>
                  <a:pt x="121202" y="39699"/>
                </a:cubicBezTo>
                <a:lnTo>
                  <a:pt x="71823" y="18769"/>
                </a:lnTo>
                <a:lnTo>
                  <a:pt x="71823" y="1876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4582381" y="4363264"/>
            <a:ext cx="86187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30999" y="4614645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GPG шифрование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30999" y="4794203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SMTP отправка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30999" y="4973761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JWT-аутентификация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30999" y="5153320"/>
            <a:ext cx="341160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bcrypt хеширование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9857" y="1189573"/>
            <a:ext cx="3716854" cy="3707876"/>
          </a:xfrm>
          <a:custGeom>
            <a:avLst/>
            <a:gdLst/>
            <a:ahLst/>
            <a:cxnLst/>
            <a:rect l="l" t="t" r="r" b="b"/>
            <a:pathLst>
              <a:path w="3716854" h="3707876">
                <a:moveTo>
                  <a:pt x="71822" y="0"/>
                </a:moveTo>
                <a:lnTo>
                  <a:pt x="3645033" y="0"/>
                </a:lnTo>
                <a:cubicBezTo>
                  <a:pt x="3684699" y="0"/>
                  <a:pt x="3716854" y="32156"/>
                  <a:pt x="3716854" y="71822"/>
                </a:cubicBezTo>
                <a:lnTo>
                  <a:pt x="3716854" y="3636055"/>
                </a:lnTo>
                <a:cubicBezTo>
                  <a:pt x="3716854" y="3675721"/>
                  <a:pt x="3684699" y="3707876"/>
                  <a:pt x="3645033" y="3707876"/>
                </a:cubicBezTo>
                <a:lnTo>
                  <a:pt x="71822" y="3707876"/>
                </a:lnTo>
                <a:cubicBezTo>
                  <a:pt x="32156" y="3707876"/>
                  <a:pt x="0" y="3675721"/>
                  <a:pt x="0" y="3636055"/>
                </a:cubicBezTo>
                <a:lnTo>
                  <a:pt x="0" y="71822"/>
                </a:lnTo>
                <a:cubicBezTo>
                  <a:pt x="0" y="32182"/>
                  <a:pt x="32182" y="0"/>
                  <a:pt x="7182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57993" y="1337708"/>
            <a:ext cx="350138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62482" y="1701314"/>
            <a:ext cx="3411605" cy="439918"/>
          </a:xfrm>
          <a:custGeom>
            <a:avLst/>
            <a:gdLst/>
            <a:ahLst/>
            <a:cxnLst/>
            <a:rect l="l" t="t" r="r" b="b"/>
            <a:pathLst>
              <a:path w="3411605" h="439918">
                <a:moveTo>
                  <a:pt x="35910" y="0"/>
                </a:moveTo>
                <a:lnTo>
                  <a:pt x="3375695" y="0"/>
                </a:lnTo>
                <a:cubicBezTo>
                  <a:pt x="3395528" y="0"/>
                  <a:pt x="3411605" y="16078"/>
                  <a:pt x="3411605" y="35910"/>
                </a:cubicBezTo>
                <a:lnTo>
                  <a:pt x="3411605" y="404007"/>
                </a:lnTo>
                <a:cubicBezTo>
                  <a:pt x="3411605" y="423840"/>
                  <a:pt x="3395528" y="439918"/>
                  <a:pt x="3375695" y="439918"/>
                </a:cubicBezTo>
                <a:lnTo>
                  <a:pt x="35910" y="439918"/>
                </a:lnTo>
                <a:cubicBezTo>
                  <a:pt x="16078" y="439918"/>
                  <a:pt x="0" y="423840"/>
                  <a:pt x="0" y="404007"/>
                </a:cubicBezTo>
                <a:lnTo>
                  <a:pt x="0" y="35910"/>
                </a:lnTo>
                <a:cubicBezTo>
                  <a:pt x="0" y="16078"/>
                  <a:pt x="16078" y="0"/>
                  <a:pt x="3591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8794" y="1777626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/api/pipeline/start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38794" y="1921272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Запуск обработки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62482" y="2222032"/>
            <a:ext cx="3411605" cy="439918"/>
          </a:xfrm>
          <a:custGeom>
            <a:avLst/>
            <a:gdLst/>
            <a:ahLst/>
            <a:cxnLst/>
            <a:rect l="l" t="t" r="r" b="b"/>
            <a:pathLst>
              <a:path w="3411605" h="439918">
                <a:moveTo>
                  <a:pt x="35910" y="0"/>
                </a:moveTo>
                <a:lnTo>
                  <a:pt x="3375695" y="0"/>
                </a:lnTo>
                <a:cubicBezTo>
                  <a:pt x="3395528" y="0"/>
                  <a:pt x="3411605" y="16078"/>
                  <a:pt x="3411605" y="35910"/>
                </a:cubicBezTo>
                <a:lnTo>
                  <a:pt x="3411605" y="404007"/>
                </a:lnTo>
                <a:cubicBezTo>
                  <a:pt x="3411605" y="423840"/>
                  <a:pt x="3395528" y="439918"/>
                  <a:pt x="3375695" y="439918"/>
                </a:cubicBezTo>
                <a:lnTo>
                  <a:pt x="35910" y="439918"/>
                </a:lnTo>
                <a:cubicBezTo>
                  <a:pt x="16078" y="439918"/>
                  <a:pt x="0" y="423840"/>
                  <a:pt x="0" y="404007"/>
                </a:cubicBezTo>
                <a:lnTo>
                  <a:pt x="0" y="35910"/>
                </a:lnTo>
                <a:cubicBezTo>
                  <a:pt x="0" y="16078"/>
                  <a:pt x="16078" y="0"/>
                  <a:pt x="3591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8794" y="2298345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/api/pipeline/status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38794" y="2441991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Статус конвейера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62482" y="2742751"/>
            <a:ext cx="3411605" cy="439918"/>
          </a:xfrm>
          <a:custGeom>
            <a:avLst/>
            <a:gdLst/>
            <a:ahLst/>
            <a:cxnLst/>
            <a:rect l="l" t="t" r="r" b="b"/>
            <a:pathLst>
              <a:path w="3411605" h="439918">
                <a:moveTo>
                  <a:pt x="35910" y="0"/>
                </a:moveTo>
                <a:lnTo>
                  <a:pt x="3375695" y="0"/>
                </a:lnTo>
                <a:cubicBezTo>
                  <a:pt x="3395528" y="0"/>
                  <a:pt x="3411605" y="16078"/>
                  <a:pt x="3411605" y="35910"/>
                </a:cubicBezTo>
                <a:lnTo>
                  <a:pt x="3411605" y="404007"/>
                </a:lnTo>
                <a:cubicBezTo>
                  <a:pt x="3411605" y="423840"/>
                  <a:pt x="3395528" y="439918"/>
                  <a:pt x="3375695" y="439918"/>
                </a:cubicBezTo>
                <a:lnTo>
                  <a:pt x="35910" y="439918"/>
                </a:lnTo>
                <a:cubicBezTo>
                  <a:pt x="16078" y="439918"/>
                  <a:pt x="0" y="423840"/>
                  <a:pt x="0" y="404007"/>
                </a:cubicBezTo>
                <a:lnTo>
                  <a:pt x="0" y="35910"/>
                </a:lnTo>
                <a:cubicBezTo>
                  <a:pt x="0" y="16078"/>
                  <a:pt x="16078" y="0"/>
                  <a:pt x="3591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8794" y="2819063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/api/pipeline/xml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38794" y="2962710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Получить XML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62482" y="3263470"/>
            <a:ext cx="3411605" cy="439918"/>
          </a:xfrm>
          <a:custGeom>
            <a:avLst/>
            <a:gdLst/>
            <a:ahLst/>
            <a:cxnLst/>
            <a:rect l="l" t="t" r="r" b="b"/>
            <a:pathLst>
              <a:path w="3411605" h="439918">
                <a:moveTo>
                  <a:pt x="35910" y="0"/>
                </a:moveTo>
                <a:lnTo>
                  <a:pt x="3375695" y="0"/>
                </a:lnTo>
                <a:cubicBezTo>
                  <a:pt x="3395528" y="0"/>
                  <a:pt x="3411605" y="16078"/>
                  <a:pt x="3411605" y="35910"/>
                </a:cubicBezTo>
                <a:lnTo>
                  <a:pt x="3411605" y="404007"/>
                </a:lnTo>
                <a:cubicBezTo>
                  <a:pt x="3411605" y="423840"/>
                  <a:pt x="3395528" y="439918"/>
                  <a:pt x="3375695" y="439918"/>
                </a:cubicBezTo>
                <a:lnTo>
                  <a:pt x="35910" y="439918"/>
                </a:lnTo>
                <a:cubicBezTo>
                  <a:pt x="16078" y="439918"/>
                  <a:pt x="0" y="423840"/>
                  <a:pt x="0" y="404007"/>
                </a:cubicBezTo>
                <a:lnTo>
                  <a:pt x="0" y="35910"/>
                </a:lnTo>
                <a:cubicBezTo>
                  <a:pt x="0" y="16078"/>
                  <a:pt x="16078" y="0"/>
                  <a:pt x="3591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38794" y="3339782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/api/pipeline/encrypt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38794" y="3483429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Шифрование GPG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62482" y="3784189"/>
            <a:ext cx="3411605" cy="439918"/>
          </a:xfrm>
          <a:custGeom>
            <a:avLst/>
            <a:gdLst/>
            <a:ahLst/>
            <a:cxnLst/>
            <a:rect l="l" t="t" r="r" b="b"/>
            <a:pathLst>
              <a:path w="3411605" h="439918">
                <a:moveTo>
                  <a:pt x="35910" y="0"/>
                </a:moveTo>
                <a:lnTo>
                  <a:pt x="3375695" y="0"/>
                </a:lnTo>
                <a:cubicBezTo>
                  <a:pt x="3395528" y="0"/>
                  <a:pt x="3411605" y="16078"/>
                  <a:pt x="3411605" y="35910"/>
                </a:cubicBezTo>
                <a:lnTo>
                  <a:pt x="3411605" y="404007"/>
                </a:lnTo>
                <a:cubicBezTo>
                  <a:pt x="3411605" y="423840"/>
                  <a:pt x="3395528" y="439918"/>
                  <a:pt x="3375695" y="439918"/>
                </a:cubicBezTo>
                <a:lnTo>
                  <a:pt x="35910" y="439918"/>
                </a:lnTo>
                <a:cubicBezTo>
                  <a:pt x="16078" y="439918"/>
                  <a:pt x="0" y="423840"/>
                  <a:pt x="0" y="404007"/>
                </a:cubicBezTo>
                <a:lnTo>
                  <a:pt x="0" y="35910"/>
                </a:lnTo>
                <a:cubicBezTo>
                  <a:pt x="0" y="16078"/>
                  <a:pt x="16078" y="0"/>
                  <a:pt x="3591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8794" y="3860501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/api/pipeline/email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38794" y="4004147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Отправка SMTP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62482" y="4304907"/>
            <a:ext cx="3411605" cy="439918"/>
          </a:xfrm>
          <a:custGeom>
            <a:avLst/>
            <a:gdLst/>
            <a:ahLst/>
            <a:cxnLst/>
            <a:rect l="l" t="t" r="r" b="b"/>
            <a:pathLst>
              <a:path w="3411605" h="439918">
                <a:moveTo>
                  <a:pt x="35910" y="0"/>
                </a:moveTo>
                <a:lnTo>
                  <a:pt x="3375695" y="0"/>
                </a:lnTo>
                <a:cubicBezTo>
                  <a:pt x="3395528" y="0"/>
                  <a:pt x="3411605" y="16078"/>
                  <a:pt x="3411605" y="35910"/>
                </a:cubicBezTo>
                <a:lnTo>
                  <a:pt x="3411605" y="404007"/>
                </a:lnTo>
                <a:cubicBezTo>
                  <a:pt x="3411605" y="423840"/>
                  <a:pt x="3395528" y="439918"/>
                  <a:pt x="3375695" y="439918"/>
                </a:cubicBezTo>
                <a:lnTo>
                  <a:pt x="35910" y="439918"/>
                </a:lnTo>
                <a:cubicBezTo>
                  <a:pt x="16078" y="439918"/>
                  <a:pt x="0" y="423840"/>
                  <a:pt x="0" y="404007"/>
                </a:cubicBezTo>
                <a:lnTo>
                  <a:pt x="0" y="35910"/>
                </a:lnTo>
                <a:cubicBezTo>
                  <a:pt x="0" y="16078"/>
                  <a:pt x="16078" y="0"/>
                  <a:pt x="3591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38794" y="4381219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/api/qr/overlay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38794" y="4524866"/>
            <a:ext cx="3312848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QR-наложение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09857" y="5014162"/>
            <a:ext cx="3716854" cy="1840471"/>
          </a:xfrm>
          <a:custGeom>
            <a:avLst/>
            <a:gdLst/>
            <a:ahLst/>
            <a:cxnLst/>
            <a:rect l="l" t="t" r="r" b="b"/>
            <a:pathLst>
              <a:path w="3716854" h="1840471">
                <a:moveTo>
                  <a:pt x="71815" y="0"/>
                </a:moveTo>
                <a:lnTo>
                  <a:pt x="3645039" y="0"/>
                </a:lnTo>
                <a:cubicBezTo>
                  <a:pt x="3684701" y="0"/>
                  <a:pt x="3716854" y="32153"/>
                  <a:pt x="3716854" y="71815"/>
                </a:cubicBezTo>
                <a:lnTo>
                  <a:pt x="3716854" y="1768656"/>
                </a:lnTo>
                <a:cubicBezTo>
                  <a:pt x="3716854" y="1808319"/>
                  <a:pt x="3684701" y="1840471"/>
                  <a:pt x="3645039" y="1840471"/>
                </a:cubicBezTo>
                <a:lnTo>
                  <a:pt x="71815" y="1840471"/>
                </a:lnTo>
                <a:cubicBezTo>
                  <a:pt x="32153" y="1840471"/>
                  <a:pt x="0" y="1808319"/>
                  <a:pt x="0" y="1768656"/>
                </a:cubicBezTo>
                <a:lnTo>
                  <a:pt x="0" y="71815"/>
                </a:lnTo>
                <a:cubicBezTo>
                  <a:pt x="0" y="32179"/>
                  <a:pt x="32179" y="0"/>
                  <a:pt x="7181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57993" y="5162297"/>
            <a:ext cx="350138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Порты сервисов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257993" y="5521414"/>
            <a:ext cx="75414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llama-server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336574" y="5521414"/>
            <a:ext cx="4129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:8090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257993" y="5772795"/>
            <a:ext cx="49378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336574" y="5772795"/>
            <a:ext cx="4129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:8000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257993" y="6024177"/>
            <a:ext cx="55663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SvelteKit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336574" y="6024177"/>
            <a:ext cx="4129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:5173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257993" y="6275558"/>
            <a:ext cx="73618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Mailpit Web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336574" y="6275558"/>
            <a:ext cx="4129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:8025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257993" y="6526940"/>
            <a:ext cx="36809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336574" y="6526940"/>
            <a:ext cx="4129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:6379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391854"/>
            <a:ext cx="71246" cy="284985"/>
          </a:xfrm>
          <a:custGeom>
            <a:avLst/>
            <a:gdLst/>
            <a:ahLst/>
            <a:cxnLst/>
            <a:rect l="l" t="t" r="r" b="b"/>
            <a:pathLst>
              <a:path w="71246" h="284985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249362"/>
                </a:lnTo>
                <a:cubicBezTo>
                  <a:pt x="71246" y="269036"/>
                  <a:pt x="55297" y="284985"/>
                  <a:pt x="35623" y="284985"/>
                </a:cubicBezTo>
                <a:lnTo>
                  <a:pt x="35623" y="284985"/>
                </a:lnTo>
                <a:cubicBezTo>
                  <a:pt x="15949" y="284985"/>
                  <a:pt x="0" y="269036"/>
                  <a:pt x="0" y="2493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34346" y="356231"/>
            <a:ext cx="4461791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Прорыв: Зонная сегментация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4346" y="783708"/>
            <a:ext cx="11381575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Ключевое новшество, обеспечившее прирост точности с 7.84% до 97.44%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684" y="1180015"/>
            <a:ext cx="5655164" cy="1576321"/>
          </a:xfrm>
          <a:custGeom>
            <a:avLst/>
            <a:gdLst/>
            <a:ahLst/>
            <a:cxnLst/>
            <a:rect l="l" t="t" r="r" b="b"/>
            <a:pathLst>
              <a:path w="5655164" h="1576321">
                <a:moveTo>
                  <a:pt x="71250" y="0"/>
                </a:moveTo>
                <a:lnTo>
                  <a:pt x="5583915" y="0"/>
                </a:lnTo>
                <a:cubicBezTo>
                  <a:pt x="5623265" y="0"/>
                  <a:pt x="5655164" y="31900"/>
                  <a:pt x="5655164" y="71250"/>
                </a:cubicBezTo>
                <a:lnTo>
                  <a:pt x="5655164" y="1505072"/>
                </a:lnTo>
                <a:cubicBezTo>
                  <a:pt x="5655164" y="1544395"/>
                  <a:pt x="5623238" y="1576321"/>
                  <a:pt x="5583915" y="1576321"/>
                </a:cubicBezTo>
                <a:lnTo>
                  <a:pt x="71250" y="1576321"/>
                </a:lnTo>
                <a:cubicBezTo>
                  <a:pt x="31900" y="1576321"/>
                  <a:pt x="0" y="1544422"/>
                  <a:pt x="0" y="1505072"/>
                </a:cubicBezTo>
                <a:lnTo>
                  <a:pt x="0" y="71250"/>
                </a:lnTo>
                <a:cubicBezTo>
                  <a:pt x="0" y="31926"/>
                  <a:pt x="31926" y="0"/>
                  <a:pt x="7125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629" y="1326960"/>
            <a:ext cx="544142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 полного кадра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629" y="1683191"/>
            <a:ext cx="5423614" cy="409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2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 на 4B параметров </a:t>
            </a:r>
            <a:r>
              <a:rPr lang="en-US" sz="98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может одновременно обрабатывать 40+ меток</a:t>
            </a:r>
            <a:r>
              <a:rPr lang="en-US" sz="982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на экране 1912×1076. Модель теряет фокус и путает параметры.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2082" y="2199725"/>
            <a:ext cx="5352368" cy="400760"/>
          </a:xfrm>
          <a:custGeom>
            <a:avLst/>
            <a:gdLst/>
            <a:ahLst/>
            <a:cxnLst/>
            <a:rect l="l" t="t" r="r" b="b"/>
            <a:pathLst>
              <a:path w="5352368" h="400760">
                <a:moveTo>
                  <a:pt x="71247" y="0"/>
                </a:moveTo>
                <a:lnTo>
                  <a:pt x="5281121" y="0"/>
                </a:lnTo>
                <a:cubicBezTo>
                  <a:pt x="5320470" y="0"/>
                  <a:pt x="5352368" y="31898"/>
                  <a:pt x="5352368" y="71247"/>
                </a:cubicBezTo>
                <a:lnTo>
                  <a:pt x="5352368" y="329513"/>
                </a:lnTo>
                <a:cubicBezTo>
                  <a:pt x="5352368" y="368861"/>
                  <a:pt x="5320470" y="400760"/>
                  <a:pt x="5281121" y="400760"/>
                </a:cubicBezTo>
                <a:lnTo>
                  <a:pt x="71247" y="400760"/>
                </a:lnTo>
                <a:cubicBezTo>
                  <a:pt x="31898" y="400760"/>
                  <a:pt x="0" y="368861"/>
                  <a:pt x="0" y="329513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215" y="2337765"/>
            <a:ext cx="124681" cy="124681"/>
          </a:xfrm>
          <a:custGeom>
            <a:avLst/>
            <a:gdLst/>
            <a:ahLst/>
            <a:cxnLst/>
            <a:rect l="l" t="t" r="r" b="b"/>
            <a:pathLst>
              <a:path w="124681" h="124681">
                <a:moveTo>
                  <a:pt x="62340" y="0"/>
                </a:moveTo>
                <a:cubicBezTo>
                  <a:pt x="65920" y="0"/>
                  <a:pt x="69208" y="1972"/>
                  <a:pt x="70912" y="5114"/>
                </a:cubicBezTo>
                <a:lnTo>
                  <a:pt x="123512" y="102521"/>
                </a:lnTo>
                <a:cubicBezTo>
                  <a:pt x="125143" y="105540"/>
                  <a:pt x="125070" y="109193"/>
                  <a:pt x="123317" y="112140"/>
                </a:cubicBezTo>
                <a:cubicBezTo>
                  <a:pt x="121564" y="115086"/>
                  <a:pt x="118374" y="116888"/>
                  <a:pt x="114940" y="116888"/>
                </a:cubicBezTo>
                <a:lnTo>
                  <a:pt x="9741" y="116888"/>
                </a:lnTo>
                <a:cubicBezTo>
                  <a:pt x="6307" y="116888"/>
                  <a:pt x="3141" y="115086"/>
                  <a:pt x="1364" y="112140"/>
                </a:cubicBezTo>
                <a:cubicBezTo>
                  <a:pt x="-414" y="109193"/>
                  <a:pt x="-463" y="105540"/>
                  <a:pt x="1169" y="102521"/>
                </a:cubicBezTo>
                <a:lnTo>
                  <a:pt x="53769" y="5114"/>
                </a:lnTo>
                <a:cubicBezTo>
                  <a:pt x="55473" y="1972"/>
                  <a:pt x="58761" y="0"/>
                  <a:pt x="62340" y="0"/>
                </a:cubicBezTo>
                <a:close/>
                <a:moveTo>
                  <a:pt x="62340" y="40911"/>
                </a:moveTo>
                <a:cubicBezTo>
                  <a:pt x="59102" y="40911"/>
                  <a:pt x="56496" y="43517"/>
                  <a:pt x="56496" y="46755"/>
                </a:cubicBezTo>
                <a:lnTo>
                  <a:pt x="56496" y="74029"/>
                </a:lnTo>
                <a:cubicBezTo>
                  <a:pt x="56496" y="77268"/>
                  <a:pt x="59102" y="79874"/>
                  <a:pt x="62340" y="79874"/>
                </a:cubicBezTo>
                <a:cubicBezTo>
                  <a:pt x="65579" y="79874"/>
                  <a:pt x="68185" y="77268"/>
                  <a:pt x="68185" y="74029"/>
                </a:cubicBezTo>
                <a:lnTo>
                  <a:pt x="68185" y="46755"/>
                </a:lnTo>
                <a:cubicBezTo>
                  <a:pt x="68185" y="43517"/>
                  <a:pt x="65579" y="40911"/>
                  <a:pt x="62340" y="40911"/>
                </a:cubicBezTo>
                <a:close/>
                <a:moveTo>
                  <a:pt x="68842" y="93511"/>
                </a:moveTo>
                <a:cubicBezTo>
                  <a:pt x="68990" y="91097"/>
                  <a:pt x="67787" y="88801"/>
                  <a:pt x="65718" y="87550"/>
                </a:cubicBezTo>
                <a:cubicBezTo>
                  <a:pt x="63649" y="86298"/>
                  <a:pt x="61056" y="86298"/>
                  <a:pt x="58987" y="87550"/>
                </a:cubicBezTo>
                <a:cubicBezTo>
                  <a:pt x="56919" y="88801"/>
                  <a:pt x="55715" y="91097"/>
                  <a:pt x="55863" y="93511"/>
                </a:cubicBezTo>
                <a:cubicBezTo>
                  <a:pt x="55715" y="95924"/>
                  <a:pt x="56919" y="98220"/>
                  <a:pt x="58987" y="99472"/>
                </a:cubicBezTo>
                <a:cubicBezTo>
                  <a:pt x="61056" y="100723"/>
                  <a:pt x="63649" y="100723"/>
                  <a:pt x="65718" y="99472"/>
                </a:cubicBezTo>
                <a:cubicBezTo>
                  <a:pt x="67787" y="98220"/>
                  <a:pt x="68990" y="95924"/>
                  <a:pt x="68842" y="93511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0" name="Text 8"/>
          <p:cNvSpPr/>
          <p:nvPr/>
        </p:nvSpPr>
        <p:spPr>
          <a:xfrm>
            <a:off x="833669" y="2311047"/>
            <a:ext cx="498180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на полном кадре: </a:t>
            </a:r>
            <a:r>
              <a:rPr lang="en-US" sz="982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7.84%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0684" y="2867658"/>
            <a:ext cx="5655164" cy="3989785"/>
          </a:xfrm>
          <a:custGeom>
            <a:avLst/>
            <a:gdLst/>
            <a:ahLst/>
            <a:cxnLst/>
            <a:rect l="l" t="t" r="r" b="b"/>
            <a:pathLst>
              <a:path w="5655164" h="3989785">
                <a:moveTo>
                  <a:pt x="71258" y="0"/>
                </a:moveTo>
                <a:lnTo>
                  <a:pt x="5583907" y="0"/>
                </a:lnTo>
                <a:cubicBezTo>
                  <a:pt x="5623261" y="0"/>
                  <a:pt x="5655164" y="31903"/>
                  <a:pt x="5655164" y="71258"/>
                </a:cubicBezTo>
                <a:lnTo>
                  <a:pt x="5655164" y="3918528"/>
                </a:lnTo>
                <a:cubicBezTo>
                  <a:pt x="5655164" y="3957882"/>
                  <a:pt x="5623261" y="3989785"/>
                  <a:pt x="5583907" y="3989785"/>
                </a:cubicBezTo>
                <a:lnTo>
                  <a:pt x="71258" y="3989785"/>
                </a:lnTo>
                <a:cubicBezTo>
                  <a:pt x="31903" y="3989785"/>
                  <a:pt x="0" y="3957882"/>
                  <a:pt x="0" y="3918528"/>
                </a:cubicBezTo>
                <a:lnTo>
                  <a:pt x="0" y="71258"/>
                </a:lnTo>
                <a:cubicBezTo>
                  <a:pt x="0" y="31929"/>
                  <a:pt x="31929" y="0"/>
                  <a:pt x="7125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629" y="3014603"/>
            <a:ext cx="544142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Решение: 4 зоны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629" y="3370834"/>
            <a:ext cx="5423614" cy="409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2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Кадрирование в </a:t>
            </a: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фокусные зоны</a:t>
            </a:r>
            <a:r>
              <a:rPr lang="en-US" sz="982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позволяет каждому VLM-запросу обрабатывать 5-15 параметров с высокой надёжностью.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629" y="3900728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5074" y="3954162"/>
            <a:ext cx="11577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9483" y="3882916"/>
            <a:ext cx="15228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Левая + Центр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9483" y="4061031"/>
            <a:ext cx="1513981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Компрессор, АВО, атмосфера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7629" y="4292581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3802" y="4346016"/>
            <a:ext cx="133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9483" y="4274770"/>
            <a:ext cx="139820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Правая панель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9483" y="4452885"/>
            <a:ext cx="1389300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Давление газа, клапаны, dP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7629" y="4684435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3246" y="4737870"/>
            <a:ext cx="133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9483" y="4666624"/>
            <a:ext cx="173662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Нижняя полоса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9483" y="4844739"/>
            <a:ext cx="1727720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Масло, температуры, охлаждение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7629" y="5076289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3385" y="5129724"/>
            <a:ext cx="133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9483" y="5058478"/>
            <a:ext cx="190583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Таблица T2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9483" y="5236593"/>
            <a:ext cx="189692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Температуры (8 точек) + подшипники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1142" y="1180015"/>
            <a:ext cx="5655164" cy="3214983"/>
          </a:xfrm>
          <a:custGeom>
            <a:avLst/>
            <a:gdLst/>
            <a:ahLst/>
            <a:cxnLst/>
            <a:rect l="l" t="t" r="r" b="b"/>
            <a:pathLst>
              <a:path w="5655164" h="3214983">
                <a:moveTo>
                  <a:pt x="71244" y="0"/>
                </a:moveTo>
                <a:lnTo>
                  <a:pt x="5583920" y="0"/>
                </a:lnTo>
                <a:cubicBezTo>
                  <a:pt x="5623267" y="0"/>
                  <a:pt x="5655164" y="31897"/>
                  <a:pt x="5655164" y="71244"/>
                </a:cubicBezTo>
                <a:lnTo>
                  <a:pt x="5655164" y="3143739"/>
                </a:lnTo>
                <a:cubicBezTo>
                  <a:pt x="5655164" y="3183086"/>
                  <a:pt x="5623267" y="3214983"/>
                  <a:pt x="5583920" y="3214983"/>
                </a:cubicBezTo>
                <a:lnTo>
                  <a:pt x="71244" y="3214983"/>
                </a:lnTo>
                <a:cubicBezTo>
                  <a:pt x="31897" y="3214983"/>
                  <a:pt x="0" y="3183086"/>
                  <a:pt x="0" y="3143739"/>
                </a:cubicBezTo>
                <a:lnTo>
                  <a:pt x="0" y="71244"/>
                </a:lnTo>
                <a:cubicBezTo>
                  <a:pt x="0" y="31923"/>
                  <a:pt x="31923" y="0"/>
                  <a:pt x="7124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088" y="1326960"/>
            <a:ext cx="544142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Координаты зон (относительные)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2541" y="1687644"/>
            <a:ext cx="5352368" cy="578875"/>
          </a:xfrm>
          <a:custGeom>
            <a:avLst/>
            <a:gdLst/>
            <a:ahLst/>
            <a:cxnLst/>
            <a:rect l="l" t="t" r="r" b="b"/>
            <a:pathLst>
              <a:path w="5352368" h="578875">
                <a:moveTo>
                  <a:pt x="71248" y="0"/>
                </a:moveTo>
                <a:lnTo>
                  <a:pt x="5281120" y="0"/>
                </a:lnTo>
                <a:cubicBezTo>
                  <a:pt x="5320469" y="0"/>
                  <a:pt x="5352368" y="31899"/>
                  <a:pt x="5352368" y="71248"/>
                </a:cubicBezTo>
                <a:lnTo>
                  <a:pt x="5352368" y="507627"/>
                </a:lnTo>
                <a:cubicBezTo>
                  <a:pt x="5352368" y="546976"/>
                  <a:pt x="5320469" y="578875"/>
                  <a:pt x="5281120" y="578875"/>
                </a:cubicBezTo>
                <a:lnTo>
                  <a:pt x="71248" y="578875"/>
                </a:lnTo>
                <a:cubicBezTo>
                  <a:pt x="31899" y="578875"/>
                  <a:pt x="0" y="546976"/>
                  <a:pt x="0" y="50762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3863" y="1798966"/>
            <a:ext cx="10597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Зона 1: left_center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81003" y="1816777"/>
            <a:ext cx="163866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0.109, 0.059 → 0.397, 0.828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33863" y="2012704"/>
            <a:ext cx="518315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КЦ, АВО, давление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2541" y="2346671"/>
            <a:ext cx="5352368" cy="578875"/>
          </a:xfrm>
          <a:custGeom>
            <a:avLst/>
            <a:gdLst/>
            <a:ahLst/>
            <a:cxnLst/>
            <a:rect l="l" t="t" r="r" b="b"/>
            <a:pathLst>
              <a:path w="5352368" h="578875">
                <a:moveTo>
                  <a:pt x="71248" y="0"/>
                </a:moveTo>
                <a:lnTo>
                  <a:pt x="5281120" y="0"/>
                </a:lnTo>
                <a:cubicBezTo>
                  <a:pt x="5320469" y="0"/>
                  <a:pt x="5352368" y="31899"/>
                  <a:pt x="5352368" y="71248"/>
                </a:cubicBezTo>
                <a:lnTo>
                  <a:pt x="5352368" y="507627"/>
                </a:lnTo>
                <a:cubicBezTo>
                  <a:pt x="5352368" y="546976"/>
                  <a:pt x="5320469" y="578875"/>
                  <a:pt x="5281120" y="578875"/>
                </a:cubicBezTo>
                <a:lnTo>
                  <a:pt x="71248" y="578875"/>
                </a:lnTo>
                <a:cubicBezTo>
                  <a:pt x="31899" y="578875"/>
                  <a:pt x="0" y="546976"/>
                  <a:pt x="0" y="50762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3863" y="2457993"/>
            <a:ext cx="110431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Зона 2: right_panel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81003" y="2475804"/>
            <a:ext cx="163866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0.388, 0.059 → 0.758, 0.818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33863" y="2671731"/>
            <a:ext cx="518315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Газ, клапаны, dP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2541" y="3005698"/>
            <a:ext cx="5352368" cy="578875"/>
          </a:xfrm>
          <a:custGeom>
            <a:avLst/>
            <a:gdLst/>
            <a:ahLst/>
            <a:cxnLst/>
            <a:rect l="l" t="t" r="r" b="b"/>
            <a:pathLst>
              <a:path w="5352368" h="578875">
                <a:moveTo>
                  <a:pt x="71248" y="0"/>
                </a:moveTo>
                <a:lnTo>
                  <a:pt x="5281120" y="0"/>
                </a:lnTo>
                <a:cubicBezTo>
                  <a:pt x="5320469" y="0"/>
                  <a:pt x="5352368" y="31899"/>
                  <a:pt x="5352368" y="71248"/>
                </a:cubicBezTo>
                <a:lnTo>
                  <a:pt x="5352368" y="507627"/>
                </a:lnTo>
                <a:cubicBezTo>
                  <a:pt x="5352368" y="546976"/>
                  <a:pt x="5320469" y="578875"/>
                  <a:pt x="5281120" y="578875"/>
                </a:cubicBezTo>
                <a:lnTo>
                  <a:pt x="71248" y="578875"/>
                </a:lnTo>
                <a:cubicBezTo>
                  <a:pt x="31899" y="578875"/>
                  <a:pt x="0" y="546976"/>
                  <a:pt x="0" y="50762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3863" y="3117020"/>
            <a:ext cx="12022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Зона 3: bottom_strip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981003" y="3134831"/>
            <a:ext cx="163866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0.010, 0.819 → 0.759, 0.986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33863" y="3330758"/>
            <a:ext cx="518315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Масло ГТД/ЦБК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2541" y="3664725"/>
            <a:ext cx="5352368" cy="578875"/>
          </a:xfrm>
          <a:custGeom>
            <a:avLst/>
            <a:gdLst/>
            <a:ahLst/>
            <a:cxnLst/>
            <a:rect l="l" t="t" r="r" b="b"/>
            <a:pathLst>
              <a:path w="5352368" h="578875">
                <a:moveTo>
                  <a:pt x="71248" y="0"/>
                </a:moveTo>
                <a:lnTo>
                  <a:pt x="5281120" y="0"/>
                </a:lnTo>
                <a:cubicBezTo>
                  <a:pt x="5320469" y="0"/>
                  <a:pt x="5352368" y="31899"/>
                  <a:pt x="5352368" y="71248"/>
                </a:cubicBezTo>
                <a:lnTo>
                  <a:pt x="5352368" y="507627"/>
                </a:lnTo>
                <a:cubicBezTo>
                  <a:pt x="5352368" y="546976"/>
                  <a:pt x="5320469" y="578875"/>
                  <a:pt x="5281120" y="578875"/>
                </a:cubicBezTo>
                <a:lnTo>
                  <a:pt x="71248" y="578875"/>
                </a:lnTo>
                <a:cubicBezTo>
                  <a:pt x="31899" y="578875"/>
                  <a:pt x="0" y="546976"/>
                  <a:pt x="0" y="50762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3863" y="3776047"/>
            <a:ext cx="11399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Зона 4: t2_bearings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981003" y="3793858"/>
            <a:ext cx="163866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0.759, 0.002 → 1.000, 0.736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33863" y="3989785"/>
            <a:ext cx="518315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Таблица T2, подшипники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1142" y="4510773"/>
            <a:ext cx="5655164" cy="1006352"/>
          </a:xfrm>
          <a:custGeom>
            <a:avLst/>
            <a:gdLst/>
            <a:ahLst/>
            <a:cxnLst/>
            <a:rect l="l" t="t" r="r" b="b"/>
            <a:pathLst>
              <a:path w="5655164" h="1006352">
                <a:moveTo>
                  <a:pt x="71250" y="0"/>
                </a:moveTo>
                <a:lnTo>
                  <a:pt x="5583915" y="0"/>
                </a:lnTo>
                <a:cubicBezTo>
                  <a:pt x="5623265" y="0"/>
                  <a:pt x="5655164" y="31900"/>
                  <a:pt x="5655164" y="71250"/>
                </a:cubicBezTo>
                <a:lnTo>
                  <a:pt x="5655164" y="935102"/>
                </a:lnTo>
                <a:cubicBezTo>
                  <a:pt x="5655164" y="974426"/>
                  <a:pt x="5623238" y="1006352"/>
                  <a:pt x="5583915" y="1006352"/>
                </a:cubicBezTo>
                <a:lnTo>
                  <a:pt x="71250" y="1006352"/>
                </a:lnTo>
                <a:cubicBezTo>
                  <a:pt x="31900" y="1006352"/>
                  <a:pt x="0" y="974452"/>
                  <a:pt x="0" y="935102"/>
                </a:cubicBezTo>
                <a:lnTo>
                  <a:pt x="0" y="71250"/>
                </a:lnTo>
                <a:cubicBezTo>
                  <a:pt x="0" y="31926"/>
                  <a:pt x="31926" y="0"/>
                  <a:pt x="71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 w="127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44805" y="4800210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26717" y="26717"/>
                </a:moveTo>
                <a:cubicBezTo>
                  <a:pt x="26717" y="19328"/>
                  <a:pt x="20748" y="13359"/>
                  <a:pt x="13359" y="13359"/>
                </a:cubicBezTo>
                <a:cubicBezTo>
                  <a:pt x="5970" y="13359"/>
                  <a:pt x="0" y="19328"/>
                  <a:pt x="0" y="26717"/>
                </a:cubicBezTo>
                <a:lnTo>
                  <a:pt x="0" y="166983"/>
                </a:lnTo>
                <a:cubicBezTo>
                  <a:pt x="0" y="185435"/>
                  <a:pt x="14945" y="200380"/>
                  <a:pt x="33397" y="200380"/>
                </a:cubicBezTo>
                <a:lnTo>
                  <a:pt x="200380" y="200380"/>
                </a:lnTo>
                <a:cubicBezTo>
                  <a:pt x="207769" y="200380"/>
                  <a:pt x="213738" y="194410"/>
                  <a:pt x="213738" y="187021"/>
                </a:cubicBezTo>
                <a:cubicBezTo>
                  <a:pt x="213738" y="179632"/>
                  <a:pt x="207769" y="173663"/>
                  <a:pt x="200380" y="173663"/>
                </a:cubicBezTo>
                <a:lnTo>
                  <a:pt x="33397" y="173663"/>
                </a:lnTo>
                <a:cubicBezTo>
                  <a:pt x="29723" y="173663"/>
                  <a:pt x="26717" y="170657"/>
                  <a:pt x="26717" y="166983"/>
                </a:cubicBezTo>
                <a:lnTo>
                  <a:pt x="26717" y="26717"/>
                </a:lnTo>
                <a:close/>
                <a:moveTo>
                  <a:pt x="196456" y="62869"/>
                </a:moveTo>
                <a:cubicBezTo>
                  <a:pt x="201674" y="57651"/>
                  <a:pt x="201674" y="49177"/>
                  <a:pt x="196456" y="43958"/>
                </a:cubicBezTo>
                <a:cubicBezTo>
                  <a:pt x="191238" y="38740"/>
                  <a:pt x="182763" y="38740"/>
                  <a:pt x="177545" y="43958"/>
                </a:cubicBezTo>
                <a:lnTo>
                  <a:pt x="133587" y="87958"/>
                </a:lnTo>
                <a:lnTo>
                  <a:pt x="109624" y="64038"/>
                </a:lnTo>
                <a:cubicBezTo>
                  <a:pt x="104406" y="58820"/>
                  <a:pt x="95932" y="58820"/>
                  <a:pt x="90714" y="64038"/>
                </a:cubicBezTo>
                <a:lnTo>
                  <a:pt x="50638" y="104114"/>
                </a:lnTo>
                <a:cubicBezTo>
                  <a:pt x="45419" y="109332"/>
                  <a:pt x="45419" y="117807"/>
                  <a:pt x="50638" y="123025"/>
                </a:cubicBezTo>
                <a:cubicBezTo>
                  <a:pt x="55856" y="128243"/>
                  <a:pt x="64330" y="128243"/>
                  <a:pt x="69549" y="123025"/>
                </a:cubicBezTo>
                <a:lnTo>
                  <a:pt x="100190" y="92383"/>
                </a:lnTo>
                <a:lnTo>
                  <a:pt x="124152" y="116346"/>
                </a:lnTo>
                <a:cubicBezTo>
                  <a:pt x="129370" y="121564"/>
                  <a:pt x="137845" y="121564"/>
                  <a:pt x="143063" y="116346"/>
                </a:cubicBezTo>
                <a:lnTo>
                  <a:pt x="196497" y="62911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6692130" y="4657718"/>
            <a:ext cx="1113221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Прирост точности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92130" y="4835833"/>
            <a:ext cx="1184467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+89.6%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18088" y="5227687"/>
            <a:ext cx="541470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 7.84% на полном кадре до 97.44% с зонной сегментацией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1142" y="5632900"/>
            <a:ext cx="5655164" cy="1220091"/>
          </a:xfrm>
          <a:custGeom>
            <a:avLst/>
            <a:gdLst/>
            <a:ahLst/>
            <a:cxnLst/>
            <a:rect l="l" t="t" r="r" b="b"/>
            <a:pathLst>
              <a:path w="5655164" h="1220091">
                <a:moveTo>
                  <a:pt x="71241" y="0"/>
                </a:moveTo>
                <a:lnTo>
                  <a:pt x="5583923" y="0"/>
                </a:lnTo>
                <a:cubicBezTo>
                  <a:pt x="5623269" y="0"/>
                  <a:pt x="5655164" y="31896"/>
                  <a:pt x="5655164" y="71241"/>
                </a:cubicBezTo>
                <a:lnTo>
                  <a:pt x="5655164" y="1148849"/>
                </a:lnTo>
                <a:cubicBezTo>
                  <a:pt x="5655164" y="1188195"/>
                  <a:pt x="5623269" y="1220091"/>
                  <a:pt x="5583923" y="1220091"/>
                </a:cubicBezTo>
                <a:lnTo>
                  <a:pt x="71241" y="1220091"/>
                </a:lnTo>
                <a:cubicBezTo>
                  <a:pt x="31896" y="1220091"/>
                  <a:pt x="0" y="1188195"/>
                  <a:pt x="0" y="1148849"/>
                </a:cubicBezTo>
                <a:lnTo>
                  <a:pt x="0" y="71241"/>
                </a:lnTo>
                <a:cubicBezTo>
                  <a:pt x="0" y="31896"/>
                  <a:pt x="31896" y="0"/>
                  <a:pt x="7124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18088" y="5779845"/>
            <a:ext cx="5423614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Преимущества подхода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8126" y="6047018"/>
            <a:ext cx="93511" cy="106869"/>
          </a:xfrm>
          <a:custGeom>
            <a:avLst/>
            <a:gdLst/>
            <a:ahLst/>
            <a:cxnLst/>
            <a:rect l="l" t="t" r="r" b="b"/>
            <a:pathLst>
              <a:path w="93511" h="106869">
                <a:moveTo>
                  <a:pt x="90755" y="14632"/>
                </a:moveTo>
                <a:cubicBezTo>
                  <a:pt x="93740" y="16803"/>
                  <a:pt x="94408" y="20977"/>
                  <a:pt x="92237" y="23962"/>
                </a:cubicBezTo>
                <a:lnTo>
                  <a:pt x="38803" y="97435"/>
                </a:lnTo>
                <a:cubicBezTo>
                  <a:pt x="37655" y="99021"/>
                  <a:pt x="35881" y="100002"/>
                  <a:pt x="33918" y="100169"/>
                </a:cubicBezTo>
                <a:cubicBezTo>
                  <a:pt x="31956" y="100336"/>
                  <a:pt x="30057" y="99605"/>
                  <a:pt x="28679" y="98228"/>
                </a:cubicBezTo>
                <a:lnTo>
                  <a:pt x="1962" y="71511"/>
                </a:lnTo>
                <a:cubicBezTo>
                  <a:pt x="-647" y="68901"/>
                  <a:pt x="-647" y="64664"/>
                  <a:pt x="1962" y="62055"/>
                </a:cubicBezTo>
                <a:cubicBezTo>
                  <a:pt x="4571" y="59446"/>
                  <a:pt x="8808" y="59446"/>
                  <a:pt x="11417" y="62055"/>
                </a:cubicBezTo>
                <a:lnTo>
                  <a:pt x="32603" y="83241"/>
                </a:lnTo>
                <a:lnTo>
                  <a:pt x="81446" y="16093"/>
                </a:lnTo>
                <a:cubicBezTo>
                  <a:pt x="83617" y="13108"/>
                  <a:pt x="87791" y="12440"/>
                  <a:pt x="90776" y="1461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6522920" y="6029207"/>
            <a:ext cx="3063585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Относительные координаты — независимость от разрешения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38126" y="6225134"/>
            <a:ext cx="93511" cy="106869"/>
          </a:xfrm>
          <a:custGeom>
            <a:avLst/>
            <a:gdLst/>
            <a:ahLst/>
            <a:cxnLst/>
            <a:rect l="l" t="t" r="r" b="b"/>
            <a:pathLst>
              <a:path w="93511" h="106869">
                <a:moveTo>
                  <a:pt x="90755" y="14632"/>
                </a:moveTo>
                <a:cubicBezTo>
                  <a:pt x="93740" y="16803"/>
                  <a:pt x="94408" y="20977"/>
                  <a:pt x="92237" y="23962"/>
                </a:cubicBezTo>
                <a:lnTo>
                  <a:pt x="38803" y="97435"/>
                </a:lnTo>
                <a:cubicBezTo>
                  <a:pt x="37655" y="99021"/>
                  <a:pt x="35881" y="100002"/>
                  <a:pt x="33918" y="100169"/>
                </a:cubicBezTo>
                <a:cubicBezTo>
                  <a:pt x="31956" y="100336"/>
                  <a:pt x="30057" y="99605"/>
                  <a:pt x="28679" y="98228"/>
                </a:cubicBezTo>
                <a:lnTo>
                  <a:pt x="1962" y="71511"/>
                </a:lnTo>
                <a:cubicBezTo>
                  <a:pt x="-647" y="68901"/>
                  <a:pt x="-647" y="64664"/>
                  <a:pt x="1962" y="62055"/>
                </a:cubicBezTo>
                <a:cubicBezTo>
                  <a:pt x="4571" y="59446"/>
                  <a:pt x="8808" y="59446"/>
                  <a:pt x="11417" y="62055"/>
                </a:cubicBezTo>
                <a:lnTo>
                  <a:pt x="32603" y="83241"/>
                </a:lnTo>
                <a:lnTo>
                  <a:pt x="81446" y="16093"/>
                </a:lnTo>
                <a:cubicBezTo>
                  <a:pt x="83617" y="13108"/>
                  <a:pt x="87791" y="12440"/>
                  <a:pt x="90776" y="1461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8" name="Text 56"/>
          <p:cNvSpPr/>
          <p:nvPr/>
        </p:nvSpPr>
        <p:spPr>
          <a:xfrm>
            <a:off x="6522920" y="6207322"/>
            <a:ext cx="2707354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Каждая зона — отдельный промпт с якорной таблицей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38126" y="6403249"/>
            <a:ext cx="93511" cy="106869"/>
          </a:xfrm>
          <a:custGeom>
            <a:avLst/>
            <a:gdLst/>
            <a:ahLst/>
            <a:cxnLst/>
            <a:rect l="l" t="t" r="r" b="b"/>
            <a:pathLst>
              <a:path w="93511" h="106869">
                <a:moveTo>
                  <a:pt x="90755" y="14632"/>
                </a:moveTo>
                <a:cubicBezTo>
                  <a:pt x="93740" y="16803"/>
                  <a:pt x="94408" y="20977"/>
                  <a:pt x="92237" y="23962"/>
                </a:cubicBezTo>
                <a:lnTo>
                  <a:pt x="38803" y="97435"/>
                </a:lnTo>
                <a:cubicBezTo>
                  <a:pt x="37655" y="99021"/>
                  <a:pt x="35881" y="100002"/>
                  <a:pt x="33918" y="100169"/>
                </a:cubicBezTo>
                <a:cubicBezTo>
                  <a:pt x="31956" y="100336"/>
                  <a:pt x="30057" y="99605"/>
                  <a:pt x="28679" y="98228"/>
                </a:cubicBezTo>
                <a:lnTo>
                  <a:pt x="1962" y="71511"/>
                </a:lnTo>
                <a:cubicBezTo>
                  <a:pt x="-647" y="68901"/>
                  <a:pt x="-647" y="64664"/>
                  <a:pt x="1962" y="62055"/>
                </a:cubicBezTo>
                <a:cubicBezTo>
                  <a:pt x="4571" y="59446"/>
                  <a:pt x="8808" y="59446"/>
                  <a:pt x="11417" y="62055"/>
                </a:cubicBezTo>
                <a:lnTo>
                  <a:pt x="32603" y="83241"/>
                </a:lnTo>
                <a:lnTo>
                  <a:pt x="81446" y="16093"/>
                </a:lnTo>
                <a:cubicBezTo>
                  <a:pt x="83617" y="13108"/>
                  <a:pt x="87791" y="12440"/>
                  <a:pt x="90776" y="1461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0" name="Text 58"/>
          <p:cNvSpPr/>
          <p:nvPr/>
        </p:nvSpPr>
        <p:spPr>
          <a:xfrm>
            <a:off x="6522920" y="6385438"/>
            <a:ext cx="2092856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Параллельная обработка (max 2 запроса)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38126" y="6581364"/>
            <a:ext cx="93511" cy="106869"/>
          </a:xfrm>
          <a:custGeom>
            <a:avLst/>
            <a:gdLst/>
            <a:ahLst/>
            <a:cxnLst/>
            <a:rect l="l" t="t" r="r" b="b"/>
            <a:pathLst>
              <a:path w="93511" h="106869">
                <a:moveTo>
                  <a:pt x="90755" y="14632"/>
                </a:moveTo>
                <a:cubicBezTo>
                  <a:pt x="93740" y="16803"/>
                  <a:pt x="94408" y="20977"/>
                  <a:pt x="92237" y="23962"/>
                </a:cubicBezTo>
                <a:lnTo>
                  <a:pt x="38803" y="97435"/>
                </a:lnTo>
                <a:cubicBezTo>
                  <a:pt x="37655" y="99021"/>
                  <a:pt x="35881" y="100002"/>
                  <a:pt x="33918" y="100169"/>
                </a:cubicBezTo>
                <a:cubicBezTo>
                  <a:pt x="31956" y="100336"/>
                  <a:pt x="30057" y="99605"/>
                  <a:pt x="28679" y="98228"/>
                </a:cubicBezTo>
                <a:lnTo>
                  <a:pt x="1962" y="71511"/>
                </a:lnTo>
                <a:cubicBezTo>
                  <a:pt x="-647" y="68901"/>
                  <a:pt x="-647" y="64664"/>
                  <a:pt x="1962" y="62055"/>
                </a:cubicBezTo>
                <a:cubicBezTo>
                  <a:pt x="4571" y="59446"/>
                  <a:pt x="8808" y="59446"/>
                  <a:pt x="11417" y="62055"/>
                </a:cubicBezTo>
                <a:lnTo>
                  <a:pt x="32603" y="83241"/>
                </a:lnTo>
                <a:lnTo>
                  <a:pt x="81446" y="16093"/>
                </a:lnTo>
                <a:cubicBezTo>
                  <a:pt x="83617" y="13108"/>
                  <a:pt x="87791" y="12440"/>
                  <a:pt x="90776" y="1461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6522920" y="6563553"/>
            <a:ext cx="2217537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Residual-анализ для упущенных параметров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171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 Pipeline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Полный цикл обработки видео от захвата до доставки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8534400" cy="5210175"/>
          </a:xfrm>
          <a:custGeom>
            <a:avLst/>
            <a:gdLst/>
            <a:ahLst/>
            <a:cxnLst/>
            <a:rect l="l" t="t" r="r" b="b"/>
            <a:pathLst>
              <a:path w="8534400" h="5210175">
                <a:moveTo>
                  <a:pt x="76225" y="0"/>
                </a:moveTo>
                <a:lnTo>
                  <a:pt x="8458175" y="0"/>
                </a:lnTo>
                <a:cubicBezTo>
                  <a:pt x="8500273" y="0"/>
                  <a:pt x="8534400" y="34127"/>
                  <a:pt x="8534400" y="76225"/>
                </a:cubicBezTo>
                <a:lnTo>
                  <a:pt x="8534400" y="5133950"/>
                </a:lnTo>
                <a:cubicBezTo>
                  <a:pt x="8534400" y="5176048"/>
                  <a:pt x="8500273" y="5210175"/>
                  <a:pt x="8458175" y="5210175"/>
                </a:cubicBezTo>
                <a:lnTo>
                  <a:pt x="76225" y="5210175"/>
                </a:lnTo>
                <a:cubicBezTo>
                  <a:pt x="34127" y="5210175"/>
                  <a:pt x="0" y="5176048"/>
                  <a:pt x="0" y="5133950"/>
                </a:cubicBezTo>
                <a:lnTo>
                  <a:pt x="0" y="76225"/>
                </a:lnTo>
                <a:cubicBezTo>
                  <a:pt x="0" y="34155"/>
                  <a:pt x="34155" y="0"/>
                  <a:pt x="7622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419225"/>
            <a:ext cx="830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Этапы обработки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7688" y="1804988"/>
            <a:ext cx="4048125" cy="1304925"/>
          </a:xfrm>
          <a:custGeom>
            <a:avLst/>
            <a:gdLst/>
            <a:ahLst/>
            <a:cxnLst/>
            <a:rect l="l" t="t" r="r" b="b"/>
            <a:pathLst>
              <a:path w="4048125" h="1304925">
                <a:moveTo>
                  <a:pt x="76195" y="0"/>
                </a:moveTo>
                <a:lnTo>
                  <a:pt x="3971930" y="0"/>
                </a:lnTo>
                <a:cubicBezTo>
                  <a:pt x="4013983" y="0"/>
                  <a:pt x="4048125" y="34142"/>
                  <a:pt x="4048125" y="76195"/>
                </a:cubicBezTo>
                <a:lnTo>
                  <a:pt x="4048125" y="1228730"/>
                </a:lnTo>
                <a:cubicBezTo>
                  <a:pt x="4048125" y="1270783"/>
                  <a:pt x="4013983" y="1304925"/>
                  <a:pt x="39719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750" y="19240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180" y="1981200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9650" y="196215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Извлечение кадров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6750" y="2266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Интервал: 500мс (configurable)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750" y="2457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Timestamps: .001, .501, 1.001...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6750" y="2647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Точное позиционирование (cv2)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6750" y="2838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Опциональный CLAHE-контраст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14875" y="1804988"/>
            <a:ext cx="4048125" cy="1304925"/>
          </a:xfrm>
          <a:custGeom>
            <a:avLst/>
            <a:gdLst/>
            <a:ahLst/>
            <a:cxnLst/>
            <a:rect l="l" t="t" r="r" b="b"/>
            <a:pathLst>
              <a:path w="4048125" h="1304925">
                <a:moveTo>
                  <a:pt x="76195" y="0"/>
                </a:moveTo>
                <a:lnTo>
                  <a:pt x="3971930" y="0"/>
                </a:lnTo>
                <a:cubicBezTo>
                  <a:pt x="4013983" y="0"/>
                  <a:pt x="4048125" y="34142"/>
                  <a:pt x="4048125" y="76195"/>
                </a:cubicBezTo>
                <a:lnTo>
                  <a:pt x="4048125" y="1228730"/>
                </a:lnTo>
                <a:cubicBezTo>
                  <a:pt x="4048125" y="1270783"/>
                  <a:pt x="4013983" y="1304925"/>
                  <a:pt x="39719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3938" y="19240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3950" y="19812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76838" y="196215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VLM-анализ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33938" y="2266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Сегментация на 4 зоны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33938" y="2457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Параллельные запросы (semaphore)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33938" y="2647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Пропуск похожих кадров (SSIM)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33938" y="2838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Экспоненциальный backoff (3 попытки)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7688" y="3233738"/>
            <a:ext cx="4048125" cy="1304925"/>
          </a:xfrm>
          <a:custGeom>
            <a:avLst/>
            <a:gdLst/>
            <a:ahLst/>
            <a:cxnLst/>
            <a:rect l="l" t="t" r="r" b="b"/>
            <a:pathLst>
              <a:path w="4048125" h="1304925">
                <a:moveTo>
                  <a:pt x="76195" y="0"/>
                </a:moveTo>
                <a:lnTo>
                  <a:pt x="3971930" y="0"/>
                </a:lnTo>
                <a:cubicBezTo>
                  <a:pt x="4013983" y="0"/>
                  <a:pt x="4048125" y="34142"/>
                  <a:pt x="4048125" y="76195"/>
                </a:cubicBezTo>
                <a:lnTo>
                  <a:pt x="4048125" y="1228730"/>
                </a:lnTo>
                <a:cubicBezTo>
                  <a:pt x="4048125" y="1270783"/>
                  <a:pt x="4013983" y="1304925"/>
                  <a:pt x="39719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750" y="33528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66316" y="34099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9650" y="33909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Нормализация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6750" y="36957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Запятая → точка в значениях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6750" y="38862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Валидация физических диапазонов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6750" y="40767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Удаление единиц измерения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6750" y="42672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Confidence clamp [0.0, 1.0]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14875" y="3233738"/>
            <a:ext cx="4048125" cy="1304925"/>
          </a:xfrm>
          <a:custGeom>
            <a:avLst/>
            <a:gdLst/>
            <a:ahLst/>
            <a:cxnLst/>
            <a:rect l="l" t="t" r="r" b="b"/>
            <a:pathLst>
              <a:path w="4048125" h="1304925">
                <a:moveTo>
                  <a:pt x="76195" y="0"/>
                </a:moveTo>
                <a:lnTo>
                  <a:pt x="3971930" y="0"/>
                </a:lnTo>
                <a:cubicBezTo>
                  <a:pt x="4013983" y="0"/>
                  <a:pt x="4048125" y="34142"/>
                  <a:pt x="4048125" y="76195"/>
                </a:cubicBezTo>
                <a:lnTo>
                  <a:pt x="4048125" y="1228730"/>
                </a:lnTo>
                <a:cubicBezTo>
                  <a:pt x="4048125" y="1270783"/>
                  <a:pt x="4013983" y="1304925"/>
                  <a:pt x="39719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33938" y="33528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33504" y="34099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76838" y="339090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Темпоральное сглаживание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33938" y="36957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Медианный фильтр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33938" y="38862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Детекция аномалий (&gt;50%)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33938" y="40767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Fuzzy matching лейблов (80%)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33938" y="42672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Назначение стабильных param_id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7688" y="4662488"/>
            <a:ext cx="4048125" cy="1304925"/>
          </a:xfrm>
          <a:custGeom>
            <a:avLst/>
            <a:gdLst/>
            <a:ahLst/>
            <a:cxnLst/>
            <a:rect l="l" t="t" r="r" b="b"/>
            <a:pathLst>
              <a:path w="4048125" h="1304925">
                <a:moveTo>
                  <a:pt x="76195" y="0"/>
                </a:moveTo>
                <a:lnTo>
                  <a:pt x="3971930" y="0"/>
                </a:lnTo>
                <a:cubicBezTo>
                  <a:pt x="4013983" y="0"/>
                  <a:pt x="4048125" y="34142"/>
                  <a:pt x="4048125" y="76195"/>
                </a:cubicBezTo>
                <a:lnTo>
                  <a:pt x="4048125" y="1228730"/>
                </a:lnTo>
                <a:cubicBezTo>
                  <a:pt x="4048125" y="1270783"/>
                  <a:pt x="4013983" y="1304925"/>
                  <a:pt x="39719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6750" y="47815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67060" y="48387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9650" y="48196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XML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6750" y="5124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Формат (спецификация)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6750" y="5314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Снапшоты каждые 500мс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6750" y="5505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Интерполяция промежуточных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6750" y="5695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Pydantic-валидация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714875" y="4662488"/>
            <a:ext cx="4048125" cy="1304925"/>
          </a:xfrm>
          <a:custGeom>
            <a:avLst/>
            <a:gdLst/>
            <a:ahLst/>
            <a:cxnLst/>
            <a:rect l="l" t="t" r="r" b="b"/>
            <a:pathLst>
              <a:path w="4048125" h="1304925">
                <a:moveTo>
                  <a:pt x="76195" y="0"/>
                </a:moveTo>
                <a:lnTo>
                  <a:pt x="3971930" y="0"/>
                </a:lnTo>
                <a:cubicBezTo>
                  <a:pt x="4013983" y="0"/>
                  <a:pt x="4048125" y="34142"/>
                  <a:pt x="4048125" y="76195"/>
                </a:cubicBezTo>
                <a:lnTo>
                  <a:pt x="4048125" y="1228730"/>
                </a:lnTo>
                <a:cubicBezTo>
                  <a:pt x="4048125" y="1270783"/>
                  <a:pt x="4013983" y="1304925"/>
                  <a:pt x="39719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33938" y="47815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933057" y="48387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76838" y="481965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Шифрование &amp; Отправка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833938" y="5124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GPG (AES256 + RSA 4096)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833938" y="5314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ASCII-armored вывод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33938" y="55054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SMTP отправка (Mailpit)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833938" y="5695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MIMEMultipart с вложением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43988" y="1262063"/>
            <a:ext cx="2762250" cy="2428875"/>
          </a:xfrm>
          <a:custGeom>
            <a:avLst/>
            <a:gdLst/>
            <a:ahLst/>
            <a:cxnLst/>
            <a:rect l="l" t="t" r="r" b="b"/>
            <a:pathLst>
              <a:path w="2762250" h="2428875">
                <a:moveTo>
                  <a:pt x="76194" y="0"/>
                </a:moveTo>
                <a:lnTo>
                  <a:pt x="2686056" y="0"/>
                </a:lnTo>
                <a:cubicBezTo>
                  <a:pt x="2728137" y="0"/>
                  <a:pt x="2762250" y="34113"/>
                  <a:pt x="2762250" y="76194"/>
                </a:cubicBezTo>
                <a:lnTo>
                  <a:pt x="2762250" y="2352681"/>
                </a:lnTo>
                <a:cubicBezTo>
                  <a:pt x="2762250" y="2394762"/>
                  <a:pt x="2728137" y="2428875"/>
                  <a:pt x="2686056" y="2428875"/>
                </a:cubicBezTo>
                <a:lnTo>
                  <a:pt x="76194" y="2428875"/>
                </a:lnTo>
                <a:cubicBezTo>
                  <a:pt x="34113" y="2428875"/>
                  <a:pt x="0" y="2394762"/>
                  <a:pt x="0" y="23526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01150" y="1419225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Производительность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201150" y="1685925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 на кадр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201150" y="1876425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6-18с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201150" y="2143125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зонных запроса × 3-5с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201150" y="2376488"/>
            <a:ext cx="2447925" cy="9525"/>
          </a:xfrm>
          <a:custGeom>
            <a:avLst/>
            <a:gdLst/>
            <a:ahLst/>
            <a:cxnLst/>
            <a:rect l="l" t="t" r="r" b="b"/>
            <a:pathLst>
              <a:path w="2447925" h="9525">
                <a:moveTo>
                  <a:pt x="0" y="0"/>
                </a:moveTo>
                <a:lnTo>
                  <a:pt x="2447925" y="0"/>
                </a:lnTo>
                <a:lnTo>
                  <a:pt x="2447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61" name="Text 59"/>
          <p:cNvSpPr/>
          <p:nvPr/>
        </p:nvSpPr>
        <p:spPr>
          <a:xfrm>
            <a:off x="9201150" y="2457450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Полное видео (365с)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201150" y="264795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~10-30 мин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01150" y="2995613"/>
            <a:ext cx="2447925" cy="9525"/>
          </a:xfrm>
          <a:custGeom>
            <a:avLst/>
            <a:gdLst/>
            <a:ahLst/>
            <a:cxnLst/>
            <a:rect l="l" t="t" r="r" b="b"/>
            <a:pathLst>
              <a:path w="2447925" h="9525">
                <a:moveTo>
                  <a:pt x="0" y="0"/>
                </a:moveTo>
                <a:lnTo>
                  <a:pt x="2447925" y="0"/>
                </a:lnTo>
                <a:lnTo>
                  <a:pt x="2447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64" name="Text 62"/>
          <p:cNvSpPr/>
          <p:nvPr/>
        </p:nvSpPr>
        <p:spPr>
          <a:xfrm>
            <a:off x="9201150" y="3076575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Память GPU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201150" y="3267075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8GB VRAM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43988" y="3814763"/>
            <a:ext cx="2762250" cy="1685925"/>
          </a:xfrm>
          <a:custGeom>
            <a:avLst/>
            <a:gdLst/>
            <a:ahLst/>
            <a:cxnLst/>
            <a:rect l="l" t="t" r="r" b="b"/>
            <a:pathLst>
              <a:path w="2762250" h="1685925">
                <a:moveTo>
                  <a:pt x="76204" y="0"/>
                </a:moveTo>
                <a:lnTo>
                  <a:pt x="2686046" y="0"/>
                </a:lnTo>
                <a:cubicBezTo>
                  <a:pt x="2728132" y="0"/>
                  <a:pt x="2762250" y="34118"/>
                  <a:pt x="2762250" y="76204"/>
                </a:cubicBezTo>
                <a:lnTo>
                  <a:pt x="2762250" y="1609721"/>
                </a:lnTo>
                <a:cubicBezTo>
                  <a:pt x="2762250" y="1651807"/>
                  <a:pt x="2728132" y="1685925"/>
                  <a:pt x="2686046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01150" y="3971925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Оптимизации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215438" y="4257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9" name="Text 67"/>
          <p:cNvSpPr/>
          <p:nvPr/>
        </p:nvSpPr>
        <p:spPr>
          <a:xfrm>
            <a:off x="9420225" y="4238625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Пропуск похожих кадров (SSIM &gt; 0.95)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215438" y="4486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1" name="Text 69"/>
          <p:cNvSpPr/>
          <p:nvPr/>
        </p:nvSpPr>
        <p:spPr>
          <a:xfrm>
            <a:off x="9420225" y="4467225"/>
            <a:ext cx="213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Ограничение разрешения (max 1600px)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215438" y="47148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3" name="Text 71"/>
          <p:cNvSpPr/>
          <p:nvPr/>
        </p:nvSpPr>
        <p:spPr>
          <a:xfrm>
            <a:off x="9420225" y="4695825"/>
            <a:ext cx="140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LANCZOS4 интерполяция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215438" y="49434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5" name="Text 73"/>
          <p:cNvSpPr/>
          <p:nvPr/>
        </p:nvSpPr>
        <p:spPr>
          <a:xfrm>
            <a:off x="9420225" y="4924425"/>
            <a:ext cx="1209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уровней JSON repair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215438" y="5172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7" name="Text 75"/>
          <p:cNvSpPr/>
          <p:nvPr/>
        </p:nvSpPr>
        <p:spPr>
          <a:xfrm>
            <a:off x="9420225" y="5153025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Экспоненциальный backoff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43988" y="5624513"/>
            <a:ext cx="2762250" cy="847725"/>
          </a:xfrm>
          <a:custGeom>
            <a:avLst/>
            <a:gdLst/>
            <a:ahLst/>
            <a:cxnLst/>
            <a:rect l="l" t="t" r="r" b="b"/>
            <a:pathLst>
              <a:path w="2762250" h="847725">
                <a:moveTo>
                  <a:pt x="76202" y="0"/>
                </a:moveTo>
                <a:lnTo>
                  <a:pt x="2686048" y="0"/>
                </a:lnTo>
                <a:cubicBezTo>
                  <a:pt x="2728105" y="0"/>
                  <a:pt x="2762250" y="34145"/>
                  <a:pt x="2762250" y="76202"/>
                </a:cubicBezTo>
                <a:lnTo>
                  <a:pt x="2762250" y="771523"/>
                </a:lnTo>
                <a:cubicBezTo>
                  <a:pt x="2762250" y="813580"/>
                  <a:pt x="2728105" y="847725"/>
                  <a:pt x="26860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63050" y="5743575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163050" y="60102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Реалтайм обновления прогресса обработки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163050" y="62007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ws://localhost:8000/ws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116" y="395028"/>
            <a:ext cx="71823" cy="287293"/>
          </a:xfrm>
          <a:custGeom>
            <a:avLst/>
            <a:gdLst/>
            <a:ahLst/>
            <a:cxnLst/>
            <a:rect l="l" t="t" r="r" b="b"/>
            <a:pathLst>
              <a:path w="71823" h="287293">
                <a:moveTo>
                  <a:pt x="35912" y="0"/>
                </a:moveTo>
                <a:lnTo>
                  <a:pt x="35912" y="0"/>
                </a:lnTo>
                <a:cubicBezTo>
                  <a:pt x="55745" y="0"/>
                  <a:pt x="71823" y="16078"/>
                  <a:pt x="71823" y="35912"/>
                </a:cubicBezTo>
                <a:lnTo>
                  <a:pt x="71823" y="251381"/>
                </a:lnTo>
                <a:cubicBezTo>
                  <a:pt x="71823" y="271215"/>
                  <a:pt x="55745" y="287293"/>
                  <a:pt x="35912" y="287293"/>
                </a:cubicBezTo>
                <a:lnTo>
                  <a:pt x="35912" y="287293"/>
                </a:lnTo>
                <a:cubicBezTo>
                  <a:pt x="16078" y="287293"/>
                  <a:pt x="0" y="271215"/>
                  <a:pt x="0" y="25138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38675" y="359116"/>
            <a:ext cx="3465473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Технологический стек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8675" y="790056"/>
            <a:ext cx="1137501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Современные технологии для надёжного и масштабируемого решения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605" y="1189573"/>
            <a:ext cx="3716854" cy="3492406"/>
          </a:xfrm>
          <a:custGeom>
            <a:avLst/>
            <a:gdLst/>
            <a:ahLst/>
            <a:cxnLst/>
            <a:rect l="l" t="t" r="r" b="b"/>
            <a:pathLst>
              <a:path w="3716854" h="3492406">
                <a:moveTo>
                  <a:pt x="71839" y="0"/>
                </a:moveTo>
                <a:lnTo>
                  <a:pt x="3645015" y="0"/>
                </a:lnTo>
                <a:cubicBezTo>
                  <a:pt x="3684691" y="0"/>
                  <a:pt x="3716854" y="32163"/>
                  <a:pt x="3716854" y="71839"/>
                </a:cubicBezTo>
                <a:lnTo>
                  <a:pt x="3716854" y="3420568"/>
                </a:lnTo>
                <a:cubicBezTo>
                  <a:pt x="3716854" y="3460243"/>
                  <a:pt x="3684691" y="3492406"/>
                  <a:pt x="3645015" y="3492406"/>
                </a:cubicBezTo>
                <a:lnTo>
                  <a:pt x="71839" y="3492406"/>
                </a:lnTo>
                <a:cubicBezTo>
                  <a:pt x="32163" y="3492406"/>
                  <a:pt x="0" y="3460243"/>
                  <a:pt x="0" y="3420568"/>
                </a:cubicBezTo>
                <a:lnTo>
                  <a:pt x="0" y="71839"/>
                </a:lnTo>
                <a:cubicBezTo>
                  <a:pt x="0" y="32163"/>
                  <a:pt x="32163" y="0"/>
                  <a:pt x="7183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741" y="1337708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2742" y="1427487"/>
            <a:ext cx="157113" cy="179558"/>
          </a:xfrm>
          <a:custGeom>
            <a:avLst/>
            <a:gdLst/>
            <a:ahLst/>
            <a:cxnLst/>
            <a:rect l="l" t="t" r="r" b="b"/>
            <a:pathLst>
              <a:path w="157113" h="179558">
                <a:moveTo>
                  <a:pt x="22445" y="11222"/>
                </a:moveTo>
                <a:cubicBezTo>
                  <a:pt x="10065" y="11222"/>
                  <a:pt x="0" y="21287"/>
                  <a:pt x="0" y="33667"/>
                </a:cubicBezTo>
                <a:lnTo>
                  <a:pt x="0" y="56112"/>
                </a:lnTo>
                <a:cubicBezTo>
                  <a:pt x="0" y="68492"/>
                  <a:pt x="10065" y="78557"/>
                  <a:pt x="22445" y="78557"/>
                </a:cubicBezTo>
                <a:lnTo>
                  <a:pt x="134669" y="78557"/>
                </a:lnTo>
                <a:cubicBezTo>
                  <a:pt x="147048" y="78557"/>
                  <a:pt x="157113" y="68492"/>
                  <a:pt x="157113" y="56112"/>
                </a:cubicBezTo>
                <a:lnTo>
                  <a:pt x="157113" y="33667"/>
                </a:lnTo>
                <a:cubicBezTo>
                  <a:pt x="157113" y="21287"/>
                  <a:pt x="147048" y="11222"/>
                  <a:pt x="134669" y="11222"/>
                </a:cubicBezTo>
                <a:lnTo>
                  <a:pt x="22445" y="11222"/>
                </a:lnTo>
                <a:close/>
                <a:moveTo>
                  <a:pt x="98196" y="36473"/>
                </a:moveTo>
                <a:cubicBezTo>
                  <a:pt x="102841" y="36473"/>
                  <a:pt x="106613" y="40244"/>
                  <a:pt x="106613" y="44890"/>
                </a:cubicBezTo>
                <a:cubicBezTo>
                  <a:pt x="106613" y="49535"/>
                  <a:pt x="102841" y="53306"/>
                  <a:pt x="98196" y="53306"/>
                </a:cubicBezTo>
                <a:cubicBezTo>
                  <a:pt x="93551" y="53306"/>
                  <a:pt x="89779" y="49535"/>
                  <a:pt x="89779" y="44890"/>
                </a:cubicBezTo>
                <a:cubicBezTo>
                  <a:pt x="89779" y="40244"/>
                  <a:pt x="93551" y="36473"/>
                  <a:pt x="98196" y="36473"/>
                </a:cubicBezTo>
                <a:close/>
                <a:moveTo>
                  <a:pt x="117835" y="44890"/>
                </a:moveTo>
                <a:cubicBezTo>
                  <a:pt x="117835" y="40244"/>
                  <a:pt x="121606" y="36473"/>
                  <a:pt x="126252" y="36473"/>
                </a:cubicBezTo>
                <a:cubicBezTo>
                  <a:pt x="130897" y="36473"/>
                  <a:pt x="134669" y="40244"/>
                  <a:pt x="134669" y="44890"/>
                </a:cubicBezTo>
                <a:cubicBezTo>
                  <a:pt x="134669" y="49535"/>
                  <a:pt x="130897" y="53306"/>
                  <a:pt x="126252" y="53306"/>
                </a:cubicBezTo>
                <a:cubicBezTo>
                  <a:pt x="121606" y="53306"/>
                  <a:pt x="117835" y="49535"/>
                  <a:pt x="117835" y="44890"/>
                </a:cubicBezTo>
                <a:close/>
                <a:moveTo>
                  <a:pt x="22445" y="101001"/>
                </a:moveTo>
                <a:cubicBezTo>
                  <a:pt x="10065" y="101001"/>
                  <a:pt x="0" y="111067"/>
                  <a:pt x="0" y="123446"/>
                </a:cubicBezTo>
                <a:lnTo>
                  <a:pt x="0" y="145891"/>
                </a:lnTo>
                <a:cubicBezTo>
                  <a:pt x="0" y="158271"/>
                  <a:pt x="10065" y="168336"/>
                  <a:pt x="22445" y="168336"/>
                </a:cubicBezTo>
                <a:lnTo>
                  <a:pt x="134669" y="168336"/>
                </a:lnTo>
                <a:cubicBezTo>
                  <a:pt x="147048" y="168336"/>
                  <a:pt x="157113" y="158271"/>
                  <a:pt x="157113" y="145891"/>
                </a:cubicBezTo>
                <a:lnTo>
                  <a:pt x="157113" y="123446"/>
                </a:lnTo>
                <a:cubicBezTo>
                  <a:pt x="157113" y="111067"/>
                  <a:pt x="147048" y="101001"/>
                  <a:pt x="134669" y="101001"/>
                </a:cubicBezTo>
                <a:lnTo>
                  <a:pt x="22445" y="101001"/>
                </a:lnTo>
                <a:close/>
                <a:moveTo>
                  <a:pt x="98196" y="126252"/>
                </a:moveTo>
                <a:cubicBezTo>
                  <a:pt x="102841" y="126252"/>
                  <a:pt x="106613" y="130023"/>
                  <a:pt x="106613" y="134669"/>
                </a:cubicBezTo>
                <a:cubicBezTo>
                  <a:pt x="106613" y="139314"/>
                  <a:pt x="102841" y="143085"/>
                  <a:pt x="98196" y="143085"/>
                </a:cubicBezTo>
                <a:cubicBezTo>
                  <a:pt x="93551" y="143085"/>
                  <a:pt x="89779" y="139314"/>
                  <a:pt x="89779" y="134669"/>
                </a:cubicBezTo>
                <a:cubicBezTo>
                  <a:pt x="89779" y="130023"/>
                  <a:pt x="93551" y="126252"/>
                  <a:pt x="98196" y="126252"/>
                </a:cubicBezTo>
                <a:close/>
                <a:moveTo>
                  <a:pt x="117835" y="134669"/>
                </a:moveTo>
                <a:cubicBezTo>
                  <a:pt x="117835" y="130023"/>
                  <a:pt x="121606" y="126252"/>
                  <a:pt x="126252" y="126252"/>
                </a:cubicBezTo>
                <a:cubicBezTo>
                  <a:pt x="130897" y="126252"/>
                  <a:pt x="134669" y="130023"/>
                  <a:pt x="134669" y="134669"/>
                </a:cubicBezTo>
                <a:cubicBezTo>
                  <a:pt x="134669" y="139314"/>
                  <a:pt x="130897" y="143085"/>
                  <a:pt x="126252" y="143085"/>
                </a:cubicBezTo>
                <a:cubicBezTo>
                  <a:pt x="121606" y="143085"/>
                  <a:pt x="117835" y="139314"/>
                  <a:pt x="117835" y="13466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78592" y="1391576"/>
            <a:ext cx="61049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Бэкенд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6230" y="1809049"/>
            <a:ext cx="3411605" cy="727211"/>
          </a:xfrm>
          <a:custGeom>
            <a:avLst/>
            <a:gdLst/>
            <a:ahLst/>
            <a:cxnLst/>
            <a:rect l="l" t="t" r="r" b="b"/>
            <a:pathLst>
              <a:path w="3411605" h="727211">
                <a:moveTo>
                  <a:pt x="71827" y="0"/>
                </a:moveTo>
                <a:lnTo>
                  <a:pt x="3339779" y="0"/>
                </a:lnTo>
                <a:cubicBezTo>
                  <a:pt x="3379447" y="0"/>
                  <a:pt x="3411605" y="32158"/>
                  <a:pt x="3411605" y="71827"/>
                </a:cubicBezTo>
                <a:lnTo>
                  <a:pt x="3411605" y="655384"/>
                </a:lnTo>
                <a:cubicBezTo>
                  <a:pt x="3411605" y="695053"/>
                  <a:pt x="3379447" y="727211"/>
                  <a:pt x="3339779" y="727211"/>
                </a:cubicBezTo>
                <a:lnTo>
                  <a:pt x="71827" y="727211"/>
                </a:lnTo>
                <a:cubicBezTo>
                  <a:pt x="32158" y="727211"/>
                  <a:pt x="0" y="695053"/>
                  <a:pt x="0" y="655384"/>
                </a:cubicBezTo>
                <a:lnTo>
                  <a:pt x="0" y="71827"/>
                </a:lnTo>
                <a:cubicBezTo>
                  <a:pt x="0" y="32158"/>
                  <a:pt x="32158" y="0"/>
                  <a:pt x="71827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454" y="1921272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+ asyncio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8454" y="2136742"/>
            <a:ext cx="324102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3.12+, высокопроизводительный асинхронный веб-фреймворк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6230" y="2617060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454" y="2729284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Pydantic v2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454" y="2944754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Валидация данных, сериализация, настройки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6230" y="3281426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454" y="3393649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+ bcrypt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454" y="3609119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Аутентификация и авторизация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6230" y="3945791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454" y="4058015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454" y="4273485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Реалтайм обновления прогресса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6731" y="1189573"/>
            <a:ext cx="3716854" cy="3492406"/>
          </a:xfrm>
          <a:custGeom>
            <a:avLst/>
            <a:gdLst/>
            <a:ahLst/>
            <a:cxnLst/>
            <a:rect l="l" t="t" r="r" b="b"/>
            <a:pathLst>
              <a:path w="3716854" h="3492406">
                <a:moveTo>
                  <a:pt x="71839" y="0"/>
                </a:moveTo>
                <a:lnTo>
                  <a:pt x="3645015" y="0"/>
                </a:lnTo>
                <a:cubicBezTo>
                  <a:pt x="3684691" y="0"/>
                  <a:pt x="3716854" y="32163"/>
                  <a:pt x="3716854" y="71839"/>
                </a:cubicBezTo>
                <a:lnTo>
                  <a:pt x="3716854" y="3420568"/>
                </a:lnTo>
                <a:cubicBezTo>
                  <a:pt x="3716854" y="3460243"/>
                  <a:pt x="3684691" y="3492406"/>
                  <a:pt x="3645015" y="3492406"/>
                </a:cubicBezTo>
                <a:lnTo>
                  <a:pt x="71839" y="3492406"/>
                </a:lnTo>
                <a:cubicBezTo>
                  <a:pt x="32163" y="3492406"/>
                  <a:pt x="0" y="3460243"/>
                  <a:pt x="0" y="3420568"/>
                </a:cubicBezTo>
                <a:lnTo>
                  <a:pt x="0" y="71839"/>
                </a:lnTo>
                <a:cubicBezTo>
                  <a:pt x="0" y="32163"/>
                  <a:pt x="32163" y="0"/>
                  <a:pt x="7183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4867" y="1337708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74646" y="1427487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42084" y="19639"/>
                </a:moveTo>
                <a:cubicBezTo>
                  <a:pt x="42084" y="8803"/>
                  <a:pt x="50887" y="0"/>
                  <a:pt x="61723" y="0"/>
                </a:cubicBezTo>
                <a:lnTo>
                  <a:pt x="70140" y="0"/>
                </a:lnTo>
                <a:cubicBezTo>
                  <a:pt x="76347" y="0"/>
                  <a:pt x="81362" y="5015"/>
                  <a:pt x="81362" y="11222"/>
                </a:cubicBezTo>
                <a:lnTo>
                  <a:pt x="81362" y="168336"/>
                </a:lnTo>
                <a:cubicBezTo>
                  <a:pt x="81362" y="174543"/>
                  <a:pt x="76347" y="179558"/>
                  <a:pt x="70140" y="179558"/>
                </a:cubicBezTo>
                <a:lnTo>
                  <a:pt x="58918" y="179558"/>
                </a:lnTo>
                <a:cubicBezTo>
                  <a:pt x="48467" y="179558"/>
                  <a:pt x="39664" y="172404"/>
                  <a:pt x="37174" y="162725"/>
                </a:cubicBezTo>
                <a:cubicBezTo>
                  <a:pt x="36929" y="162725"/>
                  <a:pt x="36718" y="162725"/>
                  <a:pt x="36473" y="162725"/>
                </a:cubicBezTo>
                <a:cubicBezTo>
                  <a:pt x="20972" y="162725"/>
                  <a:pt x="8417" y="150170"/>
                  <a:pt x="8417" y="134669"/>
                </a:cubicBezTo>
                <a:cubicBezTo>
                  <a:pt x="8417" y="128356"/>
                  <a:pt x="10521" y="122534"/>
                  <a:pt x="14028" y="117835"/>
                </a:cubicBezTo>
                <a:cubicBezTo>
                  <a:pt x="7224" y="112715"/>
                  <a:pt x="2806" y="104579"/>
                  <a:pt x="2806" y="95390"/>
                </a:cubicBezTo>
                <a:cubicBezTo>
                  <a:pt x="2806" y="84554"/>
                  <a:pt x="8978" y="75120"/>
                  <a:pt x="17956" y="70456"/>
                </a:cubicBezTo>
                <a:cubicBezTo>
                  <a:pt x="15466" y="66247"/>
                  <a:pt x="14028" y="61337"/>
                  <a:pt x="14028" y="56112"/>
                </a:cubicBezTo>
                <a:cubicBezTo>
                  <a:pt x="14028" y="40611"/>
                  <a:pt x="26583" y="28056"/>
                  <a:pt x="42084" y="28056"/>
                </a:cubicBezTo>
                <a:lnTo>
                  <a:pt x="42084" y="19639"/>
                </a:lnTo>
                <a:close/>
                <a:moveTo>
                  <a:pt x="137474" y="19639"/>
                </a:moveTo>
                <a:lnTo>
                  <a:pt x="137474" y="28056"/>
                </a:lnTo>
                <a:cubicBezTo>
                  <a:pt x="152975" y="28056"/>
                  <a:pt x="165530" y="40611"/>
                  <a:pt x="165530" y="56112"/>
                </a:cubicBezTo>
                <a:cubicBezTo>
                  <a:pt x="165530" y="61372"/>
                  <a:pt x="164092" y="66282"/>
                  <a:pt x="161602" y="70456"/>
                </a:cubicBezTo>
                <a:cubicBezTo>
                  <a:pt x="170615" y="75120"/>
                  <a:pt x="176753" y="84519"/>
                  <a:pt x="176753" y="95390"/>
                </a:cubicBezTo>
                <a:cubicBezTo>
                  <a:pt x="176753" y="104579"/>
                  <a:pt x="172334" y="112715"/>
                  <a:pt x="165530" y="117835"/>
                </a:cubicBezTo>
                <a:cubicBezTo>
                  <a:pt x="169037" y="122534"/>
                  <a:pt x="171141" y="128356"/>
                  <a:pt x="171141" y="134669"/>
                </a:cubicBezTo>
                <a:cubicBezTo>
                  <a:pt x="171141" y="150170"/>
                  <a:pt x="158586" y="162725"/>
                  <a:pt x="143085" y="162725"/>
                </a:cubicBezTo>
                <a:cubicBezTo>
                  <a:pt x="142840" y="162725"/>
                  <a:pt x="142630" y="162725"/>
                  <a:pt x="142384" y="162725"/>
                </a:cubicBezTo>
                <a:cubicBezTo>
                  <a:pt x="139894" y="172404"/>
                  <a:pt x="131091" y="179558"/>
                  <a:pt x="120641" y="179558"/>
                </a:cubicBezTo>
                <a:lnTo>
                  <a:pt x="109418" y="179558"/>
                </a:lnTo>
                <a:cubicBezTo>
                  <a:pt x="103211" y="179558"/>
                  <a:pt x="98196" y="174543"/>
                  <a:pt x="98196" y="168336"/>
                </a:cubicBezTo>
                <a:lnTo>
                  <a:pt x="98196" y="11222"/>
                </a:lnTo>
                <a:cubicBezTo>
                  <a:pt x="98196" y="5015"/>
                  <a:pt x="103211" y="0"/>
                  <a:pt x="109418" y="0"/>
                </a:cubicBezTo>
                <a:lnTo>
                  <a:pt x="117835" y="0"/>
                </a:lnTo>
                <a:cubicBezTo>
                  <a:pt x="128672" y="0"/>
                  <a:pt x="137474" y="8803"/>
                  <a:pt x="137474" y="1963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51718" y="1391576"/>
            <a:ext cx="136464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 &amp; Инференс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9356" y="1809049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1580" y="1921272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Qwen3.5-4B-GGUF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1580" y="2136742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Квантизация Q4_K_M, ~2.5GB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9356" y="2473414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1580" y="2585638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llama.cpp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01580" y="2801108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Сервер инференса, OpenAI-compatible API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9356" y="3137779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1580" y="3250003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mmproj-F32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01580" y="3465473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projection, ~0.8GB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89356" y="3802144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1580" y="3914368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01580" y="4129838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 видео и изображений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09857" y="1189573"/>
            <a:ext cx="3716854" cy="3492406"/>
          </a:xfrm>
          <a:custGeom>
            <a:avLst/>
            <a:gdLst/>
            <a:ahLst/>
            <a:cxnLst/>
            <a:rect l="l" t="t" r="r" b="b"/>
            <a:pathLst>
              <a:path w="3716854" h="3492406">
                <a:moveTo>
                  <a:pt x="71839" y="0"/>
                </a:moveTo>
                <a:lnTo>
                  <a:pt x="3645015" y="0"/>
                </a:lnTo>
                <a:cubicBezTo>
                  <a:pt x="3684691" y="0"/>
                  <a:pt x="3716854" y="32163"/>
                  <a:pt x="3716854" y="71839"/>
                </a:cubicBezTo>
                <a:lnTo>
                  <a:pt x="3716854" y="3420568"/>
                </a:lnTo>
                <a:cubicBezTo>
                  <a:pt x="3716854" y="3460243"/>
                  <a:pt x="3684691" y="3492406"/>
                  <a:pt x="3645015" y="3492406"/>
                </a:cubicBezTo>
                <a:lnTo>
                  <a:pt x="71839" y="3492406"/>
                </a:lnTo>
                <a:cubicBezTo>
                  <a:pt x="32163" y="3492406"/>
                  <a:pt x="0" y="3460243"/>
                  <a:pt x="0" y="3420568"/>
                </a:cubicBezTo>
                <a:lnTo>
                  <a:pt x="0" y="71839"/>
                </a:lnTo>
                <a:cubicBezTo>
                  <a:pt x="0" y="32163"/>
                  <a:pt x="32163" y="0"/>
                  <a:pt x="7183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57993" y="1337708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347772" y="1427487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22445" y="11222"/>
                </a:moveTo>
                <a:cubicBezTo>
                  <a:pt x="10065" y="11222"/>
                  <a:pt x="0" y="21287"/>
                  <a:pt x="0" y="33667"/>
                </a:cubicBezTo>
                <a:lnTo>
                  <a:pt x="0" y="123446"/>
                </a:lnTo>
                <a:cubicBezTo>
                  <a:pt x="0" y="135826"/>
                  <a:pt x="10065" y="145891"/>
                  <a:pt x="22445" y="145891"/>
                </a:cubicBezTo>
                <a:lnTo>
                  <a:pt x="72946" y="145891"/>
                </a:lnTo>
                <a:lnTo>
                  <a:pt x="67334" y="162725"/>
                </a:lnTo>
                <a:lnTo>
                  <a:pt x="42084" y="162725"/>
                </a:lnTo>
                <a:cubicBezTo>
                  <a:pt x="37420" y="162725"/>
                  <a:pt x="33667" y="166477"/>
                  <a:pt x="33667" y="171141"/>
                </a:cubicBezTo>
                <a:cubicBezTo>
                  <a:pt x="33667" y="175806"/>
                  <a:pt x="37420" y="179558"/>
                  <a:pt x="42084" y="179558"/>
                </a:cubicBezTo>
                <a:lnTo>
                  <a:pt x="137474" y="179558"/>
                </a:lnTo>
                <a:cubicBezTo>
                  <a:pt x="142139" y="179558"/>
                  <a:pt x="145891" y="175806"/>
                  <a:pt x="145891" y="171141"/>
                </a:cubicBezTo>
                <a:cubicBezTo>
                  <a:pt x="145891" y="166477"/>
                  <a:pt x="142139" y="162725"/>
                  <a:pt x="137474" y="162725"/>
                </a:cubicBezTo>
                <a:lnTo>
                  <a:pt x="112224" y="162725"/>
                </a:lnTo>
                <a:lnTo>
                  <a:pt x="106613" y="145891"/>
                </a:lnTo>
                <a:lnTo>
                  <a:pt x="157113" y="145891"/>
                </a:lnTo>
                <a:cubicBezTo>
                  <a:pt x="169493" y="145891"/>
                  <a:pt x="179558" y="135826"/>
                  <a:pt x="179558" y="123446"/>
                </a:cubicBezTo>
                <a:lnTo>
                  <a:pt x="179558" y="33667"/>
                </a:lnTo>
                <a:cubicBezTo>
                  <a:pt x="179558" y="21287"/>
                  <a:pt x="169493" y="11222"/>
                  <a:pt x="157113" y="11222"/>
                </a:cubicBezTo>
                <a:lnTo>
                  <a:pt x="22445" y="11222"/>
                </a:lnTo>
                <a:close/>
                <a:moveTo>
                  <a:pt x="33667" y="33667"/>
                </a:moveTo>
                <a:lnTo>
                  <a:pt x="145891" y="33667"/>
                </a:lnTo>
                <a:cubicBezTo>
                  <a:pt x="152098" y="33667"/>
                  <a:pt x="157113" y="38682"/>
                  <a:pt x="157113" y="44890"/>
                </a:cubicBezTo>
                <a:lnTo>
                  <a:pt x="157113" y="101001"/>
                </a:lnTo>
                <a:cubicBezTo>
                  <a:pt x="157113" y="107209"/>
                  <a:pt x="152098" y="112224"/>
                  <a:pt x="145891" y="112224"/>
                </a:cubicBezTo>
                <a:lnTo>
                  <a:pt x="33667" y="112224"/>
                </a:lnTo>
                <a:cubicBezTo>
                  <a:pt x="27460" y="112224"/>
                  <a:pt x="22445" y="107209"/>
                  <a:pt x="22445" y="101001"/>
                </a:cubicBezTo>
                <a:lnTo>
                  <a:pt x="22445" y="44890"/>
                </a:lnTo>
                <a:cubicBezTo>
                  <a:pt x="22445" y="38682"/>
                  <a:pt x="27460" y="33667"/>
                  <a:pt x="33667" y="3366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8724844" y="1391576"/>
            <a:ext cx="83494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Фронтенд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62482" y="1809049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74705" y="1921272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SvelteKit 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74705" y="2136742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Runes: $state, $derived, $effect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62482" y="2473414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74705" y="2585638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 v4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74705" y="2801108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CSS-based конфигурация через @theme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62482" y="3137779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74705" y="3250003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5.x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74705" y="3465473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Статическая типизация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2482" y="3802144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74705" y="3914368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Vite 6.x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74705" y="4129838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Сборка и dev-сервер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63605" y="4834604"/>
            <a:ext cx="3716854" cy="2020029"/>
          </a:xfrm>
          <a:custGeom>
            <a:avLst/>
            <a:gdLst/>
            <a:ahLst/>
            <a:cxnLst/>
            <a:rect l="l" t="t" r="r" b="b"/>
            <a:pathLst>
              <a:path w="3716854" h="2020029">
                <a:moveTo>
                  <a:pt x="71832" y="0"/>
                </a:moveTo>
                <a:lnTo>
                  <a:pt x="3645022" y="0"/>
                </a:lnTo>
                <a:cubicBezTo>
                  <a:pt x="3684694" y="0"/>
                  <a:pt x="3716854" y="32160"/>
                  <a:pt x="3716854" y="71832"/>
                </a:cubicBezTo>
                <a:lnTo>
                  <a:pt x="3716854" y="1948197"/>
                </a:lnTo>
                <a:cubicBezTo>
                  <a:pt x="3716854" y="1987869"/>
                  <a:pt x="3684694" y="2020029"/>
                  <a:pt x="3645022" y="2020029"/>
                </a:cubicBezTo>
                <a:lnTo>
                  <a:pt x="71832" y="2020029"/>
                </a:lnTo>
                <a:cubicBezTo>
                  <a:pt x="32160" y="2020029"/>
                  <a:pt x="0" y="1987869"/>
                  <a:pt x="0" y="1948197"/>
                </a:cubicBezTo>
                <a:lnTo>
                  <a:pt x="0" y="71832"/>
                </a:lnTo>
                <a:cubicBezTo>
                  <a:pt x="0" y="32160"/>
                  <a:pt x="32160" y="0"/>
                  <a:pt x="7183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1741" y="4982739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23965" y="5072518"/>
            <a:ext cx="134669" cy="179558"/>
          </a:xfrm>
          <a:custGeom>
            <a:avLst/>
            <a:gdLst/>
            <a:ahLst/>
            <a:cxnLst/>
            <a:rect l="l" t="t" r="r" b="b"/>
            <a:pathLst>
              <a:path w="134669" h="179558">
                <a:moveTo>
                  <a:pt x="44890" y="33667"/>
                </a:moveTo>
                <a:lnTo>
                  <a:pt x="44890" y="56112"/>
                </a:lnTo>
                <a:lnTo>
                  <a:pt x="89779" y="56112"/>
                </a:lnTo>
                <a:lnTo>
                  <a:pt x="89779" y="33667"/>
                </a:lnTo>
                <a:cubicBezTo>
                  <a:pt x="89779" y="21287"/>
                  <a:pt x="79714" y="11222"/>
                  <a:pt x="67334" y="11222"/>
                </a:cubicBezTo>
                <a:cubicBezTo>
                  <a:pt x="54955" y="11222"/>
                  <a:pt x="44890" y="21287"/>
                  <a:pt x="44890" y="33667"/>
                </a:cubicBezTo>
                <a:close/>
                <a:moveTo>
                  <a:pt x="22445" y="56112"/>
                </a:moveTo>
                <a:lnTo>
                  <a:pt x="22445" y="33667"/>
                </a:lnTo>
                <a:cubicBezTo>
                  <a:pt x="22445" y="8873"/>
                  <a:pt x="42540" y="-11222"/>
                  <a:pt x="67334" y="-11222"/>
                </a:cubicBezTo>
                <a:cubicBezTo>
                  <a:pt x="92129" y="-11222"/>
                  <a:pt x="112224" y="8873"/>
                  <a:pt x="112224" y="33667"/>
                </a:cubicBezTo>
                <a:lnTo>
                  <a:pt x="112224" y="56112"/>
                </a:lnTo>
                <a:cubicBezTo>
                  <a:pt x="124604" y="56112"/>
                  <a:pt x="134669" y="66177"/>
                  <a:pt x="134669" y="78557"/>
                </a:cubicBezTo>
                <a:lnTo>
                  <a:pt x="134669" y="157113"/>
                </a:lnTo>
                <a:cubicBezTo>
                  <a:pt x="134669" y="169493"/>
                  <a:pt x="124604" y="179558"/>
                  <a:pt x="112224" y="179558"/>
                </a:cubicBezTo>
                <a:lnTo>
                  <a:pt x="22445" y="179558"/>
                </a:lnTo>
                <a:cubicBezTo>
                  <a:pt x="10065" y="179558"/>
                  <a:pt x="0" y="169493"/>
                  <a:pt x="0" y="157113"/>
                </a:cubicBezTo>
                <a:lnTo>
                  <a:pt x="0" y="78557"/>
                </a:lnTo>
                <a:cubicBezTo>
                  <a:pt x="0" y="66177"/>
                  <a:pt x="10065" y="56112"/>
                  <a:pt x="22445" y="561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978592" y="5036607"/>
            <a:ext cx="11042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16230" y="5454080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8454" y="5566303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GPG (python-gnupg)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8454" y="5781773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OpenPGP, AES256 + RSA 4096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16230" y="6118445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8454" y="6230669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 (Mailpit)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8454" y="6446138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Локальный сервер для разработки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236731" y="4834604"/>
            <a:ext cx="3716854" cy="2020029"/>
          </a:xfrm>
          <a:custGeom>
            <a:avLst/>
            <a:gdLst/>
            <a:ahLst/>
            <a:cxnLst/>
            <a:rect l="l" t="t" r="r" b="b"/>
            <a:pathLst>
              <a:path w="3716854" h="2020029">
                <a:moveTo>
                  <a:pt x="71832" y="0"/>
                </a:moveTo>
                <a:lnTo>
                  <a:pt x="3645022" y="0"/>
                </a:lnTo>
                <a:cubicBezTo>
                  <a:pt x="3684694" y="0"/>
                  <a:pt x="3716854" y="32160"/>
                  <a:pt x="3716854" y="71832"/>
                </a:cubicBezTo>
                <a:lnTo>
                  <a:pt x="3716854" y="1948197"/>
                </a:lnTo>
                <a:cubicBezTo>
                  <a:pt x="3716854" y="1987869"/>
                  <a:pt x="3684694" y="2020029"/>
                  <a:pt x="3645022" y="2020029"/>
                </a:cubicBezTo>
                <a:lnTo>
                  <a:pt x="71832" y="2020029"/>
                </a:lnTo>
                <a:cubicBezTo>
                  <a:pt x="32160" y="2020029"/>
                  <a:pt x="0" y="1987869"/>
                  <a:pt x="0" y="1948197"/>
                </a:cubicBezTo>
                <a:lnTo>
                  <a:pt x="0" y="71832"/>
                </a:lnTo>
                <a:cubicBezTo>
                  <a:pt x="0" y="32160"/>
                  <a:pt x="32160" y="0"/>
                  <a:pt x="7183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84867" y="4982739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452201" y="5072518"/>
            <a:ext cx="224448" cy="179558"/>
          </a:xfrm>
          <a:custGeom>
            <a:avLst/>
            <a:gdLst/>
            <a:ahLst/>
            <a:cxnLst/>
            <a:rect l="l" t="t" r="r" b="b"/>
            <a:pathLst>
              <a:path w="224448" h="179558">
                <a:moveTo>
                  <a:pt x="145856" y="73822"/>
                </a:moveTo>
                <a:cubicBezTo>
                  <a:pt x="150134" y="72665"/>
                  <a:pt x="154623" y="74699"/>
                  <a:pt x="156552" y="78662"/>
                </a:cubicBezTo>
                <a:lnTo>
                  <a:pt x="163075" y="91848"/>
                </a:lnTo>
                <a:cubicBezTo>
                  <a:pt x="166688" y="92339"/>
                  <a:pt x="170230" y="93321"/>
                  <a:pt x="173561" y="94689"/>
                </a:cubicBezTo>
                <a:lnTo>
                  <a:pt x="185836" y="86518"/>
                </a:lnTo>
                <a:cubicBezTo>
                  <a:pt x="189518" y="84063"/>
                  <a:pt x="194393" y="84554"/>
                  <a:pt x="197514" y="87675"/>
                </a:cubicBezTo>
                <a:lnTo>
                  <a:pt x="204247" y="94408"/>
                </a:lnTo>
                <a:cubicBezTo>
                  <a:pt x="207369" y="97530"/>
                  <a:pt x="207860" y="102439"/>
                  <a:pt x="205405" y="106087"/>
                </a:cubicBezTo>
                <a:lnTo>
                  <a:pt x="197233" y="118326"/>
                </a:lnTo>
                <a:cubicBezTo>
                  <a:pt x="197900" y="119974"/>
                  <a:pt x="198496" y="121693"/>
                  <a:pt x="198987" y="123481"/>
                </a:cubicBezTo>
                <a:cubicBezTo>
                  <a:pt x="199478" y="125270"/>
                  <a:pt x="199794" y="127023"/>
                  <a:pt x="200039" y="128812"/>
                </a:cubicBezTo>
                <a:lnTo>
                  <a:pt x="213260" y="135335"/>
                </a:lnTo>
                <a:cubicBezTo>
                  <a:pt x="217223" y="137299"/>
                  <a:pt x="219257" y="141788"/>
                  <a:pt x="218100" y="146031"/>
                </a:cubicBezTo>
                <a:lnTo>
                  <a:pt x="215645" y="155220"/>
                </a:lnTo>
                <a:cubicBezTo>
                  <a:pt x="214488" y="159463"/>
                  <a:pt x="210525" y="162339"/>
                  <a:pt x="206106" y="162058"/>
                </a:cubicBezTo>
                <a:lnTo>
                  <a:pt x="191377" y="161111"/>
                </a:lnTo>
                <a:cubicBezTo>
                  <a:pt x="189167" y="163952"/>
                  <a:pt x="186607" y="166582"/>
                  <a:pt x="183696" y="168827"/>
                </a:cubicBezTo>
                <a:lnTo>
                  <a:pt x="184643" y="183521"/>
                </a:lnTo>
                <a:cubicBezTo>
                  <a:pt x="184924" y="187940"/>
                  <a:pt x="182048" y="191938"/>
                  <a:pt x="177805" y="193060"/>
                </a:cubicBezTo>
                <a:lnTo>
                  <a:pt x="168616" y="195515"/>
                </a:lnTo>
                <a:cubicBezTo>
                  <a:pt x="164338" y="196672"/>
                  <a:pt x="159884" y="194638"/>
                  <a:pt x="157920" y="190675"/>
                </a:cubicBezTo>
                <a:lnTo>
                  <a:pt x="151397" y="177489"/>
                </a:lnTo>
                <a:cubicBezTo>
                  <a:pt x="147785" y="176998"/>
                  <a:pt x="144243" y="176016"/>
                  <a:pt x="140911" y="174648"/>
                </a:cubicBezTo>
                <a:lnTo>
                  <a:pt x="128637" y="182820"/>
                </a:lnTo>
                <a:cubicBezTo>
                  <a:pt x="124954" y="185275"/>
                  <a:pt x="120080" y="184784"/>
                  <a:pt x="116958" y="181662"/>
                </a:cubicBezTo>
                <a:lnTo>
                  <a:pt x="110225" y="174929"/>
                </a:lnTo>
                <a:cubicBezTo>
                  <a:pt x="107104" y="171808"/>
                  <a:pt x="106613" y="166933"/>
                  <a:pt x="109068" y="163251"/>
                </a:cubicBezTo>
                <a:lnTo>
                  <a:pt x="117239" y="150976"/>
                </a:lnTo>
                <a:cubicBezTo>
                  <a:pt x="116573" y="149328"/>
                  <a:pt x="115976" y="147609"/>
                  <a:pt x="115485" y="145821"/>
                </a:cubicBezTo>
                <a:cubicBezTo>
                  <a:pt x="114994" y="144032"/>
                  <a:pt x="114679" y="142244"/>
                  <a:pt x="114433" y="140490"/>
                </a:cubicBezTo>
                <a:lnTo>
                  <a:pt x="101212" y="133967"/>
                </a:lnTo>
                <a:cubicBezTo>
                  <a:pt x="97249" y="132003"/>
                  <a:pt x="95250" y="127514"/>
                  <a:pt x="96372" y="123271"/>
                </a:cubicBezTo>
                <a:lnTo>
                  <a:pt x="98827" y="114083"/>
                </a:lnTo>
                <a:cubicBezTo>
                  <a:pt x="99984" y="109839"/>
                  <a:pt x="103947" y="106963"/>
                  <a:pt x="108366" y="107244"/>
                </a:cubicBezTo>
                <a:lnTo>
                  <a:pt x="123060" y="108191"/>
                </a:lnTo>
                <a:cubicBezTo>
                  <a:pt x="125270" y="105350"/>
                  <a:pt x="127830" y="102720"/>
                  <a:pt x="130741" y="100475"/>
                </a:cubicBezTo>
                <a:lnTo>
                  <a:pt x="129794" y="85816"/>
                </a:lnTo>
                <a:cubicBezTo>
                  <a:pt x="129513" y="81397"/>
                  <a:pt x="132389" y="77399"/>
                  <a:pt x="136633" y="76277"/>
                </a:cubicBezTo>
                <a:lnTo>
                  <a:pt x="145821" y="73822"/>
                </a:lnTo>
                <a:close/>
                <a:moveTo>
                  <a:pt x="157254" y="119238"/>
                </a:moveTo>
                <a:cubicBezTo>
                  <a:pt x="148737" y="119248"/>
                  <a:pt x="141831" y="126170"/>
                  <a:pt x="141840" y="134686"/>
                </a:cubicBezTo>
                <a:cubicBezTo>
                  <a:pt x="141850" y="143203"/>
                  <a:pt x="148772" y="150109"/>
                  <a:pt x="157289" y="150099"/>
                </a:cubicBezTo>
                <a:cubicBezTo>
                  <a:pt x="165805" y="150090"/>
                  <a:pt x="172712" y="143168"/>
                  <a:pt x="172702" y="134651"/>
                </a:cubicBezTo>
                <a:cubicBezTo>
                  <a:pt x="172692" y="126135"/>
                  <a:pt x="165770" y="119228"/>
                  <a:pt x="157254" y="119238"/>
                </a:cubicBezTo>
                <a:close/>
                <a:moveTo>
                  <a:pt x="78872" y="-15957"/>
                </a:moveTo>
                <a:lnTo>
                  <a:pt x="88061" y="-13502"/>
                </a:lnTo>
                <a:cubicBezTo>
                  <a:pt x="92304" y="-12345"/>
                  <a:pt x="95180" y="-8347"/>
                  <a:pt x="94899" y="-3963"/>
                </a:cubicBezTo>
                <a:lnTo>
                  <a:pt x="93952" y="10696"/>
                </a:lnTo>
                <a:cubicBezTo>
                  <a:pt x="96863" y="12941"/>
                  <a:pt x="99423" y="15536"/>
                  <a:pt x="101633" y="18412"/>
                </a:cubicBezTo>
                <a:lnTo>
                  <a:pt x="116362" y="17465"/>
                </a:lnTo>
                <a:cubicBezTo>
                  <a:pt x="120746" y="17184"/>
                  <a:pt x="124744" y="20060"/>
                  <a:pt x="125901" y="24303"/>
                </a:cubicBezTo>
                <a:lnTo>
                  <a:pt x="128356" y="33492"/>
                </a:lnTo>
                <a:cubicBezTo>
                  <a:pt x="129478" y="37735"/>
                  <a:pt x="127479" y="42224"/>
                  <a:pt x="123516" y="44188"/>
                </a:cubicBezTo>
                <a:lnTo>
                  <a:pt x="110295" y="50711"/>
                </a:lnTo>
                <a:cubicBezTo>
                  <a:pt x="110050" y="52500"/>
                  <a:pt x="109699" y="54288"/>
                  <a:pt x="109243" y="56042"/>
                </a:cubicBezTo>
                <a:cubicBezTo>
                  <a:pt x="108787" y="57795"/>
                  <a:pt x="108156" y="59549"/>
                  <a:pt x="107489" y="61197"/>
                </a:cubicBezTo>
                <a:lnTo>
                  <a:pt x="115661" y="73472"/>
                </a:lnTo>
                <a:cubicBezTo>
                  <a:pt x="118116" y="77154"/>
                  <a:pt x="117625" y="82029"/>
                  <a:pt x="114503" y="85150"/>
                </a:cubicBezTo>
                <a:lnTo>
                  <a:pt x="107770" y="91883"/>
                </a:lnTo>
                <a:cubicBezTo>
                  <a:pt x="104649" y="95005"/>
                  <a:pt x="99774" y="95495"/>
                  <a:pt x="96092" y="93041"/>
                </a:cubicBezTo>
                <a:lnTo>
                  <a:pt x="83817" y="84869"/>
                </a:lnTo>
                <a:cubicBezTo>
                  <a:pt x="80486" y="86237"/>
                  <a:pt x="76943" y="87219"/>
                  <a:pt x="73331" y="87710"/>
                </a:cubicBezTo>
                <a:lnTo>
                  <a:pt x="66808" y="100896"/>
                </a:lnTo>
                <a:cubicBezTo>
                  <a:pt x="64844" y="104859"/>
                  <a:pt x="60355" y="106858"/>
                  <a:pt x="56112" y="105736"/>
                </a:cubicBezTo>
                <a:lnTo>
                  <a:pt x="46924" y="103281"/>
                </a:lnTo>
                <a:cubicBezTo>
                  <a:pt x="42645" y="102124"/>
                  <a:pt x="39804" y="98126"/>
                  <a:pt x="40085" y="93742"/>
                </a:cubicBezTo>
                <a:lnTo>
                  <a:pt x="41032" y="79048"/>
                </a:lnTo>
                <a:cubicBezTo>
                  <a:pt x="38121" y="76803"/>
                  <a:pt x="35561" y="74208"/>
                  <a:pt x="33352" y="71332"/>
                </a:cubicBezTo>
                <a:lnTo>
                  <a:pt x="18622" y="72279"/>
                </a:lnTo>
                <a:cubicBezTo>
                  <a:pt x="14238" y="72560"/>
                  <a:pt x="10240" y="69684"/>
                  <a:pt x="9083" y="65441"/>
                </a:cubicBezTo>
                <a:lnTo>
                  <a:pt x="6628" y="56252"/>
                </a:lnTo>
                <a:cubicBezTo>
                  <a:pt x="5506" y="52009"/>
                  <a:pt x="7505" y="47520"/>
                  <a:pt x="11468" y="45556"/>
                </a:cubicBezTo>
                <a:lnTo>
                  <a:pt x="24689" y="39033"/>
                </a:lnTo>
                <a:cubicBezTo>
                  <a:pt x="24935" y="37244"/>
                  <a:pt x="25285" y="35491"/>
                  <a:pt x="25741" y="33702"/>
                </a:cubicBezTo>
                <a:cubicBezTo>
                  <a:pt x="26232" y="31914"/>
                  <a:pt x="26793" y="30195"/>
                  <a:pt x="27495" y="28547"/>
                </a:cubicBezTo>
                <a:lnTo>
                  <a:pt x="19324" y="16308"/>
                </a:lnTo>
                <a:cubicBezTo>
                  <a:pt x="16869" y="12625"/>
                  <a:pt x="17360" y="7750"/>
                  <a:pt x="20481" y="4629"/>
                </a:cubicBezTo>
                <a:lnTo>
                  <a:pt x="27214" y="-2104"/>
                </a:lnTo>
                <a:cubicBezTo>
                  <a:pt x="30336" y="-5225"/>
                  <a:pt x="35210" y="-5716"/>
                  <a:pt x="38893" y="-3262"/>
                </a:cubicBezTo>
                <a:lnTo>
                  <a:pt x="51167" y="4910"/>
                </a:lnTo>
                <a:cubicBezTo>
                  <a:pt x="54499" y="3542"/>
                  <a:pt x="58041" y="2560"/>
                  <a:pt x="61653" y="2069"/>
                </a:cubicBezTo>
                <a:lnTo>
                  <a:pt x="68176" y="-11117"/>
                </a:lnTo>
                <a:cubicBezTo>
                  <a:pt x="70140" y="-15080"/>
                  <a:pt x="74594" y="-17079"/>
                  <a:pt x="78872" y="-15957"/>
                </a:cubicBezTo>
                <a:close/>
                <a:moveTo>
                  <a:pt x="67475" y="29459"/>
                </a:moveTo>
                <a:cubicBezTo>
                  <a:pt x="58958" y="29459"/>
                  <a:pt x="52044" y="36373"/>
                  <a:pt x="52044" y="44890"/>
                </a:cubicBezTo>
                <a:cubicBezTo>
                  <a:pt x="52044" y="53406"/>
                  <a:pt x="58958" y="60320"/>
                  <a:pt x="67475" y="60320"/>
                </a:cubicBezTo>
                <a:cubicBezTo>
                  <a:pt x="75991" y="60320"/>
                  <a:pt x="82905" y="53406"/>
                  <a:pt x="82905" y="44890"/>
                </a:cubicBezTo>
                <a:cubicBezTo>
                  <a:pt x="82905" y="36373"/>
                  <a:pt x="75991" y="29459"/>
                  <a:pt x="67475" y="2945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4851718" y="5036607"/>
            <a:ext cx="132873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Инфраструктура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89356" y="5454080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01580" y="5566303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501580" y="5781773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контейнеризация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389356" y="6118445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01580" y="6230669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+ Celery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501580" y="6446138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Брокер сообщений (опционально)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09857" y="4834604"/>
            <a:ext cx="3716854" cy="2020029"/>
          </a:xfrm>
          <a:custGeom>
            <a:avLst/>
            <a:gdLst/>
            <a:ahLst/>
            <a:cxnLst/>
            <a:rect l="l" t="t" r="r" b="b"/>
            <a:pathLst>
              <a:path w="3716854" h="2020029">
                <a:moveTo>
                  <a:pt x="71832" y="0"/>
                </a:moveTo>
                <a:lnTo>
                  <a:pt x="3645022" y="0"/>
                </a:lnTo>
                <a:cubicBezTo>
                  <a:pt x="3684694" y="0"/>
                  <a:pt x="3716854" y="32160"/>
                  <a:pt x="3716854" y="71832"/>
                </a:cubicBezTo>
                <a:lnTo>
                  <a:pt x="3716854" y="1948197"/>
                </a:lnTo>
                <a:cubicBezTo>
                  <a:pt x="3716854" y="1987869"/>
                  <a:pt x="3684694" y="2020029"/>
                  <a:pt x="3645022" y="2020029"/>
                </a:cubicBezTo>
                <a:lnTo>
                  <a:pt x="71832" y="2020029"/>
                </a:lnTo>
                <a:cubicBezTo>
                  <a:pt x="32160" y="2020029"/>
                  <a:pt x="0" y="1987869"/>
                  <a:pt x="0" y="1948197"/>
                </a:cubicBezTo>
                <a:lnTo>
                  <a:pt x="0" y="71832"/>
                </a:lnTo>
                <a:cubicBezTo>
                  <a:pt x="0" y="32160"/>
                  <a:pt x="32160" y="0"/>
                  <a:pt x="7183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57993" y="4982739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347772" y="5072518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120150" y="3297"/>
                </a:moveTo>
                <a:cubicBezTo>
                  <a:pt x="115766" y="-1087"/>
                  <a:pt x="108647" y="-1087"/>
                  <a:pt x="104263" y="3297"/>
                </a:cubicBezTo>
                <a:cubicBezTo>
                  <a:pt x="99879" y="7680"/>
                  <a:pt x="99879" y="14800"/>
                  <a:pt x="104263" y="19183"/>
                </a:cubicBezTo>
                <a:lnTo>
                  <a:pt x="107560" y="22445"/>
                </a:lnTo>
                <a:lnTo>
                  <a:pt x="9855" y="120150"/>
                </a:lnTo>
                <a:cubicBezTo>
                  <a:pt x="3542" y="126462"/>
                  <a:pt x="0" y="135019"/>
                  <a:pt x="0" y="143962"/>
                </a:cubicBezTo>
                <a:lnTo>
                  <a:pt x="0" y="145891"/>
                </a:lnTo>
                <a:cubicBezTo>
                  <a:pt x="0" y="164478"/>
                  <a:pt x="15080" y="179558"/>
                  <a:pt x="33667" y="179558"/>
                </a:cubicBezTo>
                <a:lnTo>
                  <a:pt x="35596" y="179558"/>
                </a:lnTo>
                <a:cubicBezTo>
                  <a:pt x="44539" y="179558"/>
                  <a:pt x="53096" y="176016"/>
                  <a:pt x="59409" y="169704"/>
                </a:cubicBezTo>
                <a:lnTo>
                  <a:pt x="157113" y="71999"/>
                </a:lnTo>
                <a:lnTo>
                  <a:pt x="160410" y="75295"/>
                </a:lnTo>
                <a:cubicBezTo>
                  <a:pt x="164794" y="79679"/>
                  <a:pt x="171913" y="79679"/>
                  <a:pt x="176297" y="75295"/>
                </a:cubicBezTo>
                <a:cubicBezTo>
                  <a:pt x="180680" y="70911"/>
                  <a:pt x="180680" y="63792"/>
                  <a:pt x="176297" y="59409"/>
                </a:cubicBezTo>
                <a:lnTo>
                  <a:pt x="120185" y="3297"/>
                </a:lnTo>
                <a:close/>
                <a:moveTo>
                  <a:pt x="71999" y="89779"/>
                </a:moveTo>
                <a:lnTo>
                  <a:pt x="123446" y="38331"/>
                </a:lnTo>
                <a:lnTo>
                  <a:pt x="141227" y="56112"/>
                </a:lnTo>
                <a:lnTo>
                  <a:pt x="107560" y="89779"/>
                </a:lnTo>
                <a:lnTo>
                  <a:pt x="71964" y="8977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6" name="Text 74"/>
          <p:cNvSpPr/>
          <p:nvPr/>
        </p:nvSpPr>
        <p:spPr>
          <a:xfrm>
            <a:off x="8724844" y="5036607"/>
            <a:ext cx="113121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62482" y="5454080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74705" y="5566303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pytest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374705" y="5781773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39/39 тестов проходят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62482" y="6118445"/>
            <a:ext cx="3411605" cy="583564"/>
          </a:xfrm>
          <a:custGeom>
            <a:avLst/>
            <a:gdLst/>
            <a:ahLst/>
            <a:cxnLst/>
            <a:rect l="l" t="t" r="r" b="b"/>
            <a:pathLst>
              <a:path w="3411605" h="583564">
                <a:moveTo>
                  <a:pt x="71825" y="0"/>
                </a:moveTo>
                <a:lnTo>
                  <a:pt x="3339780" y="0"/>
                </a:lnTo>
                <a:cubicBezTo>
                  <a:pt x="3379422" y="0"/>
                  <a:pt x="3411605" y="32184"/>
                  <a:pt x="3411605" y="71825"/>
                </a:cubicBezTo>
                <a:lnTo>
                  <a:pt x="3411605" y="511739"/>
                </a:lnTo>
                <a:cubicBezTo>
                  <a:pt x="3411605" y="551407"/>
                  <a:pt x="3379448" y="583564"/>
                  <a:pt x="3339780" y="583564"/>
                </a:cubicBezTo>
                <a:lnTo>
                  <a:pt x="71825" y="583564"/>
                </a:lnTo>
                <a:cubicBezTo>
                  <a:pt x="32184" y="583564"/>
                  <a:pt x="0" y="551380"/>
                  <a:pt x="0" y="511739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74705" y="6230669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LLM-as-a-Judge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374705" y="6446138"/>
            <a:ext cx="3241025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Двухпроходная оценка точности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Результаты: Валидация на ГПА-21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Двухпроходная оценка LLM-as-a-Judge на видеозаписи ГПА-21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2181225" cy="1476375"/>
          </a:xfrm>
          <a:custGeom>
            <a:avLst/>
            <a:gdLst/>
            <a:ahLst/>
            <a:cxnLst/>
            <a:rect l="l" t="t" r="r" b="b"/>
            <a:pathLst>
              <a:path w="2181225" h="1476375">
                <a:moveTo>
                  <a:pt x="76196" y="0"/>
                </a:moveTo>
                <a:lnTo>
                  <a:pt x="2105029" y="0"/>
                </a:lnTo>
                <a:cubicBezTo>
                  <a:pt x="2147083" y="0"/>
                  <a:pt x="2181225" y="34142"/>
                  <a:pt x="2181225" y="76196"/>
                </a:cubicBezTo>
                <a:lnTo>
                  <a:pt x="2181225" y="1400179"/>
                </a:lnTo>
                <a:cubicBezTo>
                  <a:pt x="2181225" y="1442233"/>
                  <a:pt x="2147083" y="1476375"/>
                  <a:pt x="2105029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5137" y="1419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1175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97.44%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9587" y="22002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значений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350" y="2428875"/>
            <a:ext cx="1924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38/39 параметров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89473" y="1262063"/>
            <a:ext cx="2181225" cy="1476375"/>
          </a:xfrm>
          <a:custGeom>
            <a:avLst/>
            <a:gdLst/>
            <a:ahLst/>
            <a:cxnLst/>
            <a:rect l="l" t="t" r="r" b="b"/>
            <a:pathLst>
              <a:path w="2181225" h="1476375">
                <a:moveTo>
                  <a:pt x="76196" y="0"/>
                </a:moveTo>
                <a:lnTo>
                  <a:pt x="2105029" y="0"/>
                </a:lnTo>
                <a:cubicBezTo>
                  <a:pt x="2147083" y="0"/>
                  <a:pt x="2181225" y="34142"/>
                  <a:pt x="2181225" y="76196"/>
                </a:cubicBezTo>
                <a:lnTo>
                  <a:pt x="2181225" y="1400179"/>
                </a:lnTo>
                <a:cubicBezTo>
                  <a:pt x="2181225" y="1442233"/>
                  <a:pt x="2147083" y="1476375"/>
                  <a:pt x="2105029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8848" y="1419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8138" y="53578"/>
                </a:moveTo>
                <a:lnTo>
                  <a:pt x="18138" y="137015"/>
                </a:lnTo>
                <a:cubicBezTo>
                  <a:pt x="18138" y="146503"/>
                  <a:pt x="21878" y="155600"/>
                  <a:pt x="28575" y="162297"/>
                </a:cubicBezTo>
                <a:lnTo>
                  <a:pt x="135731" y="269453"/>
                </a:lnTo>
                <a:cubicBezTo>
                  <a:pt x="149684" y="283406"/>
                  <a:pt x="172287" y="283406"/>
                  <a:pt x="186240" y="269453"/>
                </a:cubicBezTo>
                <a:lnTo>
                  <a:pt x="269677" y="186017"/>
                </a:lnTo>
                <a:cubicBezTo>
                  <a:pt x="283629" y="172064"/>
                  <a:pt x="283629" y="149461"/>
                  <a:pt x="269677" y="135508"/>
                </a:cubicBezTo>
                <a:lnTo>
                  <a:pt x="162520" y="28352"/>
                </a:lnTo>
                <a:cubicBezTo>
                  <a:pt x="155823" y="21599"/>
                  <a:pt x="146782" y="17859"/>
                  <a:pt x="137294" y="17859"/>
                </a:cubicBezTo>
                <a:lnTo>
                  <a:pt x="53857" y="17859"/>
                </a:lnTo>
                <a:cubicBezTo>
                  <a:pt x="34156" y="17859"/>
                  <a:pt x="18138" y="33877"/>
                  <a:pt x="18138" y="53578"/>
                </a:cubicBezTo>
                <a:close/>
                <a:moveTo>
                  <a:pt x="80646" y="62508"/>
                </a:moveTo>
                <a:cubicBezTo>
                  <a:pt x="90503" y="62508"/>
                  <a:pt x="98506" y="70510"/>
                  <a:pt x="98506" y="80367"/>
                </a:cubicBezTo>
                <a:cubicBezTo>
                  <a:pt x="98506" y="90224"/>
                  <a:pt x="90503" y="98227"/>
                  <a:pt x="80646" y="98227"/>
                </a:cubicBezTo>
                <a:cubicBezTo>
                  <a:pt x="70789" y="98227"/>
                  <a:pt x="62787" y="90224"/>
                  <a:pt x="62787" y="80367"/>
                </a:cubicBezTo>
                <a:cubicBezTo>
                  <a:pt x="62787" y="70510"/>
                  <a:pt x="70789" y="62508"/>
                  <a:pt x="80646" y="6250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760911" y="1781175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13298" y="22002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имён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18061" y="2428875"/>
            <a:ext cx="1924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39/39 параметров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93184" y="1262063"/>
            <a:ext cx="2181225" cy="1476375"/>
          </a:xfrm>
          <a:custGeom>
            <a:avLst/>
            <a:gdLst/>
            <a:ahLst/>
            <a:cxnLst/>
            <a:rect l="l" t="t" r="r" b="b"/>
            <a:pathLst>
              <a:path w="2181225" h="1476375">
                <a:moveTo>
                  <a:pt x="76196" y="0"/>
                </a:moveTo>
                <a:lnTo>
                  <a:pt x="2105029" y="0"/>
                </a:lnTo>
                <a:cubicBezTo>
                  <a:pt x="2147083" y="0"/>
                  <a:pt x="2181225" y="34142"/>
                  <a:pt x="2181225" y="76196"/>
                </a:cubicBezTo>
                <a:lnTo>
                  <a:pt x="2181225" y="1400179"/>
                </a:lnTo>
                <a:cubicBezTo>
                  <a:pt x="2181225" y="1442233"/>
                  <a:pt x="2147083" y="1476375"/>
                  <a:pt x="2105029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78277" y="14192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064621" y="1781175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17009" y="22002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Покрытие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1771" y="2428875"/>
            <a:ext cx="1924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28/28 уникальных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2862263"/>
            <a:ext cx="6791325" cy="3848100"/>
          </a:xfrm>
          <a:custGeom>
            <a:avLst/>
            <a:gdLst/>
            <a:ahLst/>
            <a:cxnLst/>
            <a:rect l="l" t="t" r="r" b="b"/>
            <a:pathLst>
              <a:path w="6791325" h="3848100">
                <a:moveTo>
                  <a:pt x="76192" y="0"/>
                </a:moveTo>
                <a:lnTo>
                  <a:pt x="6715133" y="0"/>
                </a:lnTo>
                <a:cubicBezTo>
                  <a:pt x="6757213" y="0"/>
                  <a:pt x="6791325" y="34112"/>
                  <a:pt x="6791325" y="76192"/>
                </a:cubicBezTo>
                <a:lnTo>
                  <a:pt x="6791325" y="3771908"/>
                </a:lnTo>
                <a:cubicBezTo>
                  <a:pt x="6791325" y="3813988"/>
                  <a:pt x="6757213" y="3848100"/>
                  <a:pt x="6715133" y="3848100"/>
                </a:cubicBezTo>
                <a:lnTo>
                  <a:pt x="76192" y="3848100"/>
                </a:lnTo>
                <a:cubicBezTo>
                  <a:pt x="34112" y="3848100"/>
                  <a:pt x="0" y="3813988"/>
                  <a:pt x="0" y="37719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925" y="3019425"/>
            <a:ext cx="656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Методология оценки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405188"/>
            <a:ext cx="3262313" cy="1443038"/>
          </a:xfrm>
          <a:custGeom>
            <a:avLst/>
            <a:gdLst/>
            <a:ahLst/>
            <a:cxnLst/>
            <a:rect l="l" t="t" r="r" b="b"/>
            <a:pathLst>
              <a:path w="3262313" h="1443038">
                <a:moveTo>
                  <a:pt x="78376" y="0"/>
                </a:moveTo>
                <a:lnTo>
                  <a:pt x="3183937" y="0"/>
                </a:lnTo>
                <a:cubicBezTo>
                  <a:pt x="3227223" y="0"/>
                  <a:pt x="3262313" y="39455"/>
                  <a:pt x="3262313" y="88126"/>
                </a:cubicBezTo>
                <a:lnTo>
                  <a:pt x="3262313" y="1354911"/>
                </a:lnTo>
                <a:cubicBezTo>
                  <a:pt x="3262313" y="1403582"/>
                  <a:pt x="3227223" y="1443038"/>
                  <a:pt x="3183937" y="1443038"/>
                </a:cubicBezTo>
                <a:lnTo>
                  <a:pt x="78376" y="1443038"/>
                </a:lnTo>
                <a:cubicBezTo>
                  <a:pt x="35090" y="1443038"/>
                  <a:pt x="0" y="1403582"/>
                  <a:pt x="0" y="1354911"/>
                </a:cubicBezTo>
                <a:lnTo>
                  <a:pt x="0" y="88126"/>
                </a:lnTo>
                <a:cubicBezTo>
                  <a:pt x="0" y="39488"/>
                  <a:pt x="35119" y="0"/>
                  <a:pt x="78376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6750" y="3543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33450" y="35242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LLM-судья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6750" y="3790950"/>
            <a:ext cx="2990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Qwen3.5-4B оценивает каждый параметр относительно ground truth по совпадению имени и значения. Нативно обрабатывает семантическую эквивалентность кириллических аббревиатур.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1403" y="3405188"/>
            <a:ext cx="3171825" cy="1443038"/>
          </a:xfrm>
          <a:custGeom>
            <a:avLst/>
            <a:gdLst/>
            <a:ahLst/>
            <a:cxnLst/>
            <a:rect l="l" t="t" r="r" b="b"/>
            <a:pathLst>
              <a:path w="3171825" h="1443038">
                <a:moveTo>
                  <a:pt x="76202" y="0"/>
                </a:moveTo>
                <a:lnTo>
                  <a:pt x="3095623" y="0"/>
                </a:lnTo>
                <a:cubicBezTo>
                  <a:pt x="3137708" y="0"/>
                  <a:pt x="3171825" y="39455"/>
                  <a:pt x="3171825" y="88126"/>
                </a:cubicBezTo>
                <a:lnTo>
                  <a:pt x="3171825" y="1354911"/>
                </a:lnTo>
                <a:cubicBezTo>
                  <a:pt x="3171825" y="1403582"/>
                  <a:pt x="3137708" y="1443037"/>
                  <a:pt x="3095623" y="1443038"/>
                </a:cubicBezTo>
                <a:lnTo>
                  <a:pt x="76202" y="1443038"/>
                </a:lnTo>
                <a:cubicBezTo>
                  <a:pt x="34117" y="1443038"/>
                  <a:pt x="0" y="1403582"/>
                  <a:pt x="0" y="1354911"/>
                </a:cubicBezTo>
                <a:lnTo>
                  <a:pt x="0" y="88126"/>
                </a:lnTo>
                <a:cubicBezTo>
                  <a:pt x="0" y="39488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69990" y="3543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227165" y="35242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Постобработка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69990" y="3790950"/>
            <a:ext cx="29813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Правила семантической эквивалентности: ABBREV_MAP («р» → «давление»), EQUIV_PAIRS, нечёткое сопоставление через SequenceMatcher (порог 0.75).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1038" y="58578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838200" y="5848350"/>
            <a:ext cx="611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"44,5" == "44.5" == "44.500"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35143" y="1262063"/>
            <a:ext cx="4467225" cy="2352675"/>
          </a:xfrm>
          <a:custGeom>
            <a:avLst/>
            <a:gdLst/>
            <a:ahLst/>
            <a:cxnLst/>
            <a:rect l="l" t="t" r="r" b="b"/>
            <a:pathLst>
              <a:path w="4467225" h="2352675">
                <a:moveTo>
                  <a:pt x="76203" y="0"/>
                </a:moveTo>
                <a:lnTo>
                  <a:pt x="4391022" y="0"/>
                </a:lnTo>
                <a:cubicBezTo>
                  <a:pt x="4433080" y="0"/>
                  <a:pt x="4467225" y="34145"/>
                  <a:pt x="4467225" y="76203"/>
                </a:cubicBezTo>
                <a:lnTo>
                  <a:pt x="4467225" y="2276472"/>
                </a:lnTo>
                <a:cubicBezTo>
                  <a:pt x="4467225" y="2318530"/>
                  <a:pt x="4433080" y="2352675"/>
                  <a:pt x="4391022" y="2352675"/>
                </a:cubicBezTo>
                <a:lnTo>
                  <a:pt x="76203" y="2352675"/>
                </a:lnTo>
                <a:cubicBezTo>
                  <a:pt x="34145" y="2352675"/>
                  <a:pt x="0" y="2318530"/>
                  <a:pt x="0" y="22764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>
                  <a:alpha val="10000"/>
                </a:srgbClr>
              </a:gs>
              <a:gs pos="100000">
                <a:srgbClr val="FB2C36">
                  <a:alpha val="10000"/>
                </a:srgbClr>
              </a:gs>
            </a:gsLst>
            <a:lin ang="2700000" scaled="1"/>
          </a:gradFill>
          <a:ln w="12700">
            <a:solidFill>
              <a:srgbClr val="FF6900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11355" y="1476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34" name="Text 32"/>
          <p:cNvSpPr/>
          <p:nvPr/>
        </p:nvSpPr>
        <p:spPr>
          <a:xfrm>
            <a:off x="7759005" y="1419225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Единственное несовпадение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97068" y="1766888"/>
            <a:ext cx="4143375" cy="619125"/>
          </a:xfrm>
          <a:custGeom>
            <a:avLst/>
            <a:gdLst/>
            <a:ahLst/>
            <a:cxnLst/>
            <a:rect l="l" t="t" r="r" b="b"/>
            <a:pathLst>
              <a:path w="4143375" h="619125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542923"/>
                </a:lnTo>
                <a:cubicBezTo>
                  <a:pt x="4143375" y="585008"/>
                  <a:pt x="4109258" y="619125"/>
                  <a:pt x="40671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130" y="1885950"/>
            <a:ext cx="396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Параметр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16130" y="2076450"/>
            <a:ext cx="397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Давление после крана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97068" y="2471738"/>
            <a:ext cx="2028825" cy="581025"/>
          </a:xfrm>
          <a:custGeom>
            <a:avLst/>
            <a:gdLst/>
            <a:ahLst/>
            <a:cxnLst/>
            <a:rect l="l" t="t" r="r" b="b"/>
            <a:pathLst>
              <a:path w="2028825" h="581025">
                <a:moveTo>
                  <a:pt x="76201" y="0"/>
                </a:moveTo>
                <a:lnTo>
                  <a:pt x="1952624" y="0"/>
                </a:lnTo>
                <a:cubicBezTo>
                  <a:pt x="1994680" y="0"/>
                  <a:pt x="2028825" y="34145"/>
                  <a:pt x="2028825" y="76201"/>
                </a:cubicBezTo>
                <a:lnTo>
                  <a:pt x="2028825" y="504824"/>
                </a:lnTo>
                <a:cubicBezTo>
                  <a:pt x="2028825" y="546880"/>
                  <a:pt x="1994680" y="581025"/>
                  <a:pt x="195262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8030" y="2552700"/>
            <a:ext cx="1924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Ожидалось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78030" y="270510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44.5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13404" y="2471738"/>
            <a:ext cx="2028825" cy="581025"/>
          </a:xfrm>
          <a:custGeom>
            <a:avLst/>
            <a:gdLst/>
            <a:ahLst/>
            <a:cxnLst/>
            <a:rect l="l" t="t" r="r" b="b"/>
            <a:pathLst>
              <a:path w="2028825" h="581025">
                <a:moveTo>
                  <a:pt x="76201" y="0"/>
                </a:moveTo>
                <a:lnTo>
                  <a:pt x="1952624" y="0"/>
                </a:lnTo>
                <a:cubicBezTo>
                  <a:pt x="1994680" y="0"/>
                  <a:pt x="2028825" y="34145"/>
                  <a:pt x="2028825" y="76201"/>
                </a:cubicBezTo>
                <a:lnTo>
                  <a:pt x="2028825" y="504824"/>
                </a:lnTo>
                <a:cubicBezTo>
                  <a:pt x="2028825" y="546880"/>
                  <a:pt x="1994680" y="581025"/>
                  <a:pt x="195262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4366" y="2552700"/>
            <a:ext cx="1924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Распознано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94366" y="270510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45.0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97068" y="3138488"/>
            <a:ext cx="4143375" cy="314325"/>
          </a:xfrm>
          <a:custGeom>
            <a:avLst/>
            <a:gdLst/>
            <a:ahLst/>
            <a:cxnLst/>
            <a:rect l="l" t="t" r="r" b="b"/>
            <a:pathLst>
              <a:path w="4143375" h="314325">
                <a:moveTo>
                  <a:pt x="76199" y="0"/>
                </a:moveTo>
                <a:lnTo>
                  <a:pt x="4067176" y="0"/>
                </a:lnTo>
                <a:cubicBezTo>
                  <a:pt x="4109260" y="0"/>
                  <a:pt x="4143375" y="34115"/>
                  <a:pt x="4143375" y="76199"/>
                </a:cubicBezTo>
                <a:lnTo>
                  <a:pt x="4143375" y="238126"/>
                </a:lnTo>
                <a:cubicBezTo>
                  <a:pt x="4143375" y="280210"/>
                  <a:pt x="4109260" y="314325"/>
                  <a:pt x="40671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8030" y="3219450"/>
            <a:ext cx="403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Δ = 0.5 (в пределах погрешности визуального считывания)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35143" y="3738563"/>
            <a:ext cx="4467225" cy="2038350"/>
          </a:xfrm>
          <a:custGeom>
            <a:avLst/>
            <a:gdLst/>
            <a:ahLst/>
            <a:cxnLst/>
            <a:rect l="l" t="t" r="r" b="b"/>
            <a:pathLst>
              <a:path w="4467225" h="2038350">
                <a:moveTo>
                  <a:pt x="76194" y="0"/>
                </a:moveTo>
                <a:lnTo>
                  <a:pt x="4391031" y="0"/>
                </a:lnTo>
                <a:cubicBezTo>
                  <a:pt x="4433112" y="0"/>
                  <a:pt x="4467225" y="34113"/>
                  <a:pt x="4467225" y="76194"/>
                </a:cubicBezTo>
                <a:lnTo>
                  <a:pt x="4467225" y="1962156"/>
                </a:lnTo>
                <a:cubicBezTo>
                  <a:pt x="4467225" y="2004237"/>
                  <a:pt x="4433112" y="2038350"/>
                  <a:pt x="4391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2305" y="38957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Сравнение подходов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92305" y="431482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OCR-конвейер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54829" y="4276725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92305" y="4619625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4114800" y="0"/>
                </a:lnTo>
                <a:cubicBezTo>
                  <a:pt x="4135828" y="0"/>
                  <a:pt x="4152900" y="17072"/>
                  <a:pt x="4152900" y="38100"/>
                </a:cubicBezTo>
                <a:lnTo>
                  <a:pt x="4152900" y="38100"/>
                </a:lnTo>
                <a:cubicBezTo>
                  <a:pt x="4152900" y="59128"/>
                  <a:pt x="4135828" y="76200"/>
                  <a:pt x="4114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1" name="Shape 49"/>
          <p:cNvSpPr/>
          <p:nvPr/>
        </p:nvSpPr>
        <p:spPr>
          <a:xfrm>
            <a:off x="7492305" y="4619625"/>
            <a:ext cx="619125" cy="76200"/>
          </a:xfrm>
          <a:custGeom>
            <a:avLst/>
            <a:gdLst/>
            <a:ahLst/>
            <a:cxnLst/>
            <a:rect l="l" t="t" r="r" b="b"/>
            <a:pathLst>
              <a:path w="619125" h="76200">
                <a:moveTo>
                  <a:pt x="38100" y="0"/>
                </a:moveTo>
                <a:lnTo>
                  <a:pt x="581025" y="0"/>
                </a:lnTo>
                <a:cubicBezTo>
                  <a:pt x="602053" y="0"/>
                  <a:pt x="619125" y="17072"/>
                  <a:pt x="619125" y="38100"/>
                </a:cubicBezTo>
                <a:lnTo>
                  <a:pt x="619125" y="38100"/>
                </a:lnTo>
                <a:cubicBezTo>
                  <a:pt x="619125" y="59128"/>
                  <a:pt x="602053" y="76200"/>
                  <a:pt x="581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2" name="Text 50"/>
          <p:cNvSpPr/>
          <p:nvPr/>
        </p:nvSpPr>
        <p:spPr>
          <a:xfrm>
            <a:off x="7492305" y="4886325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 + зонная сегментация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81147" y="4848225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97.44%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92305" y="5191125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4114800" y="0"/>
                </a:lnTo>
                <a:cubicBezTo>
                  <a:pt x="4135828" y="0"/>
                  <a:pt x="4152900" y="17072"/>
                  <a:pt x="4152900" y="38100"/>
                </a:cubicBezTo>
                <a:lnTo>
                  <a:pt x="4152900" y="38100"/>
                </a:lnTo>
                <a:cubicBezTo>
                  <a:pt x="4152900" y="59128"/>
                  <a:pt x="4135828" y="76200"/>
                  <a:pt x="4114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Shape 53"/>
          <p:cNvSpPr/>
          <p:nvPr/>
        </p:nvSpPr>
        <p:spPr>
          <a:xfrm>
            <a:off x="7492305" y="5191125"/>
            <a:ext cx="4048125" cy="76200"/>
          </a:xfrm>
          <a:custGeom>
            <a:avLst/>
            <a:gdLst/>
            <a:ahLst/>
            <a:cxnLst/>
            <a:rect l="l" t="t" r="r" b="b"/>
            <a:pathLst>
              <a:path w="4048125" h="76200">
                <a:moveTo>
                  <a:pt x="38100" y="0"/>
                </a:moveTo>
                <a:lnTo>
                  <a:pt x="4010025" y="0"/>
                </a:lnTo>
                <a:cubicBezTo>
                  <a:pt x="4031053" y="0"/>
                  <a:pt x="4048125" y="17072"/>
                  <a:pt x="4048125" y="38100"/>
                </a:cubicBezTo>
                <a:lnTo>
                  <a:pt x="4048125" y="38100"/>
                </a:lnTo>
                <a:cubicBezTo>
                  <a:pt x="4048125" y="59128"/>
                  <a:pt x="4031053" y="76200"/>
                  <a:pt x="4010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56" name="Shape 54"/>
          <p:cNvSpPr/>
          <p:nvPr/>
        </p:nvSpPr>
        <p:spPr>
          <a:xfrm>
            <a:off x="7492305" y="5348288"/>
            <a:ext cx="4152900" cy="9525"/>
          </a:xfrm>
          <a:custGeom>
            <a:avLst/>
            <a:gdLst/>
            <a:ahLst/>
            <a:cxnLst/>
            <a:rect l="l" t="t" r="r" b="b"/>
            <a:pathLst>
              <a:path w="4152900" h="9525">
                <a:moveTo>
                  <a:pt x="0" y="0"/>
                </a:moveTo>
                <a:lnTo>
                  <a:pt x="4152900" y="0"/>
                </a:lnTo>
                <a:lnTo>
                  <a:pt x="4152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7" name="Text 55"/>
          <p:cNvSpPr/>
          <p:nvPr/>
        </p:nvSpPr>
        <p:spPr>
          <a:xfrm>
            <a:off x="7492305" y="542925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Требование задания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306324" y="542925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≥95%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35143" y="5900738"/>
            <a:ext cx="4467225" cy="809625"/>
          </a:xfrm>
          <a:custGeom>
            <a:avLst/>
            <a:gdLst/>
            <a:ahLst/>
            <a:cxnLst/>
            <a:rect l="l" t="t" r="r" b="b"/>
            <a:pathLst>
              <a:path w="4467225" h="809625">
                <a:moveTo>
                  <a:pt x="76202" y="0"/>
                </a:moveTo>
                <a:lnTo>
                  <a:pt x="4391023" y="0"/>
                </a:lnTo>
                <a:cubicBezTo>
                  <a:pt x="4433108" y="0"/>
                  <a:pt x="4467225" y="34117"/>
                  <a:pt x="4467225" y="76202"/>
                </a:cubicBezTo>
                <a:lnTo>
                  <a:pt x="4467225" y="733423"/>
                </a:lnTo>
                <a:cubicBezTo>
                  <a:pt x="4467225" y="775508"/>
                  <a:pt x="4433108" y="809625"/>
                  <a:pt x="43910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4205" y="6019800"/>
            <a:ext cx="429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Валидация на ГПА-21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468493" y="62960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7625655" y="6286500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Система валидирована на реальной мнемосхеме газоперекачивающего агрегата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59309"/>
            <a:ext cx="65329" cy="261315"/>
          </a:xfrm>
          <a:custGeom>
            <a:avLst/>
            <a:gdLst/>
            <a:ahLst/>
            <a:cxnLst/>
            <a:rect l="l" t="t" r="r" b="b"/>
            <a:pathLst>
              <a:path w="65329" h="261315">
                <a:moveTo>
                  <a:pt x="32664" y="0"/>
                </a:moveTo>
                <a:lnTo>
                  <a:pt x="32664" y="0"/>
                </a:lnTo>
                <a:cubicBezTo>
                  <a:pt x="50692" y="0"/>
                  <a:pt x="65329" y="14636"/>
                  <a:pt x="65329" y="32664"/>
                </a:cubicBezTo>
                <a:lnTo>
                  <a:pt x="65329" y="228651"/>
                </a:lnTo>
                <a:cubicBezTo>
                  <a:pt x="65329" y="246691"/>
                  <a:pt x="50705" y="261315"/>
                  <a:pt x="32664" y="261315"/>
                </a:cubicBezTo>
                <a:lnTo>
                  <a:pt x="32664" y="261315"/>
                </a:lnTo>
                <a:cubicBezTo>
                  <a:pt x="14624" y="261315"/>
                  <a:pt x="0" y="246691"/>
                  <a:pt x="0" y="22865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89967" y="326644"/>
            <a:ext cx="2907135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Интерфейс системы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9967" y="718618"/>
            <a:ext cx="1144888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Веб-панель управления на SvelteKit 5 с тёмной SCADA-темой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0727" y="1082009"/>
            <a:ext cx="5699944" cy="2833640"/>
          </a:xfrm>
          <a:custGeom>
            <a:avLst/>
            <a:gdLst/>
            <a:ahLst/>
            <a:cxnLst/>
            <a:rect l="l" t="t" r="r" b="b"/>
            <a:pathLst>
              <a:path w="5699944" h="2833640">
                <a:moveTo>
                  <a:pt x="65315" y="0"/>
                </a:moveTo>
                <a:lnTo>
                  <a:pt x="5634628" y="0"/>
                </a:lnTo>
                <a:cubicBezTo>
                  <a:pt x="5670701" y="0"/>
                  <a:pt x="5699944" y="29243"/>
                  <a:pt x="5699944" y="65315"/>
                </a:cubicBezTo>
                <a:lnTo>
                  <a:pt x="5699944" y="2768324"/>
                </a:lnTo>
                <a:cubicBezTo>
                  <a:pt x="5699944" y="2804397"/>
                  <a:pt x="5670701" y="2833640"/>
                  <a:pt x="5634628" y="2833640"/>
                </a:cubicBezTo>
                <a:lnTo>
                  <a:pt x="65315" y="2833640"/>
                </a:lnTo>
                <a:cubicBezTo>
                  <a:pt x="29243" y="2833640"/>
                  <a:pt x="0" y="2804397"/>
                  <a:pt x="0" y="2768324"/>
                </a:cubicBezTo>
                <a:lnTo>
                  <a:pt x="0" y="65315"/>
                </a:lnTo>
                <a:cubicBezTo>
                  <a:pt x="0" y="29243"/>
                  <a:pt x="29243" y="0"/>
                  <a:pt x="6531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5883" y="1257581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79754" y="2469"/>
                </a:moveTo>
                <a:cubicBezTo>
                  <a:pt x="76222" y="-804"/>
                  <a:pt x="70768" y="-804"/>
                  <a:pt x="67265" y="2469"/>
                </a:cubicBezTo>
                <a:lnTo>
                  <a:pt x="2957" y="62184"/>
                </a:lnTo>
                <a:cubicBezTo>
                  <a:pt x="201" y="64767"/>
                  <a:pt x="-718" y="68758"/>
                  <a:pt x="660" y="72260"/>
                </a:cubicBezTo>
                <a:cubicBezTo>
                  <a:pt x="2038" y="75763"/>
                  <a:pt x="5397" y="78088"/>
                  <a:pt x="9187" y="78088"/>
                </a:cubicBezTo>
                <a:lnTo>
                  <a:pt x="13780" y="78088"/>
                </a:lnTo>
                <a:lnTo>
                  <a:pt x="13780" y="128616"/>
                </a:lnTo>
                <a:cubicBezTo>
                  <a:pt x="13780" y="138750"/>
                  <a:pt x="22020" y="146990"/>
                  <a:pt x="32154" y="146990"/>
                </a:cubicBezTo>
                <a:lnTo>
                  <a:pt x="114836" y="146990"/>
                </a:lnTo>
                <a:cubicBezTo>
                  <a:pt x="124970" y="146990"/>
                  <a:pt x="133210" y="138750"/>
                  <a:pt x="133210" y="128616"/>
                </a:cubicBezTo>
                <a:lnTo>
                  <a:pt x="133210" y="78088"/>
                </a:lnTo>
                <a:lnTo>
                  <a:pt x="137803" y="78088"/>
                </a:lnTo>
                <a:cubicBezTo>
                  <a:pt x="141593" y="78088"/>
                  <a:pt x="144980" y="75763"/>
                  <a:pt x="146358" y="72260"/>
                </a:cubicBezTo>
                <a:cubicBezTo>
                  <a:pt x="147736" y="68758"/>
                  <a:pt x="146818" y="64739"/>
                  <a:pt x="144062" y="62184"/>
                </a:cubicBezTo>
                <a:lnTo>
                  <a:pt x="79754" y="2469"/>
                </a:lnTo>
                <a:close/>
                <a:moveTo>
                  <a:pt x="68902" y="91869"/>
                </a:moveTo>
                <a:lnTo>
                  <a:pt x="78088" y="91869"/>
                </a:lnTo>
                <a:cubicBezTo>
                  <a:pt x="85696" y="91869"/>
                  <a:pt x="91869" y="98041"/>
                  <a:pt x="91869" y="105649"/>
                </a:cubicBezTo>
                <a:lnTo>
                  <a:pt x="91869" y="133210"/>
                </a:lnTo>
                <a:lnTo>
                  <a:pt x="55121" y="133210"/>
                </a:lnTo>
                <a:lnTo>
                  <a:pt x="55121" y="105649"/>
                </a:lnTo>
                <a:cubicBezTo>
                  <a:pt x="55121" y="98041"/>
                  <a:pt x="61294" y="91869"/>
                  <a:pt x="68902" y="9186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53289" y="1216750"/>
            <a:ext cx="531613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Лэндинг страница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9551" y="1547478"/>
            <a:ext cx="5422296" cy="1576059"/>
          </a:xfrm>
          <a:custGeom>
            <a:avLst/>
            <a:gdLst/>
            <a:ahLst/>
            <a:cxnLst/>
            <a:rect l="l" t="t" r="r" b="b"/>
            <a:pathLst>
              <a:path w="5422296" h="1576059">
                <a:moveTo>
                  <a:pt x="65328" y="0"/>
                </a:moveTo>
                <a:lnTo>
                  <a:pt x="5356968" y="0"/>
                </a:lnTo>
                <a:cubicBezTo>
                  <a:pt x="5393048" y="0"/>
                  <a:pt x="5422296" y="29248"/>
                  <a:pt x="5422296" y="65328"/>
                </a:cubicBezTo>
                <a:lnTo>
                  <a:pt x="5422296" y="1510731"/>
                </a:lnTo>
                <a:cubicBezTo>
                  <a:pt x="5422296" y="1546811"/>
                  <a:pt x="5393048" y="1576059"/>
                  <a:pt x="5356968" y="1576059"/>
                </a:cubicBezTo>
                <a:lnTo>
                  <a:pt x="65328" y="1576059"/>
                </a:lnTo>
                <a:cubicBezTo>
                  <a:pt x="29248" y="1576059"/>
                  <a:pt x="0" y="1546811"/>
                  <a:pt x="0" y="1510731"/>
                </a:cubicBezTo>
                <a:lnTo>
                  <a:pt x="0" y="65328"/>
                </a:lnTo>
                <a:cubicBezTo>
                  <a:pt x="0" y="29272"/>
                  <a:pt x="29272" y="0"/>
                  <a:pt x="653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0" descr="https://kimi-img.moonshot.cn/pub/slides/okc/vygivbcw43b7q/landing.png"/>
          <p:cNvPicPr>
            <a:picLocks noChangeAspect="1"/>
          </p:cNvPicPr>
          <p:nvPr/>
        </p:nvPicPr>
        <p:blipFill>
          <a:blip r:embed="rId3"/>
          <a:srcRect t="20662" b="20662"/>
          <a:stretch/>
        </p:blipFill>
        <p:spPr>
          <a:xfrm>
            <a:off x="473634" y="1551561"/>
            <a:ext cx="5414130" cy="1567893"/>
          </a:xfrm>
          <a:prstGeom prst="roundRect">
            <a:avLst>
              <a:gd name="adj" fmla="val 4167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465468" y="3225613"/>
            <a:ext cx="5487625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Основная информация:</a:t>
            </a: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описание системы, ключевые метрики (97.4% точность, 500мс интервал, GPG шифрование).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5468" y="3617586"/>
            <a:ext cx="548762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Процесс обработки:</a:t>
            </a: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визуализация этапов от захвата видео до доставки данных.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0727" y="4021808"/>
            <a:ext cx="5699944" cy="2604989"/>
          </a:xfrm>
          <a:custGeom>
            <a:avLst/>
            <a:gdLst/>
            <a:ahLst/>
            <a:cxnLst/>
            <a:rect l="l" t="t" r="r" b="b"/>
            <a:pathLst>
              <a:path w="5699944" h="2604989">
                <a:moveTo>
                  <a:pt x="65333" y="0"/>
                </a:moveTo>
                <a:lnTo>
                  <a:pt x="5634611" y="0"/>
                </a:lnTo>
                <a:cubicBezTo>
                  <a:pt x="5670669" y="0"/>
                  <a:pt x="5699944" y="29275"/>
                  <a:pt x="5699944" y="65333"/>
                </a:cubicBezTo>
                <a:lnTo>
                  <a:pt x="5699944" y="2539655"/>
                </a:lnTo>
                <a:cubicBezTo>
                  <a:pt x="5699944" y="2575714"/>
                  <a:pt x="5670669" y="2604989"/>
                  <a:pt x="5634611" y="2604989"/>
                </a:cubicBezTo>
                <a:lnTo>
                  <a:pt x="65333" y="2604989"/>
                </a:lnTo>
                <a:cubicBezTo>
                  <a:pt x="29275" y="2604989"/>
                  <a:pt x="0" y="2575714"/>
                  <a:pt x="0" y="2539655"/>
                </a:cubicBezTo>
                <a:lnTo>
                  <a:pt x="0" y="65333"/>
                </a:lnTo>
                <a:cubicBezTo>
                  <a:pt x="0" y="29251"/>
                  <a:pt x="29251" y="0"/>
                  <a:pt x="6533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5070" y="4197380"/>
            <a:ext cx="128616" cy="146990"/>
          </a:xfrm>
          <a:custGeom>
            <a:avLst/>
            <a:gdLst/>
            <a:ahLst/>
            <a:cxnLst/>
            <a:rect l="l" t="t" r="r" b="b"/>
            <a:pathLst>
              <a:path w="128616" h="146990">
                <a:moveTo>
                  <a:pt x="18374" y="45934"/>
                </a:moveTo>
                <a:lnTo>
                  <a:pt x="36747" y="45934"/>
                </a:lnTo>
                <a:lnTo>
                  <a:pt x="36747" y="27561"/>
                </a:lnTo>
                <a:lnTo>
                  <a:pt x="18374" y="27561"/>
                </a:lnTo>
                <a:lnTo>
                  <a:pt x="18374" y="45934"/>
                </a:lnTo>
                <a:close/>
                <a:moveTo>
                  <a:pt x="0" y="22967"/>
                </a:moveTo>
                <a:cubicBezTo>
                  <a:pt x="0" y="15359"/>
                  <a:pt x="6172" y="9187"/>
                  <a:pt x="13780" y="9187"/>
                </a:cubicBezTo>
                <a:lnTo>
                  <a:pt x="41341" y="9187"/>
                </a:lnTo>
                <a:cubicBezTo>
                  <a:pt x="48949" y="9187"/>
                  <a:pt x="55121" y="15359"/>
                  <a:pt x="55121" y="22967"/>
                </a:cubicBezTo>
                <a:lnTo>
                  <a:pt x="55121" y="50528"/>
                </a:lnTo>
                <a:cubicBezTo>
                  <a:pt x="55121" y="58136"/>
                  <a:pt x="48949" y="64308"/>
                  <a:pt x="41341" y="64308"/>
                </a:cubicBezTo>
                <a:lnTo>
                  <a:pt x="13780" y="64308"/>
                </a:lnTo>
                <a:cubicBezTo>
                  <a:pt x="6172" y="64308"/>
                  <a:pt x="0" y="58136"/>
                  <a:pt x="0" y="50528"/>
                </a:cubicBezTo>
                <a:lnTo>
                  <a:pt x="0" y="22967"/>
                </a:lnTo>
                <a:close/>
                <a:moveTo>
                  <a:pt x="18374" y="119429"/>
                </a:moveTo>
                <a:lnTo>
                  <a:pt x="36747" y="119429"/>
                </a:lnTo>
                <a:lnTo>
                  <a:pt x="36747" y="101056"/>
                </a:lnTo>
                <a:lnTo>
                  <a:pt x="18374" y="101056"/>
                </a:lnTo>
                <a:lnTo>
                  <a:pt x="18374" y="119429"/>
                </a:lnTo>
                <a:close/>
                <a:moveTo>
                  <a:pt x="0" y="96462"/>
                </a:moveTo>
                <a:cubicBezTo>
                  <a:pt x="0" y="88854"/>
                  <a:pt x="6172" y="82682"/>
                  <a:pt x="13780" y="82682"/>
                </a:cubicBezTo>
                <a:lnTo>
                  <a:pt x="41341" y="82682"/>
                </a:lnTo>
                <a:cubicBezTo>
                  <a:pt x="48949" y="82682"/>
                  <a:pt x="55121" y="88854"/>
                  <a:pt x="55121" y="96462"/>
                </a:cubicBezTo>
                <a:lnTo>
                  <a:pt x="55121" y="124023"/>
                </a:lnTo>
                <a:cubicBezTo>
                  <a:pt x="55121" y="131631"/>
                  <a:pt x="48949" y="137803"/>
                  <a:pt x="41341" y="137803"/>
                </a:cubicBezTo>
                <a:lnTo>
                  <a:pt x="13780" y="137803"/>
                </a:lnTo>
                <a:cubicBezTo>
                  <a:pt x="6172" y="137803"/>
                  <a:pt x="0" y="131631"/>
                  <a:pt x="0" y="124023"/>
                </a:cubicBezTo>
                <a:lnTo>
                  <a:pt x="0" y="96462"/>
                </a:lnTo>
                <a:close/>
                <a:moveTo>
                  <a:pt x="91869" y="27561"/>
                </a:moveTo>
                <a:lnTo>
                  <a:pt x="91869" y="45934"/>
                </a:lnTo>
                <a:lnTo>
                  <a:pt x="110242" y="45934"/>
                </a:lnTo>
                <a:lnTo>
                  <a:pt x="110242" y="27561"/>
                </a:lnTo>
                <a:lnTo>
                  <a:pt x="91869" y="27561"/>
                </a:lnTo>
                <a:close/>
                <a:moveTo>
                  <a:pt x="87275" y="9187"/>
                </a:moveTo>
                <a:lnTo>
                  <a:pt x="114836" y="9187"/>
                </a:lnTo>
                <a:cubicBezTo>
                  <a:pt x="122444" y="9187"/>
                  <a:pt x="128616" y="15359"/>
                  <a:pt x="128616" y="22967"/>
                </a:cubicBezTo>
                <a:lnTo>
                  <a:pt x="128616" y="50528"/>
                </a:lnTo>
                <a:cubicBezTo>
                  <a:pt x="128616" y="58136"/>
                  <a:pt x="122444" y="64308"/>
                  <a:pt x="114836" y="64308"/>
                </a:cubicBezTo>
                <a:lnTo>
                  <a:pt x="87275" y="64308"/>
                </a:lnTo>
                <a:cubicBezTo>
                  <a:pt x="79667" y="64308"/>
                  <a:pt x="73495" y="58136"/>
                  <a:pt x="73495" y="50528"/>
                </a:cubicBezTo>
                <a:lnTo>
                  <a:pt x="73495" y="22967"/>
                </a:lnTo>
                <a:cubicBezTo>
                  <a:pt x="73495" y="15359"/>
                  <a:pt x="79667" y="9187"/>
                  <a:pt x="87275" y="9187"/>
                </a:cubicBezTo>
                <a:close/>
                <a:moveTo>
                  <a:pt x="82682" y="101056"/>
                </a:moveTo>
                <a:cubicBezTo>
                  <a:pt x="77611" y="101056"/>
                  <a:pt x="73495" y="96939"/>
                  <a:pt x="73495" y="91869"/>
                </a:cubicBezTo>
                <a:cubicBezTo>
                  <a:pt x="73495" y="86798"/>
                  <a:pt x="77611" y="82682"/>
                  <a:pt x="82682" y="82682"/>
                </a:cubicBezTo>
                <a:cubicBezTo>
                  <a:pt x="87752" y="82682"/>
                  <a:pt x="91869" y="86798"/>
                  <a:pt x="91869" y="91869"/>
                </a:cubicBezTo>
                <a:cubicBezTo>
                  <a:pt x="91869" y="96939"/>
                  <a:pt x="87752" y="101056"/>
                  <a:pt x="82682" y="101056"/>
                </a:cubicBezTo>
                <a:close/>
                <a:moveTo>
                  <a:pt x="82682" y="119429"/>
                </a:moveTo>
                <a:cubicBezTo>
                  <a:pt x="87763" y="119429"/>
                  <a:pt x="91869" y="123535"/>
                  <a:pt x="91869" y="128616"/>
                </a:cubicBezTo>
                <a:cubicBezTo>
                  <a:pt x="91869" y="133698"/>
                  <a:pt x="87763" y="137803"/>
                  <a:pt x="82682" y="137803"/>
                </a:cubicBezTo>
                <a:cubicBezTo>
                  <a:pt x="77600" y="137803"/>
                  <a:pt x="73495" y="133698"/>
                  <a:pt x="73495" y="128616"/>
                </a:cubicBezTo>
                <a:cubicBezTo>
                  <a:pt x="73495" y="123535"/>
                  <a:pt x="77600" y="119429"/>
                  <a:pt x="82682" y="119429"/>
                </a:cubicBezTo>
                <a:close/>
                <a:moveTo>
                  <a:pt x="110242" y="128616"/>
                </a:moveTo>
                <a:cubicBezTo>
                  <a:pt x="110242" y="123535"/>
                  <a:pt x="114348" y="119429"/>
                  <a:pt x="119429" y="119429"/>
                </a:cubicBezTo>
                <a:cubicBezTo>
                  <a:pt x="124511" y="119429"/>
                  <a:pt x="128616" y="123535"/>
                  <a:pt x="128616" y="128616"/>
                </a:cubicBezTo>
                <a:cubicBezTo>
                  <a:pt x="128616" y="133698"/>
                  <a:pt x="124511" y="137803"/>
                  <a:pt x="119429" y="137803"/>
                </a:cubicBezTo>
                <a:cubicBezTo>
                  <a:pt x="114348" y="137803"/>
                  <a:pt x="110242" y="133698"/>
                  <a:pt x="110242" y="128616"/>
                </a:cubicBezTo>
                <a:close/>
                <a:moveTo>
                  <a:pt x="119429" y="101056"/>
                </a:moveTo>
                <a:cubicBezTo>
                  <a:pt x="114359" y="101056"/>
                  <a:pt x="110242" y="96939"/>
                  <a:pt x="110242" y="91869"/>
                </a:cubicBezTo>
                <a:cubicBezTo>
                  <a:pt x="110242" y="86798"/>
                  <a:pt x="114359" y="82682"/>
                  <a:pt x="119429" y="82682"/>
                </a:cubicBezTo>
                <a:cubicBezTo>
                  <a:pt x="124500" y="82682"/>
                  <a:pt x="128616" y="86798"/>
                  <a:pt x="128616" y="91869"/>
                </a:cubicBezTo>
                <a:cubicBezTo>
                  <a:pt x="128616" y="96939"/>
                  <a:pt x="124500" y="101056"/>
                  <a:pt x="119429" y="101056"/>
                </a:cubicBezTo>
                <a:close/>
                <a:moveTo>
                  <a:pt x="110242" y="110242"/>
                </a:moveTo>
                <a:cubicBezTo>
                  <a:pt x="110242" y="115313"/>
                  <a:pt x="106126" y="119429"/>
                  <a:pt x="101056" y="119429"/>
                </a:cubicBezTo>
                <a:cubicBezTo>
                  <a:pt x="95985" y="119429"/>
                  <a:pt x="91869" y="115313"/>
                  <a:pt x="91869" y="110242"/>
                </a:cubicBezTo>
                <a:cubicBezTo>
                  <a:pt x="91869" y="105172"/>
                  <a:pt x="95985" y="101056"/>
                  <a:pt x="101056" y="101056"/>
                </a:cubicBezTo>
                <a:cubicBezTo>
                  <a:pt x="106126" y="101056"/>
                  <a:pt x="110242" y="105172"/>
                  <a:pt x="110242" y="11024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653289" y="4156549"/>
            <a:ext cx="531613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 Инфодиод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9551" y="4487277"/>
            <a:ext cx="5422296" cy="1576059"/>
          </a:xfrm>
          <a:custGeom>
            <a:avLst/>
            <a:gdLst/>
            <a:ahLst/>
            <a:cxnLst/>
            <a:rect l="l" t="t" r="r" b="b"/>
            <a:pathLst>
              <a:path w="5422296" h="1576059">
                <a:moveTo>
                  <a:pt x="65328" y="0"/>
                </a:moveTo>
                <a:lnTo>
                  <a:pt x="5356968" y="0"/>
                </a:lnTo>
                <a:cubicBezTo>
                  <a:pt x="5393048" y="0"/>
                  <a:pt x="5422296" y="29248"/>
                  <a:pt x="5422296" y="65328"/>
                </a:cubicBezTo>
                <a:lnTo>
                  <a:pt x="5422296" y="1510731"/>
                </a:lnTo>
                <a:cubicBezTo>
                  <a:pt x="5422296" y="1546811"/>
                  <a:pt x="5393048" y="1576059"/>
                  <a:pt x="5356968" y="1576059"/>
                </a:cubicBezTo>
                <a:lnTo>
                  <a:pt x="65328" y="1576059"/>
                </a:lnTo>
                <a:cubicBezTo>
                  <a:pt x="29248" y="1576059"/>
                  <a:pt x="0" y="1546811"/>
                  <a:pt x="0" y="1510731"/>
                </a:cubicBezTo>
                <a:lnTo>
                  <a:pt x="0" y="65328"/>
                </a:lnTo>
                <a:cubicBezTo>
                  <a:pt x="0" y="29272"/>
                  <a:pt x="29272" y="0"/>
                  <a:pt x="653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1" descr="https://kimi-img.moonshot.cn/pub/slides/okc/vygivbcw43b7q/qr_code.png"/>
          <p:cNvPicPr>
            <a:picLocks noChangeAspect="1"/>
          </p:cNvPicPr>
          <p:nvPr/>
        </p:nvPicPr>
        <p:blipFill>
          <a:blip r:embed="rId4"/>
          <a:srcRect t="20801" b="20801"/>
          <a:stretch/>
        </p:blipFill>
        <p:spPr>
          <a:xfrm>
            <a:off x="473634" y="4491360"/>
            <a:ext cx="5414130" cy="1567893"/>
          </a:xfrm>
          <a:prstGeom prst="roundRect">
            <a:avLst>
              <a:gd name="adj" fmla="val 4167"/>
            </a:avLst>
          </a:prstGeom>
        </p:spPr>
      </p:pic>
      <p:sp>
        <p:nvSpPr>
          <p:cNvPr id="17" name="Text 13"/>
          <p:cNvSpPr/>
          <p:nvPr/>
        </p:nvSpPr>
        <p:spPr>
          <a:xfrm>
            <a:off x="465468" y="6165412"/>
            <a:ext cx="5487625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видео</a:t>
            </a: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 наложенными QR-кодами для air-gapped передачи данных. Формат QR v40, msgpack + zlib сжатие.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166688" y="1082009"/>
            <a:ext cx="5699944" cy="2719314"/>
          </a:xfrm>
          <a:custGeom>
            <a:avLst/>
            <a:gdLst/>
            <a:ahLst/>
            <a:cxnLst/>
            <a:rect l="l" t="t" r="r" b="b"/>
            <a:pathLst>
              <a:path w="5699944" h="2719314">
                <a:moveTo>
                  <a:pt x="65318" y="0"/>
                </a:moveTo>
                <a:lnTo>
                  <a:pt x="5634626" y="0"/>
                </a:lnTo>
                <a:cubicBezTo>
                  <a:pt x="5670700" y="0"/>
                  <a:pt x="5699944" y="29244"/>
                  <a:pt x="5699944" y="65318"/>
                </a:cubicBezTo>
                <a:lnTo>
                  <a:pt x="5699944" y="2653996"/>
                </a:lnTo>
                <a:cubicBezTo>
                  <a:pt x="5699944" y="2690070"/>
                  <a:pt x="5670700" y="2719314"/>
                  <a:pt x="5634626" y="2719314"/>
                </a:cubicBezTo>
                <a:lnTo>
                  <a:pt x="65318" y="2719314"/>
                </a:lnTo>
                <a:cubicBezTo>
                  <a:pt x="29244" y="2719314"/>
                  <a:pt x="0" y="2690070"/>
                  <a:pt x="0" y="2653996"/>
                </a:cubicBezTo>
                <a:lnTo>
                  <a:pt x="0" y="65318"/>
                </a:lnTo>
                <a:cubicBezTo>
                  <a:pt x="0" y="29268"/>
                  <a:pt x="29268" y="0"/>
                  <a:pt x="6531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3470" y="1257581"/>
            <a:ext cx="183737" cy="146990"/>
          </a:xfrm>
          <a:custGeom>
            <a:avLst/>
            <a:gdLst/>
            <a:ahLst/>
            <a:cxnLst/>
            <a:rect l="l" t="t" r="r" b="b"/>
            <a:pathLst>
              <a:path w="183737" h="146990">
                <a:moveTo>
                  <a:pt x="119401" y="60432"/>
                </a:moveTo>
                <a:cubicBezTo>
                  <a:pt x="122903" y="59485"/>
                  <a:pt x="126578" y="61150"/>
                  <a:pt x="128157" y="64394"/>
                </a:cubicBezTo>
                <a:lnTo>
                  <a:pt x="133497" y="75189"/>
                </a:lnTo>
                <a:cubicBezTo>
                  <a:pt x="136454" y="75591"/>
                  <a:pt x="139353" y="76395"/>
                  <a:pt x="142081" y="77514"/>
                </a:cubicBezTo>
                <a:lnTo>
                  <a:pt x="152129" y="70825"/>
                </a:lnTo>
                <a:cubicBezTo>
                  <a:pt x="155143" y="68815"/>
                  <a:pt x="159134" y="69217"/>
                  <a:pt x="161689" y="71772"/>
                </a:cubicBezTo>
                <a:lnTo>
                  <a:pt x="167201" y="77285"/>
                </a:lnTo>
                <a:cubicBezTo>
                  <a:pt x="169756" y="79840"/>
                  <a:pt x="170158" y="83859"/>
                  <a:pt x="168148" y="86845"/>
                </a:cubicBezTo>
                <a:lnTo>
                  <a:pt x="161459" y="96864"/>
                </a:lnTo>
                <a:cubicBezTo>
                  <a:pt x="162005" y="98213"/>
                  <a:pt x="162493" y="99620"/>
                  <a:pt x="162895" y="101084"/>
                </a:cubicBezTo>
                <a:cubicBezTo>
                  <a:pt x="163297" y="102548"/>
                  <a:pt x="163555" y="103984"/>
                  <a:pt x="163756" y="105448"/>
                </a:cubicBezTo>
                <a:lnTo>
                  <a:pt x="174579" y="110788"/>
                </a:lnTo>
                <a:cubicBezTo>
                  <a:pt x="177823" y="112396"/>
                  <a:pt x="179489" y="116070"/>
                  <a:pt x="178541" y="119544"/>
                </a:cubicBezTo>
                <a:lnTo>
                  <a:pt x="176531" y="127066"/>
                </a:lnTo>
                <a:cubicBezTo>
                  <a:pt x="175584" y="130540"/>
                  <a:pt x="172340" y="132894"/>
                  <a:pt x="168723" y="132664"/>
                </a:cubicBezTo>
                <a:lnTo>
                  <a:pt x="156665" y="131889"/>
                </a:lnTo>
                <a:cubicBezTo>
                  <a:pt x="154856" y="134214"/>
                  <a:pt x="152760" y="136368"/>
                  <a:pt x="150378" y="138205"/>
                </a:cubicBezTo>
                <a:lnTo>
                  <a:pt x="151153" y="150234"/>
                </a:lnTo>
                <a:cubicBezTo>
                  <a:pt x="151382" y="153851"/>
                  <a:pt x="149028" y="157124"/>
                  <a:pt x="145555" y="158043"/>
                </a:cubicBezTo>
                <a:lnTo>
                  <a:pt x="138033" y="160053"/>
                </a:lnTo>
                <a:cubicBezTo>
                  <a:pt x="134530" y="161000"/>
                  <a:pt x="130884" y="159335"/>
                  <a:pt x="129277" y="156091"/>
                </a:cubicBezTo>
                <a:lnTo>
                  <a:pt x="123937" y="145296"/>
                </a:lnTo>
                <a:cubicBezTo>
                  <a:pt x="120980" y="144894"/>
                  <a:pt x="118080" y="144090"/>
                  <a:pt x="115353" y="142971"/>
                </a:cubicBezTo>
                <a:lnTo>
                  <a:pt x="105305" y="149660"/>
                </a:lnTo>
                <a:cubicBezTo>
                  <a:pt x="102290" y="151670"/>
                  <a:pt x="98300" y="151268"/>
                  <a:pt x="95744" y="148712"/>
                </a:cubicBezTo>
                <a:lnTo>
                  <a:pt x="90232" y="143200"/>
                </a:lnTo>
                <a:cubicBezTo>
                  <a:pt x="87677" y="140645"/>
                  <a:pt x="87275" y="136655"/>
                  <a:pt x="89285" y="133640"/>
                </a:cubicBezTo>
                <a:lnTo>
                  <a:pt x="95974" y="123592"/>
                </a:lnTo>
                <a:cubicBezTo>
                  <a:pt x="95429" y="122243"/>
                  <a:pt x="94941" y="120836"/>
                  <a:pt x="94539" y="119372"/>
                </a:cubicBezTo>
                <a:cubicBezTo>
                  <a:pt x="94137" y="117908"/>
                  <a:pt x="93878" y="116444"/>
                  <a:pt x="93677" y="115008"/>
                </a:cubicBezTo>
                <a:lnTo>
                  <a:pt x="82854" y="109668"/>
                </a:lnTo>
                <a:cubicBezTo>
                  <a:pt x="79610" y="108061"/>
                  <a:pt x="77974" y="104386"/>
                  <a:pt x="78892" y="100912"/>
                </a:cubicBezTo>
                <a:lnTo>
                  <a:pt x="80902" y="93390"/>
                </a:lnTo>
                <a:cubicBezTo>
                  <a:pt x="81849" y="89917"/>
                  <a:pt x="85093" y="87562"/>
                  <a:pt x="88711" y="87792"/>
                </a:cubicBezTo>
                <a:lnTo>
                  <a:pt x="100740" y="88567"/>
                </a:lnTo>
                <a:cubicBezTo>
                  <a:pt x="102548" y="86242"/>
                  <a:pt x="104644" y="84089"/>
                  <a:pt x="107027" y="82251"/>
                </a:cubicBezTo>
                <a:lnTo>
                  <a:pt x="106252" y="70251"/>
                </a:lnTo>
                <a:cubicBezTo>
                  <a:pt x="106022" y="66634"/>
                  <a:pt x="108376" y="63361"/>
                  <a:pt x="111850" y="62442"/>
                </a:cubicBezTo>
                <a:lnTo>
                  <a:pt x="119372" y="60432"/>
                </a:lnTo>
                <a:close/>
                <a:moveTo>
                  <a:pt x="128731" y="97611"/>
                </a:moveTo>
                <a:cubicBezTo>
                  <a:pt x="121759" y="97618"/>
                  <a:pt x="116106" y="103285"/>
                  <a:pt x="116113" y="110257"/>
                </a:cubicBezTo>
                <a:cubicBezTo>
                  <a:pt x="116121" y="117229"/>
                  <a:pt x="121788" y="122882"/>
                  <a:pt x="128760" y="122874"/>
                </a:cubicBezTo>
                <a:cubicBezTo>
                  <a:pt x="135732" y="122866"/>
                  <a:pt x="141385" y="117200"/>
                  <a:pt x="141377" y="110228"/>
                </a:cubicBezTo>
                <a:cubicBezTo>
                  <a:pt x="141369" y="103256"/>
                  <a:pt x="135703" y="97603"/>
                  <a:pt x="128731" y="97611"/>
                </a:cubicBezTo>
                <a:close/>
                <a:moveTo>
                  <a:pt x="64566" y="-13063"/>
                </a:moveTo>
                <a:lnTo>
                  <a:pt x="72088" y="-11053"/>
                </a:lnTo>
                <a:cubicBezTo>
                  <a:pt x="75562" y="-10106"/>
                  <a:pt x="77916" y="-6833"/>
                  <a:pt x="77686" y="-3244"/>
                </a:cubicBezTo>
                <a:lnTo>
                  <a:pt x="76911" y="8756"/>
                </a:lnTo>
                <a:cubicBezTo>
                  <a:pt x="79294" y="10594"/>
                  <a:pt x="81390" y="12718"/>
                  <a:pt x="83199" y="15072"/>
                </a:cubicBezTo>
                <a:lnTo>
                  <a:pt x="95256" y="14297"/>
                </a:lnTo>
                <a:cubicBezTo>
                  <a:pt x="98845" y="14067"/>
                  <a:pt x="102118" y="16422"/>
                  <a:pt x="103065" y="19895"/>
                </a:cubicBezTo>
                <a:lnTo>
                  <a:pt x="105075" y="27417"/>
                </a:lnTo>
                <a:cubicBezTo>
                  <a:pt x="105994" y="30891"/>
                  <a:pt x="104357" y="34566"/>
                  <a:pt x="101113" y="36173"/>
                </a:cubicBezTo>
                <a:lnTo>
                  <a:pt x="90290" y="41513"/>
                </a:lnTo>
                <a:cubicBezTo>
                  <a:pt x="90089" y="42977"/>
                  <a:pt x="89802" y="44441"/>
                  <a:pt x="89428" y="45877"/>
                </a:cubicBezTo>
                <a:cubicBezTo>
                  <a:pt x="89055" y="47312"/>
                  <a:pt x="88538" y="48748"/>
                  <a:pt x="87993" y="50097"/>
                </a:cubicBezTo>
                <a:lnTo>
                  <a:pt x="94682" y="60145"/>
                </a:lnTo>
                <a:cubicBezTo>
                  <a:pt x="96692" y="63160"/>
                  <a:pt x="96290" y="67150"/>
                  <a:pt x="93735" y="69705"/>
                </a:cubicBezTo>
                <a:lnTo>
                  <a:pt x="88223" y="75218"/>
                </a:lnTo>
                <a:cubicBezTo>
                  <a:pt x="85668" y="77773"/>
                  <a:pt x="81677" y="78175"/>
                  <a:pt x="78663" y="76165"/>
                </a:cubicBezTo>
                <a:lnTo>
                  <a:pt x="68614" y="69476"/>
                </a:lnTo>
                <a:cubicBezTo>
                  <a:pt x="65887" y="70595"/>
                  <a:pt x="62987" y="71399"/>
                  <a:pt x="60030" y="71801"/>
                </a:cubicBezTo>
                <a:lnTo>
                  <a:pt x="54691" y="82596"/>
                </a:lnTo>
                <a:cubicBezTo>
                  <a:pt x="53083" y="85840"/>
                  <a:pt x="49408" y="87476"/>
                  <a:pt x="45934" y="86558"/>
                </a:cubicBezTo>
                <a:lnTo>
                  <a:pt x="38413" y="84548"/>
                </a:lnTo>
                <a:cubicBezTo>
                  <a:pt x="34910" y="83601"/>
                  <a:pt x="32585" y="80328"/>
                  <a:pt x="32814" y="76739"/>
                </a:cubicBezTo>
                <a:lnTo>
                  <a:pt x="33590" y="64710"/>
                </a:lnTo>
                <a:cubicBezTo>
                  <a:pt x="31207" y="62873"/>
                  <a:pt x="29111" y="60748"/>
                  <a:pt x="27302" y="58394"/>
                </a:cubicBezTo>
                <a:lnTo>
                  <a:pt x="15244" y="59169"/>
                </a:lnTo>
                <a:cubicBezTo>
                  <a:pt x="11656" y="59399"/>
                  <a:pt x="8383" y="57045"/>
                  <a:pt x="7436" y="53571"/>
                </a:cubicBezTo>
                <a:lnTo>
                  <a:pt x="5426" y="46049"/>
                </a:lnTo>
                <a:cubicBezTo>
                  <a:pt x="4507" y="42575"/>
                  <a:pt x="6144" y="38901"/>
                  <a:pt x="9388" y="37293"/>
                </a:cubicBezTo>
                <a:lnTo>
                  <a:pt x="20211" y="31953"/>
                </a:lnTo>
                <a:cubicBezTo>
                  <a:pt x="20412" y="30489"/>
                  <a:pt x="20699" y="29053"/>
                  <a:pt x="21072" y="27589"/>
                </a:cubicBezTo>
                <a:cubicBezTo>
                  <a:pt x="21474" y="26125"/>
                  <a:pt x="21934" y="24718"/>
                  <a:pt x="22508" y="23369"/>
                </a:cubicBezTo>
                <a:lnTo>
                  <a:pt x="15819" y="13350"/>
                </a:lnTo>
                <a:cubicBezTo>
                  <a:pt x="13809" y="10335"/>
                  <a:pt x="14211" y="6345"/>
                  <a:pt x="16766" y="3790"/>
                </a:cubicBezTo>
                <a:lnTo>
                  <a:pt x="22278" y="-1723"/>
                </a:lnTo>
                <a:cubicBezTo>
                  <a:pt x="24833" y="-4278"/>
                  <a:pt x="28824" y="-4680"/>
                  <a:pt x="31838" y="-2670"/>
                </a:cubicBezTo>
                <a:lnTo>
                  <a:pt x="41886" y="4019"/>
                </a:lnTo>
                <a:cubicBezTo>
                  <a:pt x="44614" y="2900"/>
                  <a:pt x="47513" y="2096"/>
                  <a:pt x="50470" y="1694"/>
                </a:cubicBezTo>
                <a:lnTo>
                  <a:pt x="55810" y="-9101"/>
                </a:lnTo>
                <a:cubicBezTo>
                  <a:pt x="57418" y="-12345"/>
                  <a:pt x="61064" y="-13981"/>
                  <a:pt x="64566" y="-13063"/>
                </a:cubicBezTo>
                <a:close/>
                <a:moveTo>
                  <a:pt x="55236" y="24116"/>
                </a:moveTo>
                <a:cubicBezTo>
                  <a:pt x="48264" y="24116"/>
                  <a:pt x="42604" y="29776"/>
                  <a:pt x="42604" y="36747"/>
                </a:cubicBezTo>
                <a:cubicBezTo>
                  <a:pt x="42604" y="43719"/>
                  <a:pt x="48264" y="49379"/>
                  <a:pt x="55236" y="49379"/>
                </a:cubicBezTo>
                <a:cubicBezTo>
                  <a:pt x="62208" y="49379"/>
                  <a:pt x="67868" y="43719"/>
                  <a:pt x="67868" y="36747"/>
                </a:cubicBezTo>
                <a:cubicBezTo>
                  <a:pt x="67868" y="29776"/>
                  <a:pt x="62208" y="24116"/>
                  <a:pt x="55236" y="2411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6"/>
          <p:cNvSpPr/>
          <p:nvPr/>
        </p:nvSpPr>
        <p:spPr>
          <a:xfrm>
            <a:off x="6489249" y="1216750"/>
            <a:ext cx="531613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Панель Pipeline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305512" y="1547478"/>
            <a:ext cx="5422296" cy="1576059"/>
          </a:xfrm>
          <a:custGeom>
            <a:avLst/>
            <a:gdLst/>
            <a:ahLst/>
            <a:cxnLst/>
            <a:rect l="l" t="t" r="r" b="b"/>
            <a:pathLst>
              <a:path w="5422296" h="1576059">
                <a:moveTo>
                  <a:pt x="65328" y="0"/>
                </a:moveTo>
                <a:lnTo>
                  <a:pt x="5356968" y="0"/>
                </a:lnTo>
                <a:cubicBezTo>
                  <a:pt x="5393048" y="0"/>
                  <a:pt x="5422296" y="29248"/>
                  <a:pt x="5422296" y="65328"/>
                </a:cubicBezTo>
                <a:lnTo>
                  <a:pt x="5422296" y="1510731"/>
                </a:lnTo>
                <a:cubicBezTo>
                  <a:pt x="5422296" y="1546811"/>
                  <a:pt x="5393048" y="1576059"/>
                  <a:pt x="5356968" y="1576059"/>
                </a:cubicBezTo>
                <a:lnTo>
                  <a:pt x="65328" y="1576059"/>
                </a:lnTo>
                <a:cubicBezTo>
                  <a:pt x="29248" y="1576059"/>
                  <a:pt x="0" y="1546811"/>
                  <a:pt x="0" y="1510731"/>
                </a:cubicBezTo>
                <a:lnTo>
                  <a:pt x="0" y="65328"/>
                </a:lnTo>
                <a:cubicBezTo>
                  <a:pt x="0" y="29272"/>
                  <a:pt x="29272" y="0"/>
                  <a:pt x="653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2" name="Image 2" descr="https://kimi-img.moonshot.cn/pub/slides/okc/vygivbcw43b7q/pipeline.png"/>
          <p:cNvPicPr>
            <a:picLocks noChangeAspect="1"/>
          </p:cNvPicPr>
          <p:nvPr/>
        </p:nvPicPr>
        <p:blipFill>
          <a:blip r:embed="rId5"/>
          <a:srcRect t="20916" b="20916"/>
          <a:stretch/>
        </p:blipFill>
        <p:spPr>
          <a:xfrm>
            <a:off x="6309595" y="1551561"/>
            <a:ext cx="5414130" cy="1567893"/>
          </a:xfrm>
          <a:prstGeom prst="roundRect">
            <a:avLst>
              <a:gd name="adj" fmla="val 4167"/>
            </a:avLst>
          </a:prstGeom>
        </p:spPr>
      </p:pic>
      <p:sp>
        <p:nvSpPr>
          <p:cNvPr id="23" name="Text 18"/>
          <p:cNvSpPr/>
          <p:nvPr/>
        </p:nvSpPr>
        <p:spPr>
          <a:xfrm>
            <a:off x="6301429" y="3225613"/>
            <a:ext cx="548762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Загрузка видео:</a:t>
            </a: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поддержка MP4, AVI, MKV, MOV. Автоопределение типа (direct/handheld).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01429" y="3454264"/>
            <a:ext cx="548762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Мониторинг:</a:t>
            </a: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реалтайм прогресс обработки через WebSocket, статус VLM-сервера.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166688" y="3907483"/>
            <a:ext cx="5699944" cy="2719314"/>
          </a:xfrm>
          <a:custGeom>
            <a:avLst/>
            <a:gdLst/>
            <a:ahLst/>
            <a:cxnLst/>
            <a:rect l="l" t="t" r="r" b="b"/>
            <a:pathLst>
              <a:path w="5699944" h="2719314">
                <a:moveTo>
                  <a:pt x="65318" y="0"/>
                </a:moveTo>
                <a:lnTo>
                  <a:pt x="5634626" y="0"/>
                </a:lnTo>
                <a:cubicBezTo>
                  <a:pt x="5670700" y="0"/>
                  <a:pt x="5699944" y="29244"/>
                  <a:pt x="5699944" y="65318"/>
                </a:cubicBezTo>
                <a:lnTo>
                  <a:pt x="5699944" y="2653996"/>
                </a:lnTo>
                <a:cubicBezTo>
                  <a:pt x="5699944" y="2690070"/>
                  <a:pt x="5670700" y="2719314"/>
                  <a:pt x="5634626" y="2719314"/>
                </a:cubicBezTo>
                <a:lnTo>
                  <a:pt x="65318" y="2719314"/>
                </a:lnTo>
                <a:cubicBezTo>
                  <a:pt x="29244" y="2719314"/>
                  <a:pt x="0" y="2690070"/>
                  <a:pt x="0" y="2653996"/>
                </a:cubicBezTo>
                <a:lnTo>
                  <a:pt x="0" y="65318"/>
                </a:lnTo>
                <a:cubicBezTo>
                  <a:pt x="0" y="29268"/>
                  <a:pt x="29268" y="0"/>
                  <a:pt x="6531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21844" y="4083054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9187" y="9187"/>
                </a:moveTo>
                <a:cubicBezTo>
                  <a:pt x="14268" y="9187"/>
                  <a:pt x="18374" y="13292"/>
                  <a:pt x="18374" y="18374"/>
                </a:cubicBezTo>
                <a:lnTo>
                  <a:pt x="18374" y="114836"/>
                </a:lnTo>
                <a:cubicBezTo>
                  <a:pt x="18374" y="117362"/>
                  <a:pt x="20441" y="119429"/>
                  <a:pt x="22967" y="119429"/>
                </a:cubicBezTo>
                <a:lnTo>
                  <a:pt x="137803" y="119429"/>
                </a:lnTo>
                <a:cubicBezTo>
                  <a:pt x="142885" y="119429"/>
                  <a:pt x="146990" y="123535"/>
                  <a:pt x="146990" y="128616"/>
                </a:cubicBezTo>
                <a:cubicBezTo>
                  <a:pt x="146990" y="133698"/>
                  <a:pt x="142885" y="137803"/>
                  <a:pt x="137803" y="137803"/>
                </a:cubicBezTo>
                <a:lnTo>
                  <a:pt x="22967" y="137803"/>
                </a:lnTo>
                <a:cubicBezTo>
                  <a:pt x="10278" y="137803"/>
                  <a:pt x="0" y="127525"/>
                  <a:pt x="0" y="114836"/>
                </a:cubicBezTo>
                <a:lnTo>
                  <a:pt x="0" y="18374"/>
                </a:lnTo>
                <a:cubicBezTo>
                  <a:pt x="0" y="13292"/>
                  <a:pt x="4105" y="9187"/>
                  <a:pt x="9187" y="9187"/>
                </a:cubicBezTo>
                <a:close/>
                <a:moveTo>
                  <a:pt x="36747" y="27561"/>
                </a:moveTo>
                <a:cubicBezTo>
                  <a:pt x="36747" y="22479"/>
                  <a:pt x="40853" y="18374"/>
                  <a:pt x="45934" y="18374"/>
                </a:cubicBezTo>
                <a:lnTo>
                  <a:pt x="101056" y="18374"/>
                </a:lnTo>
                <a:cubicBezTo>
                  <a:pt x="106137" y="18374"/>
                  <a:pt x="110242" y="22479"/>
                  <a:pt x="110242" y="27561"/>
                </a:cubicBezTo>
                <a:cubicBezTo>
                  <a:pt x="110242" y="32642"/>
                  <a:pt x="106137" y="36747"/>
                  <a:pt x="101056" y="36747"/>
                </a:cubicBezTo>
                <a:lnTo>
                  <a:pt x="45934" y="36747"/>
                </a:lnTo>
                <a:cubicBezTo>
                  <a:pt x="40853" y="36747"/>
                  <a:pt x="36747" y="32642"/>
                  <a:pt x="36747" y="27561"/>
                </a:cubicBezTo>
                <a:close/>
                <a:moveTo>
                  <a:pt x="45934" y="50528"/>
                </a:moveTo>
                <a:lnTo>
                  <a:pt x="82682" y="50528"/>
                </a:lnTo>
                <a:cubicBezTo>
                  <a:pt x="87763" y="50528"/>
                  <a:pt x="91869" y="54633"/>
                  <a:pt x="91869" y="59715"/>
                </a:cubicBezTo>
                <a:cubicBezTo>
                  <a:pt x="91869" y="64796"/>
                  <a:pt x="87763" y="68902"/>
                  <a:pt x="82682" y="68902"/>
                </a:cubicBezTo>
                <a:lnTo>
                  <a:pt x="45934" y="68902"/>
                </a:lnTo>
                <a:cubicBezTo>
                  <a:pt x="40853" y="68902"/>
                  <a:pt x="36747" y="64796"/>
                  <a:pt x="36747" y="59715"/>
                </a:cubicBezTo>
                <a:cubicBezTo>
                  <a:pt x="36747" y="54633"/>
                  <a:pt x="40853" y="50528"/>
                  <a:pt x="45934" y="50528"/>
                </a:cubicBezTo>
                <a:close/>
                <a:moveTo>
                  <a:pt x="45934" y="82682"/>
                </a:moveTo>
                <a:lnTo>
                  <a:pt x="119429" y="82682"/>
                </a:lnTo>
                <a:cubicBezTo>
                  <a:pt x="124511" y="82682"/>
                  <a:pt x="128616" y="86787"/>
                  <a:pt x="128616" y="91869"/>
                </a:cubicBezTo>
                <a:cubicBezTo>
                  <a:pt x="128616" y="96950"/>
                  <a:pt x="124511" y="101056"/>
                  <a:pt x="119429" y="101056"/>
                </a:cubicBezTo>
                <a:lnTo>
                  <a:pt x="45934" y="101056"/>
                </a:lnTo>
                <a:cubicBezTo>
                  <a:pt x="40853" y="101056"/>
                  <a:pt x="36747" y="96950"/>
                  <a:pt x="36747" y="91869"/>
                </a:cubicBezTo>
                <a:cubicBezTo>
                  <a:pt x="36747" y="86787"/>
                  <a:pt x="40853" y="82682"/>
                  <a:pt x="45934" y="8268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2"/>
          <p:cNvSpPr/>
          <p:nvPr/>
        </p:nvSpPr>
        <p:spPr>
          <a:xfrm>
            <a:off x="6489249" y="4042224"/>
            <a:ext cx="531613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Результаты обработки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305512" y="4372951"/>
            <a:ext cx="5422296" cy="1576059"/>
          </a:xfrm>
          <a:custGeom>
            <a:avLst/>
            <a:gdLst/>
            <a:ahLst/>
            <a:cxnLst/>
            <a:rect l="l" t="t" r="r" b="b"/>
            <a:pathLst>
              <a:path w="5422296" h="1576059">
                <a:moveTo>
                  <a:pt x="65328" y="0"/>
                </a:moveTo>
                <a:lnTo>
                  <a:pt x="5356968" y="0"/>
                </a:lnTo>
                <a:cubicBezTo>
                  <a:pt x="5393048" y="0"/>
                  <a:pt x="5422296" y="29248"/>
                  <a:pt x="5422296" y="65328"/>
                </a:cubicBezTo>
                <a:lnTo>
                  <a:pt x="5422296" y="1510731"/>
                </a:lnTo>
                <a:cubicBezTo>
                  <a:pt x="5422296" y="1546811"/>
                  <a:pt x="5393048" y="1576059"/>
                  <a:pt x="5356968" y="1576059"/>
                </a:cubicBezTo>
                <a:lnTo>
                  <a:pt x="65328" y="1576059"/>
                </a:lnTo>
                <a:cubicBezTo>
                  <a:pt x="29248" y="1576059"/>
                  <a:pt x="0" y="1546811"/>
                  <a:pt x="0" y="1510731"/>
                </a:cubicBezTo>
                <a:lnTo>
                  <a:pt x="0" y="65328"/>
                </a:lnTo>
                <a:cubicBezTo>
                  <a:pt x="0" y="29272"/>
                  <a:pt x="29272" y="0"/>
                  <a:pt x="653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9" name="Image 3" descr="https://kimi-img.moonshot.cn/pub/slides/okc/vygivbcw43b7q/results.png"/>
          <p:cNvPicPr>
            <a:picLocks noChangeAspect="1"/>
          </p:cNvPicPr>
          <p:nvPr/>
        </p:nvPicPr>
        <p:blipFill>
          <a:blip r:embed="rId6"/>
          <a:srcRect t="20709" b="20709"/>
          <a:stretch/>
        </p:blipFill>
        <p:spPr>
          <a:xfrm>
            <a:off x="6309595" y="4377034"/>
            <a:ext cx="5414130" cy="1567893"/>
          </a:xfrm>
          <a:prstGeom prst="roundRect">
            <a:avLst>
              <a:gd name="adj" fmla="val 4167"/>
            </a:avLst>
          </a:prstGeom>
        </p:spPr>
      </p:pic>
      <p:sp>
        <p:nvSpPr>
          <p:cNvPr id="30" name="Text 24"/>
          <p:cNvSpPr/>
          <p:nvPr/>
        </p:nvSpPr>
        <p:spPr>
          <a:xfrm>
            <a:off x="6301429" y="6051086"/>
            <a:ext cx="548762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XML-отчёт:</a:t>
            </a: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просмотр сгенерированного XML с подсветкой синтаксиса, формат .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301429" y="6279737"/>
            <a:ext cx="548762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Доставка:</a:t>
            </a: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отправка зашифрованного XML на почту, вкладка с метриками оценки.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164" y="378580"/>
            <a:ext cx="68833" cy="275331"/>
          </a:xfrm>
          <a:custGeom>
            <a:avLst/>
            <a:gdLst/>
            <a:ahLst/>
            <a:cxnLst/>
            <a:rect l="l" t="t" r="r" b="b"/>
            <a:pathLst>
              <a:path w="68833" h="275331">
                <a:moveTo>
                  <a:pt x="34416" y="0"/>
                </a:moveTo>
                <a:lnTo>
                  <a:pt x="34416" y="0"/>
                </a:lnTo>
                <a:cubicBezTo>
                  <a:pt x="53424" y="0"/>
                  <a:pt x="68833" y="15409"/>
                  <a:pt x="68833" y="34416"/>
                </a:cubicBezTo>
                <a:lnTo>
                  <a:pt x="68833" y="240915"/>
                </a:lnTo>
                <a:cubicBezTo>
                  <a:pt x="68833" y="259922"/>
                  <a:pt x="53424" y="275331"/>
                  <a:pt x="34416" y="275331"/>
                </a:cubicBezTo>
                <a:lnTo>
                  <a:pt x="34416" y="275331"/>
                </a:lnTo>
                <a:cubicBezTo>
                  <a:pt x="15409" y="275331"/>
                  <a:pt x="0" y="259922"/>
                  <a:pt x="0" y="240915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16246" y="344164"/>
            <a:ext cx="2133815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QR-инфодиод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6246" y="757160"/>
            <a:ext cx="11409028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Дополнительное задание: кодирование данных в QR-код для air-gapped передачи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466" y="1140042"/>
            <a:ext cx="5670097" cy="1789651"/>
          </a:xfrm>
          <a:custGeom>
            <a:avLst/>
            <a:gdLst/>
            <a:ahLst/>
            <a:cxnLst/>
            <a:rect l="l" t="t" r="r" b="b"/>
            <a:pathLst>
              <a:path w="5670097" h="1789651">
                <a:moveTo>
                  <a:pt x="68830" y="0"/>
                </a:moveTo>
                <a:lnTo>
                  <a:pt x="5601267" y="0"/>
                </a:lnTo>
                <a:cubicBezTo>
                  <a:pt x="5639281" y="0"/>
                  <a:pt x="5670097" y="30816"/>
                  <a:pt x="5670097" y="68830"/>
                </a:cubicBezTo>
                <a:lnTo>
                  <a:pt x="5670097" y="1720821"/>
                </a:lnTo>
                <a:cubicBezTo>
                  <a:pt x="5670097" y="1758835"/>
                  <a:pt x="5639281" y="1789651"/>
                  <a:pt x="5601267" y="1789651"/>
                </a:cubicBezTo>
                <a:lnTo>
                  <a:pt x="68830" y="1789651"/>
                </a:lnTo>
                <a:cubicBezTo>
                  <a:pt x="30816" y="1789651"/>
                  <a:pt x="0" y="1758835"/>
                  <a:pt x="0" y="1720821"/>
                </a:cubicBezTo>
                <a:lnTo>
                  <a:pt x="0" y="68830"/>
                </a:lnTo>
                <a:cubicBezTo>
                  <a:pt x="0" y="30842"/>
                  <a:pt x="30842" y="0"/>
                  <a:pt x="6883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0433" y="1282010"/>
            <a:ext cx="546359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Процесс кодирования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4735" y="1630476"/>
            <a:ext cx="851805" cy="490433"/>
          </a:xfrm>
          <a:custGeom>
            <a:avLst/>
            <a:gdLst/>
            <a:ahLst/>
            <a:cxnLst/>
            <a:rect l="l" t="t" r="r" b="b"/>
            <a:pathLst>
              <a:path w="851805" h="490433">
                <a:moveTo>
                  <a:pt x="68832" y="0"/>
                </a:moveTo>
                <a:lnTo>
                  <a:pt x="782973" y="0"/>
                </a:lnTo>
                <a:cubicBezTo>
                  <a:pt x="820988" y="0"/>
                  <a:pt x="851805" y="30817"/>
                  <a:pt x="851805" y="68832"/>
                </a:cubicBezTo>
                <a:lnTo>
                  <a:pt x="851805" y="421601"/>
                </a:lnTo>
                <a:cubicBezTo>
                  <a:pt x="851805" y="459591"/>
                  <a:pt x="820962" y="490433"/>
                  <a:pt x="782973" y="490433"/>
                </a:cubicBezTo>
                <a:lnTo>
                  <a:pt x="68832" y="490433"/>
                </a:lnTo>
                <a:cubicBezTo>
                  <a:pt x="30817" y="490433"/>
                  <a:pt x="0" y="459616"/>
                  <a:pt x="0" y="421601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048" y="1720819"/>
            <a:ext cx="135514" cy="154874"/>
          </a:xfrm>
          <a:custGeom>
            <a:avLst/>
            <a:gdLst/>
            <a:ahLst/>
            <a:cxnLst/>
            <a:rect l="l" t="t" r="r" b="b"/>
            <a:pathLst>
              <a:path w="135514" h="154874">
                <a:moveTo>
                  <a:pt x="135514" y="62252"/>
                </a:moveTo>
                <a:cubicBezTo>
                  <a:pt x="131038" y="65216"/>
                  <a:pt x="125895" y="67606"/>
                  <a:pt x="120541" y="69512"/>
                </a:cubicBezTo>
                <a:cubicBezTo>
                  <a:pt x="106324" y="74593"/>
                  <a:pt x="87661" y="77437"/>
                  <a:pt x="67757" y="77437"/>
                </a:cubicBezTo>
                <a:cubicBezTo>
                  <a:pt x="47854" y="77437"/>
                  <a:pt x="29160" y="74563"/>
                  <a:pt x="14973" y="69512"/>
                </a:cubicBezTo>
                <a:cubicBezTo>
                  <a:pt x="9649" y="67606"/>
                  <a:pt x="4477" y="65216"/>
                  <a:pt x="0" y="62252"/>
                </a:cubicBezTo>
                <a:lnTo>
                  <a:pt x="0" y="87116"/>
                </a:lnTo>
                <a:cubicBezTo>
                  <a:pt x="0" y="100486"/>
                  <a:pt x="30340" y="111315"/>
                  <a:pt x="67757" y="111315"/>
                </a:cubicBezTo>
                <a:cubicBezTo>
                  <a:pt x="105175" y="111315"/>
                  <a:pt x="135514" y="100486"/>
                  <a:pt x="135514" y="87116"/>
                </a:cubicBezTo>
                <a:lnTo>
                  <a:pt x="135514" y="62252"/>
                </a:lnTo>
                <a:close/>
                <a:moveTo>
                  <a:pt x="135514" y="38718"/>
                </a:moveTo>
                <a:lnTo>
                  <a:pt x="135514" y="24199"/>
                </a:lnTo>
                <a:cubicBezTo>
                  <a:pt x="135514" y="10829"/>
                  <a:pt x="105175" y="0"/>
                  <a:pt x="67757" y="0"/>
                </a:cubicBezTo>
                <a:cubicBezTo>
                  <a:pt x="30340" y="0"/>
                  <a:pt x="0" y="10829"/>
                  <a:pt x="0" y="24199"/>
                </a:cubicBezTo>
                <a:lnTo>
                  <a:pt x="0" y="38718"/>
                </a:lnTo>
                <a:cubicBezTo>
                  <a:pt x="0" y="52088"/>
                  <a:pt x="30340" y="62917"/>
                  <a:pt x="67757" y="62917"/>
                </a:cubicBezTo>
                <a:cubicBezTo>
                  <a:pt x="105175" y="62917"/>
                  <a:pt x="135514" y="52088"/>
                  <a:pt x="135514" y="38718"/>
                </a:cubicBezTo>
                <a:close/>
                <a:moveTo>
                  <a:pt x="120541" y="117910"/>
                </a:moveTo>
                <a:cubicBezTo>
                  <a:pt x="106355" y="122961"/>
                  <a:pt x="87691" y="125835"/>
                  <a:pt x="67757" y="125835"/>
                </a:cubicBezTo>
                <a:cubicBezTo>
                  <a:pt x="47823" y="125835"/>
                  <a:pt x="29160" y="122961"/>
                  <a:pt x="14973" y="117910"/>
                </a:cubicBezTo>
                <a:cubicBezTo>
                  <a:pt x="9649" y="116004"/>
                  <a:pt x="4477" y="113614"/>
                  <a:pt x="0" y="110650"/>
                </a:cubicBezTo>
                <a:lnTo>
                  <a:pt x="0" y="130675"/>
                </a:lnTo>
                <a:cubicBezTo>
                  <a:pt x="0" y="144045"/>
                  <a:pt x="30340" y="154874"/>
                  <a:pt x="67757" y="154874"/>
                </a:cubicBezTo>
                <a:cubicBezTo>
                  <a:pt x="105175" y="154874"/>
                  <a:pt x="135514" y="144045"/>
                  <a:pt x="135514" y="130675"/>
                </a:cubicBezTo>
                <a:lnTo>
                  <a:pt x="135514" y="110650"/>
                </a:lnTo>
                <a:cubicBezTo>
                  <a:pt x="131038" y="113614"/>
                  <a:pt x="125895" y="116004"/>
                  <a:pt x="120541" y="11791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2058" y="1910109"/>
            <a:ext cx="757160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3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36749" y="1824068"/>
            <a:ext cx="103249" cy="103249"/>
          </a:xfrm>
          <a:custGeom>
            <a:avLst/>
            <a:gdLst/>
            <a:ahLst/>
            <a:cxnLst/>
            <a:rect l="l" t="t" r="r" b="b"/>
            <a:pathLst>
              <a:path w="103249" h="103249">
                <a:moveTo>
                  <a:pt x="101354" y="56182"/>
                </a:moveTo>
                <a:cubicBezTo>
                  <a:pt x="103874" y="53661"/>
                  <a:pt x="103874" y="49568"/>
                  <a:pt x="101354" y="47047"/>
                </a:cubicBezTo>
                <a:lnTo>
                  <a:pt x="69088" y="14782"/>
                </a:lnTo>
                <a:cubicBezTo>
                  <a:pt x="66567" y="12261"/>
                  <a:pt x="62474" y="12261"/>
                  <a:pt x="59953" y="14782"/>
                </a:cubicBezTo>
                <a:cubicBezTo>
                  <a:pt x="57432" y="17302"/>
                  <a:pt x="57432" y="21396"/>
                  <a:pt x="59953" y="23917"/>
                </a:cubicBezTo>
                <a:lnTo>
                  <a:pt x="81208" y="45171"/>
                </a:lnTo>
                <a:lnTo>
                  <a:pt x="6453" y="45171"/>
                </a:lnTo>
                <a:cubicBezTo>
                  <a:pt x="2884" y="45171"/>
                  <a:pt x="0" y="48055"/>
                  <a:pt x="0" y="51625"/>
                </a:cubicBezTo>
                <a:cubicBezTo>
                  <a:pt x="0" y="55194"/>
                  <a:pt x="2884" y="58078"/>
                  <a:pt x="6453" y="58078"/>
                </a:cubicBezTo>
                <a:lnTo>
                  <a:pt x="81208" y="58078"/>
                </a:lnTo>
                <a:lnTo>
                  <a:pt x="59953" y="79332"/>
                </a:lnTo>
                <a:cubicBezTo>
                  <a:pt x="57432" y="81853"/>
                  <a:pt x="57432" y="85947"/>
                  <a:pt x="59953" y="88468"/>
                </a:cubicBezTo>
                <a:cubicBezTo>
                  <a:pt x="62474" y="90988"/>
                  <a:pt x="66567" y="90988"/>
                  <a:pt x="69088" y="88468"/>
                </a:cubicBezTo>
                <a:lnTo>
                  <a:pt x="101354" y="562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1626039" y="1630476"/>
            <a:ext cx="860409" cy="490433"/>
          </a:xfrm>
          <a:custGeom>
            <a:avLst/>
            <a:gdLst/>
            <a:ahLst/>
            <a:cxnLst/>
            <a:rect l="l" t="t" r="r" b="b"/>
            <a:pathLst>
              <a:path w="860409" h="490433">
                <a:moveTo>
                  <a:pt x="68832" y="0"/>
                </a:moveTo>
                <a:lnTo>
                  <a:pt x="791577" y="0"/>
                </a:lnTo>
                <a:cubicBezTo>
                  <a:pt x="829592" y="0"/>
                  <a:pt x="860409" y="30817"/>
                  <a:pt x="860409" y="68832"/>
                </a:cubicBezTo>
                <a:lnTo>
                  <a:pt x="860409" y="421601"/>
                </a:lnTo>
                <a:cubicBezTo>
                  <a:pt x="860409" y="459591"/>
                  <a:pt x="829567" y="490433"/>
                  <a:pt x="791577" y="490433"/>
                </a:cubicBezTo>
                <a:lnTo>
                  <a:pt x="68832" y="490433"/>
                </a:lnTo>
                <a:cubicBezTo>
                  <a:pt x="30817" y="490433"/>
                  <a:pt x="0" y="459616"/>
                  <a:pt x="0" y="421601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8487" y="1720819"/>
            <a:ext cx="135514" cy="154874"/>
          </a:xfrm>
          <a:custGeom>
            <a:avLst/>
            <a:gdLst/>
            <a:ahLst/>
            <a:cxnLst/>
            <a:rect l="l" t="t" r="r" b="b"/>
            <a:pathLst>
              <a:path w="135514" h="154874">
                <a:moveTo>
                  <a:pt x="48398" y="19359"/>
                </a:moveTo>
                <a:cubicBezTo>
                  <a:pt x="48398" y="14005"/>
                  <a:pt x="44072" y="9680"/>
                  <a:pt x="38718" y="9680"/>
                </a:cubicBezTo>
                <a:cubicBezTo>
                  <a:pt x="33364" y="9680"/>
                  <a:pt x="29039" y="14005"/>
                  <a:pt x="29039" y="19359"/>
                </a:cubicBezTo>
                <a:lnTo>
                  <a:pt x="29039" y="38718"/>
                </a:lnTo>
                <a:lnTo>
                  <a:pt x="9680" y="38718"/>
                </a:lnTo>
                <a:cubicBezTo>
                  <a:pt x="4326" y="38718"/>
                  <a:pt x="0" y="43044"/>
                  <a:pt x="0" y="48398"/>
                </a:cubicBezTo>
                <a:cubicBezTo>
                  <a:pt x="0" y="53752"/>
                  <a:pt x="4326" y="58078"/>
                  <a:pt x="9680" y="58078"/>
                </a:cubicBezTo>
                <a:lnTo>
                  <a:pt x="38718" y="58078"/>
                </a:lnTo>
                <a:cubicBezTo>
                  <a:pt x="44072" y="58078"/>
                  <a:pt x="48398" y="53752"/>
                  <a:pt x="48398" y="48398"/>
                </a:cubicBezTo>
                <a:lnTo>
                  <a:pt x="48398" y="19359"/>
                </a:lnTo>
                <a:close/>
                <a:moveTo>
                  <a:pt x="9680" y="96796"/>
                </a:moveTo>
                <a:cubicBezTo>
                  <a:pt x="4326" y="96796"/>
                  <a:pt x="0" y="101122"/>
                  <a:pt x="0" y="106476"/>
                </a:cubicBezTo>
                <a:cubicBezTo>
                  <a:pt x="0" y="111830"/>
                  <a:pt x="4326" y="116155"/>
                  <a:pt x="9680" y="116155"/>
                </a:cubicBezTo>
                <a:lnTo>
                  <a:pt x="29039" y="116155"/>
                </a:lnTo>
                <a:lnTo>
                  <a:pt x="29039" y="135514"/>
                </a:lnTo>
                <a:cubicBezTo>
                  <a:pt x="29039" y="140868"/>
                  <a:pt x="33364" y="145194"/>
                  <a:pt x="38718" y="145194"/>
                </a:cubicBezTo>
                <a:cubicBezTo>
                  <a:pt x="44072" y="145194"/>
                  <a:pt x="48398" y="140868"/>
                  <a:pt x="48398" y="135514"/>
                </a:cubicBezTo>
                <a:lnTo>
                  <a:pt x="48398" y="106476"/>
                </a:lnTo>
                <a:cubicBezTo>
                  <a:pt x="48398" y="101122"/>
                  <a:pt x="44072" y="96796"/>
                  <a:pt x="38718" y="96796"/>
                </a:cubicBezTo>
                <a:lnTo>
                  <a:pt x="9680" y="96796"/>
                </a:lnTo>
                <a:close/>
                <a:moveTo>
                  <a:pt x="106476" y="19359"/>
                </a:moveTo>
                <a:cubicBezTo>
                  <a:pt x="106476" y="14005"/>
                  <a:pt x="102150" y="9680"/>
                  <a:pt x="96796" y="9680"/>
                </a:cubicBezTo>
                <a:cubicBezTo>
                  <a:pt x="91442" y="9680"/>
                  <a:pt x="87116" y="14005"/>
                  <a:pt x="87116" y="19359"/>
                </a:cubicBezTo>
                <a:lnTo>
                  <a:pt x="87116" y="48398"/>
                </a:lnTo>
                <a:cubicBezTo>
                  <a:pt x="87116" y="53752"/>
                  <a:pt x="91442" y="58078"/>
                  <a:pt x="96796" y="58078"/>
                </a:cubicBezTo>
                <a:lnTo>
                  <a:pt x="125835" y="58078"/>
                </a:lnTo>
                <a:cubicBezTo>
                  <a:pt x="131189" y="58078"/>
                  <a:pt x="135514" y="53752"/>
                  <a:pt x="135514" y="48398"/>
                </a:cubicBezTo>
                <a:cubicBezTo>
                  <a:pt x="135514" y="43044"/>
                  <a:pt x="131189" y="38718"/>
                  <a:pt x="125835" y="38718"/>
                </a:cubicBezTo>
                <a:lnTo>
                  <a:pt x="106476" y="38718"/>
                </a:lnTo>
                <a:lnTo>
                  <a:pt x="106476" y="19359"/>
                </a:lnTo>
                <a:close/>
                <a:moveTo>
                  <a:pt x="96796" y="96796"/>
                </a:moveTo>
                <a:cubicBezTo>
                  <a:pt x="91442" y="96796"/>
                  <a:pt x="87116" y="101122"/>
                  <a:pt x="87116" y="106476"/>
                </a:cubicBezTo>
                <a:lnTo>
                  <a:pt x="87116" y="135514"/>
                </a:lnTo>
                <a:cubicBezTo>
                  <a:pt x="87116" y="140868"/>
                  <a:pt x="91442" y="145194"/>
                  <a:pt x="96796" y="145194"/>
                </a:cubicBezTo>
                <a:cubicBezTo>
                  <a:pt x="102150" y="145194"/>
                  <a:pt x="106476" y="140868"/>
                  <a:pt x="106476" y="135514"/>
                </a:cubicBezTo>
                <a:lnTo>
                  <a:pt x="106476" y="116155"/>
                </a:lnTo>
                <a:lnTo>
                  <a:pt x="125835" y="116155"/>
                </a:lnTo>
                <a:cubicBezTo>
                  <a:pt x="131189" y="116155"/>
                  <a:pt x="135514" y="111830"/>
                  <a:pt x="135514" y="106476"/>
                </a:cubicBezTo>
                <a:cubicBezTo>
                  <a:pt x="135514" y="101122"/>
                  <a:pt x="131189" y="96796"/>
                  <a:pt x="125835" y="96796"/>
                </a:cubicBezTo>
                <a:lnTo>
                  <a:pt x="96796" y="9679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673362" y="1910109"/>
            <a:ext cx="765764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3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msgpack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8187" y="1824068"/>
            <a:ext cx="103249" cy="103249"/>
          </a:xfrm>
          <a:custGeom>
            <a:avLst/>
            <a:gdLst/>
            <a:ahLst/>
            <a:cxnLst/>
            <a:rect l="l" t="t" r="r" b="b"/>
            <a:pathLst>
              <a:path w="103249" h="103249">
                <a:moveTo>
                  <a:pt x="101354" y="56182"/>
                </a:moveTo>
                <a:cubicBezTo>
                  <a:pt x="103874" y="53661"/>
                  <a:pt x="103874" y="49568"/>
                  <a:pt x="101354" y="47047"/>
                </a:cubicBezTo>
                <a:lnTo>
                  <a:pt x="69088" y="14782"/>
                </a:lnTo>
                <a:cubicBezTo>
                  <a:pt x="66567" y="12261"/>
                  <a:pt x="62474" y="12261"/>
                  <a:pt x="59953" y="14782"/>
                </a:cubicBezTo>
                <a:cubicBezTo>
                  <a:pt x="57432" y="17302"/>
                  <a:pt x="57432" y="21396"/>
                  <a:pt x="59953" y="23917"/>
                </a:cubicBezTo>
                <a:lnTo>
                  <a:pt x="81208" y="45171"/>
                </a:lnTo>
                <a:lnTo>
                  <a:pt x="6453" y="45171"/>
                </a:lnTo>
                <a:cubicBezTo>
                  <a:pt x="2884" y="45171"/>
                  <a:pt x="0" y="48055"/>
                  <a:pt x="0" y="51625"/>
                </a:cubicBezTo>
                <a:cubicBezTo>
                  <a:pt x="0" y="55194"/>
                  <a:pt x="2884" y="58078"/>
                  <a:pt x="6453" y="58078"/>
                </a:cubicBezTo>
                <a:lnTo>
                  <a:pt x="81208" y="58078"/>
                </a:lnTo>
                <a:lnTo>
                  <a:pt x="59953" y="79332"/>
                </a:lnTo>
                <a:cubicBezTo>
                  <a:pt x="57432" y="81853"/>
                  <a:pt x="57432" y="85947"/>
                  <a:pt x="59953" y="88468"/>
                </a:cubicBezTo>
                <a:cubicBezTo>
                  <a:pt x="62474" y="90988"/>
                  <a:pt x="66567" y="90988"/>
                  <a:pt x="69088" y="88468"/>
                </a:cubicBezTo>
                <a:lnTo>
                  <a:pt x="101354" y="562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7477" y="1630476"/>
            <a:ext cx="851805" cy="490433"/>
          </a:xfrm>
          <a:custGeom>
            <a:avLst/>
            <a:gdLst/>
            <a:ahLst/>
            <a:cxnLst/>
            <a:rect l="l" t="t" r="r" b="b"/>
            <a:pathLst>
              <a:path w="851805" h="490433">
                <a:moveTo>
                  <a:pt x="68832" y="0"/>
                </a:moveTo>
                <a:lnTo>
                  <a:pt x="782973" y="0"/>
                </a:lnTo>
                <a:cubicBezTo>
                  <a:pt x="820988" y="0"/>
                  <a:pt x="851805" y="30817"/>
                  <a:pt x="851805" y="68832"/>
                </a:cubicBezTo>
                <a:lnTo>
                  <a:pt x="851805" y="421601"/>
                </a:lnTo>
                <a:cubicBezTo>
                  <a:pt x="851805" y="459591"/>
                  <a:pt x="820962" y="490433"/>
                  <a:pt x="782973" y="490433"/>
                </a:cubicBezTo>
                <a:lnTo>
                  <a:pt x="68832" y="490433"/>
                </a:lnTo>
                <a:cubicBezTo>
                  <a:pt x="30817" y="490433"/>
                  <a:pt x="0" y="459616"/>
                  <a:pt x="0" y="421601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10111" y="1720819"/>
            <a:ext cx="154874" cy="154874"/>
          </a:xfrm>
          <a:custGeom>
            <a:avLst/>
            <a:gdLst/>
            <a:ahLst/>
            <a:cxnLst/>
            <a:rect l="l" t="t" r="r" b="b"/>
            <a:pathLst>
              <a:path w="154874" h="154874">
                <a:moveTo>
                  <a:pt x="19934" y="69118"/>
                </a:moveTo>
                <a:cubicBezTo>
                  <a:pt x="23957" y="40987"/>
                  <a:pt x="48186" y="19359"/>
                  <a:pt x="77437" y="19359"/>
                </a:cubicBezTo>
                <a:cubicBezTo>
                  <a:pt x="93469" y="19359"/>
                  <a:pt x="107988" y="25863"/>
                  <a:pt x="118515" y="36359"/>
                </a:cubicBezTo>
                <a:cubicBezTo>
                  <a:pt x="118575" y="36420"/>
                  <a:pt x="118636" y="36480"/>
                  <a:pt x="118696" y="36541"/>
                </a:cubicBezTo>
                <a:lnTo>
                  <a:pt x="120995" y="38718"/>
                </a:lnTo>
                <a:lnTo>
                  <a:pt x="106506" y="38718"/>
                </a:lnTo>
                <a:cubicBezTo>
                  <a:pt x="101152" y="38718"/>
                  <a:pt x="96826" y="43044"/>
                  <a:pt x="96826" y="48398"/>
                </a:cubicBezTo>
                <a:cubicBezTo>
                  <a:pt x="96826" y="53752"/>
                  <a:pt x="101152" y="58078"/>
                  <a:pt x="106506" y="58078"/>
                </a:cubicBezTo>
                <a:lnTo>
                  <a:pt x="145224" y="58078"/>
                </a:lnTo>
                <a:cubicBezTo>
                  <a:pt x="150578" y="58078"/>
                  <a:pt x="154904" y="53752"/>
                  <a:pt x="154904" y="48398"/>
                </a:cubicBezTo>
                <a:lnTo>
                  <a:pt x="154904" y="9680"/>
                </a:lnTo>
                <a:cubicBezTo>
                  <a:pt x="154904" y="4326"/>
                  <a:pt x="150578" y="0"/>
                  <a:pt x="145224" y="0"/>
                </a:cubicBezTo>
                <a:cubicBezTo>
                  <a:pt x="139870" y="0"/>
                  <a:pt x="135545" y="4326"/>
                  <a:pt x="135545" y="9680"/>
                </a:cubicBezTo>
                <a:lnTo>
                  <a:pt x="135545" y="25832"/>
                </a:lnTo>
                <a:lnTo>
                  <a:pt x="132127" y="22596"/>
                </a:lnTo>
                <a:cubicBezTo>
                  <a:pt x="118121" y="8651"/>
                  <a:pt x="98762" y="0"/>
                  <a:pt x="77437" y="0"/>
                </a:cubicBezTo>
                <a:cubicBezTo>
                  <a:pt x="38416" y="0"/>
                  <a:pt x="6140" y="28857"/>
                  <a:pt x="786" y="66396"/>
                </a:cubicBezTo>
                <a:cubicBezTo>
                  <a:pt x="30" y="71690"/>
                  <a:pt x="3690" y="76590"/>
                  <a:pt x="8984" y="77346"/>
                </a:cubicBezTo>
                <a:cubicBezTo>
                  <a:pt x="14277" y="78102"/>
                  <a:pt x="19178" y="74412"/>
                  <a:pt x="19934" y="69149"/>
                </a:cubicBezTo>
                <a:close/>
                <a:moveTo>
                  <a:pt x="154087" y="88478"/>
                </a:moveTo>
                <a:cubicBezTo>
                  <a:pt x="154843" y="83184"/>
                  <a:pt x="151153" y="78284"/>
                  <a:pt x="145890" y="77528"/>
                </a:cubicBezTo>
                <a:cubicBezTo>
                  <a:pt x="140627" y="76771"/>
                  <a:pt x="135696" y="80462"/>
                  <a:pt x="134940" y="85725"/>
                </a:cubicBezTo>
                <a:cubicBezTo>
                  <a:pt x="130917" y="113856"/>
                  <a:pt x="106687" y="135484"/>
                  <a:pt x="77437" y="135484"/>
                </a:cubicBezTo>
                <a:cubicBezTo>
                  <a:pt x="61405" y="135484"/>
                  <a:pt x="46886" y="128981"/>
                  <a:pt x="36359" y="118484"/>
                </a:cubicBezTo>
                <a:cubicBezTo>
                  <a:pt x="36299" y="118424"/>
                  <a:pt x="36238" y="118363"/>
                  <a:pt x="36178" y="118303"/>
                </a:cubicBezTo>
                <a:lnTo>
                  <a:pt x="33879" y="116125"/>
                </a:lnTo>
                <a:lnTo>
                  <a:pt x="48368" y="116125"/>
                </a:lnTo>
                <a:cubicBezTo>
                  <a:pt x="53722" y="116125"/>
                  <a:pt x="58047" y="111799"/>
                  <a:pt x="58047" y="106445"/>
                </a:cubicBezTo>
                <a:cubicBezTo>
                  <a:pt x="58047" y="101091"/>
                  <a:pt x="53722" y="96766"/>
                  <a:pt x="48368" y="96766"/>
                </a:cubicBezTo>
                <a:lnTo>
                  <a:pt x="9680" y="96796"/>
                </a:lnTo>
                <a:cubicBezTo>
                  <a:pt x="7108" y="96796"/>
                  <a:pt x="4628" y="97825"/>
                  <a:pt x="2813" y="99670"/>
                </a:cubicBezTo>
                <a:cubicBezTo>
                  <a:pt x="998" y="101515"/>
                  <a:pt x="-30" y="103965"/>
                  <a:pt x="0" y="106566"/>
                </a:cubicBezTo>
                <a:lnTo>
                  <a:pt x="302" y="144982"/>
                </a:lnTo>
                <a:cubicBezTo>
                  <a:pt x="333" y="150336"/>
                  <a:pt x="4719" y="154632"/>
                  <a:pt x="10073" y="154571"/>
                </a:cubicBezTo>
                <a:cubicBezTo>
                  <a:pt x="15427" y="154511"/>
                  <a:pt x="19722" y="150155"/>
                  <a:pt x="19662" y="144801"/>
                </a:cubicBezTo>
                <a:lnTo>
                  <a:pt x="19541" y="129223"/>
                </a:lnTo>
                <a:lnTo>
                  <a:pt x="22777" y="132278"/>
                </a:lnTo>
                <a:cubicBezTo>
                  <a:pt x="36782" y="146223"/>
                  <a:pt x="56111" y="154874"/>
                  <a:pt x="77437" y="154874"/>
                </a:cubicBezTo>
                <a:cubicBezTo>
                  <a:pt x="116458" y="154874"/>
                  <a:pt x="148733" y="126016"/>
                  <a:pt x="154087" y="884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804800" y="1910109"/>
            <a:ext cx="757160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3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zlib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99491" y="1824068"/>
            <a:ext cx="103249" cy="103249"/>
          </a:xfrm>
          <a:custGeom>
            <a:avLst/>
            <a:gdLst/>
            <a:ahLst/>
            <a:cxnLst/>
            <a:rect l="l" t="t" r="r" b="b"/>
            <a:pathLst>
              <a:path w="103249" h="103249">
                <a:moveTo>
                  <a:pt x="101354" y="56182"/>
                </a:moveTo>
                <a:cubicBezTo>
                  <a:pt x="103874" y="53661"/>
                  <a:pt x="103874" y="49568"/>
                  <a:pt x="101354" y="47047"/>
                </a:cubicBezTo>
                <a:lnTo>
                  <a:pt x="69088" y="14782"/>
                </a:lnTo>
                <a:cubicBezTo>
                  <a:pt x="66567" y="12261"/>
                  <a:pt x="62474" y="12261"/>
                  <a:pt x="59953" y="14782"/>
                </a:cubicBezTo>
                <a:cubicBezTo>
                  <a:pt x="57432" y="17302"/>
                  <a:pt x="57432" y="21396"/>
                  <a:pt x="59953" y="23917"/>
                </a:cubicBezTo>
                <a:lnTo>
                  <a:pt x="81208" y="45171"/>
                </a:lnTo>
                <a:lnTo>
                  <a:pt x="6453" y="45171"/>
                </a:lnTo>
                <a:cubicBezTo>
                  <a:pt x="2884" y="45171"/>
                  <a:pt x="0" y="48055"/>
                  <a:pt x="0" y="51625"/>
                </a:cubicBezTo>
                <a:cubicBezTo>
                  <a:pt x="0" y="55194"/>
                  <a:pt x="2884" y="58078"/>
                  <a:pt x="6453" y="58078"/>
                </a:cubicBezTo>
                <a:lnTo>
                  <a:pt x="81208" y="58078"/>
                </a:lnTo>
                <a:lnTo>
                  <a:pt x="59953" y="79332"/>
                </a:lnTo>
                <a:cubicBezTo>
                  <a:pt x="57432" y="81853"/>
                  <a:pt x="57432" y="85947"/>
                  <a:pt x="59953" y="88468"/>
                </a:cubicBezTo>
                <a:cubicBezTo>
                  <a:pt x="62474" y="90988"/>
                  <a:pt x="66567" y="90988"/>
                  <a:pt x="69088" y="88468"/>
                </a:cubicBezTo>
                <a:lnTo>
                  <a:pt x="101354" y="562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3888781" y="1630476"/>
            <a:ext cx="851805" cy="490433"/>
          </a:xfrm>
          <a:custGeom>
            <a:avLst/>
            <a:gdLst/>
            <a:ahLst/>
            <a:cxnLst/>
            <a:rect l="l" t="t" r="r" b="b"/>
            <a:pathLst>
              <a:path w="851805" h="490433">
                <a:moveTo>
                  <a:pt x="68832" y="0"/>
                </a:moveTo>
                <a:lnTo>
                  <a:pt x="782973" y="0"/>
                </a:lnTo>
                <a:cubicBezTo>
                  <a:pt x="820988" y="0"/>
                  <a:pt x="851805" y="30817"/>
                  <a:pt x="851805" y="68832"/>
                </a:cubicBezTo>
                <a:lnTo>
                  <a:pt x="851805" y="421601"/>
                </a:lnTo>
                <a:cubicBezTo>
                  <a:pt x="851805" y="459591"/>
                  <a:pt x="820962" y="490433"/>
                  <a:pt x="782973" y="490433"/>
                </a:cubicBezTo>
                <a:lnTo>
                  <a:pt x="68832" y="490433"/>
                </a:lnTo>
                <a:cubicBezTo>
                  <a:pt x="30817" y="490433"/>
                  <a:pt x="0" y="459616"/>
                  <a:pt x="0" y="421601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31735" y="1720819"/>
            <a:ext cx="174233" cy="154874"/>
          </a:xfrm>
          <a:custGeom>
            <a:avLst/>
            <a:gdLst/>
            <a:ahLst/>
            <a:cxnLst/>
            <a:rect l="l" t="t" r="r" b="b"/>
            <a:pathLst>
              <a:path w="174233" h="154874">
                <a:moveTo>
                  <a:pt x="109138" y="363"/>
                </a:moveTo>
                <a:cubicBezTo>
                  <a:pt x="103995" y="-1119"/>
                  <a:pt x="98641" y="1875"/>
                  <a:pt x="97159" y="7018"/>
                </a:cubicBezTo>
                <a:lnTo>
                  <a:pt x="58441" y="142532"/>
                </a:lnTo>
                <a:cubicBezTo>
                  <a:pt x="56958" y="147674"/>
                  <a:pt x="59953" y="153029"/>
                  <a:pt x="65095" y="154511"/>
                </a:cubicBezTo>
                <a:cubicBezTo>
                  <a:pt x="70238" y="155993"/>
                  <a:pt x="75592" y="152998"/>
                  <a:pt x="77074" y="147856"/>
                </a:cubicBezTo>
                <a:lnTo>
                  <a:pt x="115792" y="12341"/>
                </a:lnTo>
                <a:cubicBezTo>
                  <a:pt x="117274" y="7199"/>
                  <a:pt x="114280" y="1845"/>
                  <a:pt x="109138" y="363"/>
                </a:cubicBezTo>
                <a:close/>
                <a:moveTo>
                  <a:pt x="128678" y="41532"/>
                </a:moveTo>
                <a:cubicBezTo>
                  <a:pt x="124897" y="45313"/>
                  <a:pt x="124897" y="51453"/>
                  <a:pt x="128678" y="55234"/>
                </a:cubicBezTo>
                <a:lnTo>
                  <a:pt x="150881" y="77437"/>
                </a:lnTo>
                <a:lnTo>
                  <a:pt x="128678" y="99639"/>
                </a:lnTo>
                <a:cubicBezTo>
                  <a:pt x="124897" y="103421"/>
                  <a:pt x="124897" y="109561"/>
                  <a:pt x="128678" y="113342"/>
                </a:cubicBezTo>
                <a:cubicBezTo>
                  <a:pt x="132459" y="117123"/>
                  <a:pt x="138600" y="117123"/>
                  <a:pt x="142381" y="113342"/>
                </a:cubicBezTo>
                <a:lnTo>
                  <a:pt x="171420" y="84303"/>
                </a:lnTo>
                <a:cubicBezTo>
                  <a:pt x="175201" y="80522"/>
                  <a:pt x="175201" y="74382"/>
                  <a:pt x="171420" y="70601"/>
                </a:cubicBezTo>
                <a:lnTo>
                  <a:pt x="142381" y="41562"/>
                </a:lnTo>
                <a:cubicBezTo>
                  <a:pt x="138600" y="37781"/>
                  <a:pt x="132459" y="37781"/>
                  <a:pt x="128678" y="41562"/>
                </a:cubicBezTo>
                <a:close/>
                <a:moveTo>
                  <a:pt x="45585" y="41532"/>
                </a:moveTo>
                <a:cubicBezTo>
                  <a:pt x="41804" y="37750"/>
                  <a:pt x="35663" y="37750"/>
                  <a:pt x="31882" y="41532"/>
                </a:cubicBezTo>
                <a:lnTo>
                  <a:pt x="2843" y="70570"/>
                </a:lnTo>
                <a:cubicBezTo>
                  <a:pt x="-938" y="74351"/>
                  <a:pt x="-938" y="80492"/>
                  <a:pt x="2843" y="84273"/>
                </a:cubicBezTo>
                <a:lnTo>
                  <a:pt x="31882" y="113312"/>
                </a:lnTo>
                <a:cubicBezTo>
                  <a:pt x="35663" y="117093"/>
                  <a:pt x="41804" y="117093"/>
                  <a:pt x="45585" y="113312"/>
                </a:cubicBezTo>
                <a:cubicBezTo>
                  <a:pt x="49366" y="109531"/>
                  <a:pt x="49366" y="103390"/>
                  <a:pt x="45585" y="99609"/>
                </a:cubicBezTo>
                <a:lnTo>
                  <a:pt x="23382" y="77437"/>
                </a:lnTo>
                <a:lnTo>
                  <a:pt x="45555" y="55234"/>
                </a:lnTo>
                <a:cubicBezTo>
                  <a:pt x="49336" y="51453"/>
                  <a:pt x="49336" y="45313"/>
                  <a:pt x="45555" y="4153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6104" y="1910109"/>
            <a:ext cx="757160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3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base64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30795" y="1824068"/>
            <a:ext cx="103249" cy="103249"/>
          </a:xfrm>
          <a:custGeom>
            <a:avLst/>
            <a:gdLst/>
            <a:ahLst/>
            <a:cxnLst/>
            <a:rect l="l" t="t" r="r" b="b"/>
            <a:pathLst>
              <a:path w="103249" h="103249">
                <a:moveTo>
                  <a:pt x="101354" y="56182"/>
                </a:moveTo>
                <a:cubicBezTo>
                  <a:pt x="103874" y="53661"/>
                  <a:pt x="103874" y="49568"/>
                  <a:pt x="101354" y="47047"/>
                </a:cubicBezTo>
                <a:lnTo>
                  <a:pt x="69088" y="14782"/>
                </a:lnTo>
                <a:cubicBezTo>
                  <a:pt x="66567" y="12261"/>
                  <a:pt x="62474" y="12261"/>
                  <a:pt x="59953" y="14782"/>
                </a:cubicBezTo>
                <a:cubicBezTo>
                  <a:pt x="57432" y="17302"/>
                  <a:pt x="57432" y="21396"/>
                  <a:pt x="59953" y="23917"/>
                </a:cubicBezTo>
                <a:lnTo>
                  <a:pt x="81208" y="45171"/>
                </a:lnTo>
                <a:lnTo>
                  <a:pt x="6453" y="45171"/>
                </a:lnTo>
                <a:cubicBezTo>
                  <a:pt x="2884" y="45171"/>
                  <a:pt x="0" y="48055"/>
                  <a:pt x="0" y="51625"/>
                </a:cubicBezTo>
                <a:cubicBezTo>
                  <a:pt x="0" y="55194"/>
                  <a:pt x="2884" y="58078"/>
                  <a:pt x="6453" y="58078"/>
                </a:cubicBezTo>
                <a:lnTo>
                  <a:pt x="81208" y="58078"/>
                </a:lnTo>
                <a:lnTo>
                  <a:pt x="59953" y="79332"/>
                </a:lnTo>
                <a:cubicBezTo>
                  <a:pt x="57432" y="81853"/>
                  <a:pt x="57432" y="85947"/>
                  <a:pt x="59953" y="88468"/>
                </a:cubicBezTo>
                <a:cubicBezTo>
                  <a:pt x="62474" y="90988"/>
                  <a:pt x="66567" y="90988"/>
                  <a:pt x="69088" y="88468"/>
                </a:cubicBezTo>
                <a:lnTo>
                  <a:pt x="101354" y="562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0085" y="1630476"/>
            <a:ext cx="851805" cy="490433"/>
          </a:xfrm>
          <a:custGeom>
            <a:avLst/>
            <a:gdLst/>
            <a:ahLst/>
            <a:cxnLst/>
            <a:rect l="l" t="t" r="r" b="b"/>
            <a:pathLst>
              <a:path w="851805" h="490433">
                <a:moveTo>
                  <a:pt x="68832" y="0"/>
                </a:moveTo>
                <a:lnTo>
                  <a:pt x="782973" y="0"/>
                </a:lnTo>
                <a:cubicBezTo>
                  <a:pt x="820988" y="0"/>
                  <a:pt x="851805" y="30817"/>
                  <a:pt x="851805" y="68832"/>
                </a:cubicBezTo>
                <a:lnTo>
                  <a:pt x="851805" y="421601"/>
                </a:lnTo>
                <a:cubicBezTo>
                  <a:pt x="851805" y="459591"/>
                  <a:pt x="820962" y="490433"/>
                  <a:pt x="782973" y="490433"/>
                </a:cubicBezTo>
                <a:lnTo>
                  <a:pt x="68832" y="490433"/>
                </a:lnTo>
                <a:cubicBezTo>
                  <a:pt x="30817" y="490433"/>
                  <a:pt x="0" y="459616"/>
                  <a:pt x="0" y="421601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82398" y="1720819"/>
            <a:ext cx="135514" cy="154874"/>
          </a:xfrm>
          <a:custGeom>
            <a:avLst/>
            <a:gdLst/>
            <a:ahLst/>
            <a:cxnLst/>
            <a:rect l="l" t="t" r="r" b="b"/>
            <a:pathLst>
              <a:path w="135514" h="154874">
                <a:moveTo>
                  <a:pt x="19359" y="48398"/>
                </a:moveTo>
                <a:lnTo>
                  <a:pt x="38718" y="48398"/>
                </a:lnTo>
                <a:lnTo>
                  <a:pt x="38718" y="29039"/>
                </a:lnTo>
                <a:lnTo>
                  <a:pt x="19359" y="29039"/>
                </a:lnTo>
                <a:lnTo>
                  <a:pt x="19359" y="48398"/>
                </a:lnTo>
                <a:close/>
                <a:moveTo>
                  <a:pt x="0" y="24199"/>
                </a:moveTo>
                <a:cubicBezTo>
                  <a:pt x="0" y="16183"/>
                  <a:pt x="6503" y="9680"/>
                  <a:pt x="14519" y="9680"/>
                </a:cubicBezTo>
                <a:lnTo>
                  <a:pt x="43558" y="9680"/>
                </a:lnTo>
                <a:cubicBezTo>
                  <a:pt x="51574" y="9680"/>
                  <a:pt x="58078" y="16183"/>
                  <a:pt x="58078" y="24199"/>
                </a:cubicBezTo>
                <a:lnTo>
                  <a:pt x="58078" y="53238"/>
                </a:lnTo>
                <a:cubicBezTo>
                  <a:pt x="58078" y="61254"/>
                  <a:pt x="51574" y="67757"/>
                  <a:pt x="43558" y="67757"/>
                </a:cubicBezTo>
                <a:lnTo>
                  <a:pt x="14519" y="67757"/>
                </a:lnTo>
                <a:cubicBezTo>
                  <a:pt x="6503" y="67757"/>
                  <a:pt x="0" y="61254"/>
                  <a:pt x="0" y="53238"/>
                </a:cubicBezTo>
                <a:lnTo>
                  <a:pt x="0" y="24199"/>
                </a:lnTo>
                <a:close/>
                <a:moveTo>
                  <a:pt x="19359" y="125835"/>
                </a:moveTo>
                <a:lnTo>
                  <a:pt x="38718" y="125835"/>
                </a:lnTo>
                <a:lnTo>
                  <a:pt x="38718" y="106476"/>
                </a:lnTo>
                <a:lnTo>
                  <a:pt x="19359" y="106476"/>
                </a:lnTo>
                <a:lnTo>
                  <a:pt x="19359" y="125835"/>
                </a:lnTo>
                <a:close/>
                <a:moveTo>
                  <a:pt x="0" y="101636"/>
                </a:moveTo>
                <a:cubicBezTo>
                  <a:pt x="0" y="93620"/>
                  <a:pt x="6503" y="87116"/>
                  <a:pt x="14519" y="87116"/>
                </a:cubicBezTo>
                <a:lnTo>
                  <a:pt x="43558" y="87116"/>
                </a:lnTo>
                <a:cubicBezTo>
                  <a:pt x="51574" y="87116"/>
                  <a:pt x="58078" y="93620"/>
                  <a:pt x="58078" y="101636"/>
                </a:cubicBezTo>
                <a:lnTo>
                  <a:pt x="58078" y="130675"/>
                </a:lnTo>
                <a:cubicBezTo>
                  <a:pt x="58078" y="138691"/>
                  <a:pt x="51574" y="145194"/>
                  <a:pt x="43558" y="145194"/>
                </a:cubicBezTo>
                <a:lnTo>
                  <a:pt x="14519" y="145194"/>
                </a:lnTo>
                <a:cubicBezTo>
                  <a:pt x="6503" y="145194"/>
                  <a:pt x="0" y="138691"/>
                  <a:pt x="0" y="130675"/>
                </a:cubicBezTo>
                <a:lnTo>
                  <a:pt x="0" y="101636"/>
                </a:lnTo>
                <a:close/>
                <a:moveTo>
                  <a:pt x="96796" y="29039"/>
                </a:moveTo>
                <a:lnTo>
                  <a:pt x="96796" y="48398"/>
                </a:lnTo>
                <a:lnTo>
                  <a:pt x="116155" y="48398"/>
                </a:lnTo>
                <a:lnTo>
                  <a:pt x="116155" y="29039"/>
                </a:lnTo>
                <a:lnTo>
                  <a:pt x="96796" y="29039"/>
                </a:lnTo>
                <a:close/>
                <a:moveTo>
                  <a:pt x="91956" y="9680"/>
                </a:moveTo>
                <a:lnTo>
                  <a:pt x="120995" y="9680"/>
                </a:lnTo>
                <a:cubicBezTo>
                  <a:pt x="129011" y="9680"/>
                  <a:pt x="135514" y="16183"/>
                  <a:pt x="135514" y="24199"/>
                </a:cubicBezTo>
                <a:lnTo>
                  <a:pt x="135514" y="53238"/>
                </a:lnTo>
                <a:cubicBezTo>
                  <a:pt x="135514" y="61254"/>
                  <a:pt x="129011" y="67757"/>
                  <a:pt x="120995" y="67757"/>
                </a:cubicBezTo>
                <a:lnTo>
                  <a:pt x="91956" y="67757"/>
                </a:lnTo>
                <a:cubicBezTo>
                  <a:pt x="83940" y="67757"/>
                  <a:pt x="77437" y="61254"/>
                  <a:pt x="77437" y="53238"/>
                </a:cubicBezTo>
                <a:lnTo>
                  <a:pt x="77437" y="24199"/>
                </a:lnTo>
                <a:cubicBezTo>
                  <a:pt x="77437" y="16183"/>
                  <a:pt x="83940" y="9680"/>
                  <a:pt x="91956" y="9680"/>
                </a:cubicBezTo>
                <a:close/>
                <a:moveTo>
                  <a:pt x="87116" y="106476"/>
                </a:moveTo>
                <a:cubicBezTo>
                  <a:pt x="81774" y="106476"/>
                  <a:pt x="77437" y="102138"/>
                  <a:pt x="77437" y="96796"/>
                </a:cubicBezTo>
                <a:cubicBezTo>
                  <a:pt x="77437" y="91454"/>
                  <a:pt x="81774" y="87116"/>
                  <a:pt x="87116" y="87116"/>
                </a:cubicBezTo>
                <a:cubicBezTo>
                  <a:pt x="92459" y="87116"/>
                  <a:pt x="96796" y="91454"/>
                  <a:pt x="96796" y="96796"/>
                </a:cubicBezTo>
                <a:cubicBezTo>
                  <a:pt x="96796" y="102138"/>
                  <a:pt x="92459" y="106476"/>
                  <a:pt x="87116" y="106476"/>
                </a:cubicBezTo>
                <a:close/>
                <a:moveTo>
                  <a:pt x="87116" y="125835"/>
                </a:moveTo>
                <a:cubicBezTo>
                  <a:pt x="92470" y="125835"/>
                  <a:pt x="96796" y="130160"/>
                  <a:pt x="96796" y="135514"/>
                </a:cubicBezTo>
                <a:cubicBezTo>
                  <a:pt x="96796" y="140868"/>
                  <a:pt x="92470" y="145194"/>
                  <a:pt x="87116" y="145194"/>
                </a:cubicBezTo>
                <a:cubicBezTo>
                  <a:pt x="81762" y="145194"/>
                  <a:pt x="77437" y="140868"/>
                  <a:pt x="77437" y="135514"/>
                </a:cubicBezTo>
                <a:cubicBezTo>
                  <a:pt x="77437" y="130160"/>
                  <a:pt x="81762" y="125835"/>
                  <a:pt x="87116" y="125835"/>
                </a:cubicBezTo>
                <a:close/>
                <a:moveTo>
                  <a:pt x="116155" y="135514"/>
                </a:moveTo>
                <a:cubicBezTo>
                  <a:pt x="116155" y="130160"/>
                  <a:pt x="120481" y="125835"/>
                  <a:pt x="125835" y="125835"/>
                </a:cubicBezTo>
                <a:cubicBezTo>
                  <a:pt x="131189" y="125835"/>
                  <a:pt x="135514" y="130160"/>
                  <a:pt x="135514" y="135514"/>
                </a:cubicBezTo>
                <a:cubicBezTo>
                  <a:pt x="135514" y="140868"/>
                  <a:pt x="131189" y="145194"/>
                  <a:pt x="125835" y="145194"/>
                </a:cubicBezTo>
                <a:cubicBezTo>
                  <a:pt x="120481" y="145194"/>
                  <a:pt x="116155" y="140868"/>
                  <a:pt x="116155" y="135514"/>
                </a:cubicBezTo>
                <a:close/>
                <a:moveTo>
                  <a:pt x="125835" y="106476"/>
                </a:moveTo>
                <a:cubicBezTo>
                  <a:pt x="120493" y="106476"/>
                  <a:pt x="116155" y="102138"/>
                  <a:pt x="116155" y="96796"/>
                </a:cubicBezTo>
                <a:cubicBezTo>
                  <a:pt x="116155" y="91454"/>
                  <a:pt x="120493" y="87116"/>
                  <a:pt x="125835" y="87116"/>
                </a:cubicBezTo>
                <a:cubicBezTo>
                  <a:pt x="131177" y="87116"/>
                  <a:pt x="135514" y="91454"/>
                  <a:pt x="135514" y="96796"/>
                </a:cubicBezTo>
                <a:cubicBezTo>
                  <a:pt x="135514" y="102138"/>
                  <a:pt x="131177" y="106476"/>
                  <a:pt x="125835" y="106476"/>
                </a:cubicBezTo>
                <a:close/>
                <a:moveTo>
                  <a:pt x="116155" y="116155"/>
                </a:moveTo>
                <a:cubicBezTo>
                  <a:pt x="116155" y="121498"/>
                  <a:pt x="111818" y="125835"/>
                  <a:pt x="106476" y="125835"/>
                </a:cubicBezTo>
                <a:cubicBezTo>
                  <a:pt x="101133" y="125835"/>
                  <a:pt x="96796" y="121498"/>
                  <a:pt x="96796" y="116155"/>
                </a:cubicBezTo>
                <a:cubicBezTo>
                  <a:pt x="96796" y="110813"/>
                  <a:pt x="101133" y="106476"/>
                  <a:pt x="106476" y="106476"/>
                </a:cubicBezTo>
                <a:cubicBezTo>
                  <a:pt x="111818" y="106476"/>
                  <a:pt x="116155" y="110813"/>
                  <a:pt x="116155" y="11615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067408" y="1910109"/>
            <a:ext cx="757160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3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 v40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4735" y="2232762"/>
            <a:ext cx="5377558" cy="550662"/>
          </a:xfrm>
          <a:custGeom>
            <a:avLst/>
            <a:gdLst/>
            <a:ahLst/>
            <a:cxnLst/>
            <a:rect l="l" t="t" r="r" b="b"/>
            <a:pathLst>
              <a:path w="5377558" h="550662">
                <a:moveTo>
                  <a:pt x="68833" y="0"/>
                </a:moveTo>
                <a:lnTo>
                  <a:pt x="5308725" y="0"/>
                </a:lnTo>
                <a:cubicBezTo>
                  <a:pt x="5346741" y="0"/>
                  <a:pt x="5377558" y="30817"/>
                  <a:pt x="5377558" y="68833"/>
                </a:cubicBezTo>
                <a:lnTo>
                  <a:pt x="5377558" y="481829"/>
                </a:lnTo>
                <a:cubicBezTo>
                  <a:pt x="5377558" y="519844"/>
                  <a:pt x="5346741" y="550662"/>
                  <a:pt x="5308725" y="550662"/>
                </a:cubicBezTo>
                <a:lnTo>
                  <a:pt x="68833" y="550662"/>
                </a:lnTo>
                <a:cubicBezTo>
                  <a:pt x="30817" y="550662"/>
                  <a:pt x="0" y="519844"/>
                  <a:pt x="0" y="481829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287" y="2340313"/>
            <a:ext cx="5214080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Каждый снапшот данных (500мс) кодируется в </a:t>
            </a:r>
            <a:r>
              <a:rPr lang="en-US" sz="81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QR-код версии 40</a:t>
            </a: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(177×177 пикселей) с максимальной плотностью данных. Используется коррекция ошибок L (7%) для максимальной ёмкости.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8466" y="3041547"/>
            <a:ext cx="5670097" cy="3811613"/>
          </a:xfrm>
          <a:custGeom>
            <a:avLst/>
            <a:gdLst/>
            <a:ahLst/>
            <a:cxnLst/>
            <a:rect l="l" t="t" r="r" b="b"/>
            <a:pathLst>
              <a:path w="5670097" h="3811613">
                <a:moveTo>
                  <a:pt x="68838" y="0"/>
                </a:moveTo>
                <a:lnTo>
                  <a:pt x="5601260" y="0"/>
                </a:lnTo>
                <a:cubicBezTo>
                  <a:pt x="5639278" y="0"/>
                  <a:pt x="5670097" y="30820"/>
                  <a:pt x="5670097" y="68838"/>
                </a:cubicBezTo>
                <a:lnTo>
                  <a:pt x="5670097" y="3742776"/>
                </a:lnTo>
                <a:cubicBezTo>
                  <a:pt x="5670097" y="3780794"/>
                  <a:pt x="5639278" y="3811613"/>
                  <a:pt x="5601260" y="3811613"/>
                </a:cubicBezTo>
                <a:lnTo>
                  <a:pt x="68838" y="3811613"/>
                </a:lnTo>
                <a:cubicBezTo>
                  <a:pt x="30820" y="3811613"/>
                  <a:pt x="0" y="3780794"/>
                  <a:pt x="0" y="3742776"/>
                </a:cubicBezTo>
                <a:lnTo>
                  <a:pt x="0" y="68838"/>
                </a:lnTo>
                <a:cubicBezTo>
                  <a:pt x="0" y="30845"/>
                  <a:pt x="30845" y="0"/>
                  <a:pt x="6883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433" y="3183514"/>
            <a:ext cx="546359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Технические характеристики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4735" y="3531980"/>
            <a:ext cx="2632853" cy="765764"/>
          </a:xfrm>
          <a:custGeom>
            <a:avLst/>
            <a:gdLst/>
            <a:ahLst/>
            <a:cxnLst/>
            <a:rect l="l" t="t" r="r" b="b"/>
            <a:pathLst>
              <a:path w="2632853" h="765764">
                <a:moveTo>
                  <a:pt x="68835" y="0"/>
                </a:moveTo>
                <a:lnTo>
                  <a:pt x="2564018" y="0"/>
                </a:lnTo>
                <a:cubicBezTo>
                  <a:pt x="2602009" y="0"/>
                  <a:pt x="2632853" y="30844"/>
                  <a:pt x="2632853" y="68835"/>
                </a:cubicBezTo>
                <a:lnTo>
                  <a:pt x="2632853" y="696930"/>
                </a:lnTo>
                <a:cubicBezTo>
                  <a:pt x="2632853" y="734946"/>
                  <a:pt x="2602034" y="765764"/>
                  <a:pt x="2564018" y="765764"/>
                </a:cubicBezTo>
                <a:lnTo>
                  <a:pt x="68835" y="765764"/>
                </a:lnTo>
                <a:cubicBezTo>
                  <a:pt x="30844" y="765764"/>
                  <a:pt x="0" y="734921"/>
                  <a:pt x="0" y="696930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2287" y="3639531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Формат QR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2287" y="3811613"/>
            <a:ext cx="249518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v40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2287" y="4052528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177×177 пикселей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41323" y="3531980"/>
            <a:ext cx="2632853" cy="765764"/>
          </a:xfrm>
          <a:custGeom>
            <a:avLst/>
            <a:gdLst/>
            <a:ahLst/>
            <a:cxnLst/>
            <a:rect l="l" t="t" r="r" b="b"/>
            <a:pathLst>
              <a:path w="2632853" h="765764">
                <a:moveTo>
                  <a:pt x="68835" y="0"/>
                </a:moveTo>
                <a:lnTo>
                  <a:pt x="2564018" y="0"/>
                </a:lnTo>
                <a:cubicBezTo>
                  <a:pt x="2602009" y="0"/>
                  <a:pt x="2632853" y="30844"/>
                  <a:pt x="2632853" y="68835"/>
                </a:cubicBezTo>
                <a:lnTo>
                  <a:pt x="2632853" y="696930"/>
                </a:lnTo>
                <a:cubicBezTo>
                  <a:pt x="2632853" y="734946"/>
                  <a:pt x="2602034" y="765764"/>
                  <a:pt x="2564018" y="765764"/>
                </a:cubicBezTo>
                <a:lnTo>
                  <a:pt x="68835" y="765764"/>
                </a:lnTo>
                <a:cubicBezTo>
                  <a:pt x="30844" y="765764"/>
                  <a:pt x="0" y="734921"/>
                  <a:pt x="0" y="696930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8874" y="3639531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Ёмкость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48874" y="3811613"/>
            <a:ext cx="249518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4,296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48874" y="4052528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алфавитно-цифровых символов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94735" y="4409598"/>
            <a:ext cx="2632853" cy="628099"/>
          </a:xfrm>
          <a:custGeom>
            <a:avLst/>
            <a:gdLst/>
            <a:ahLst/>
            <a:cxnLst/>
            <a:rect l="l" t="t" r="r" b="b"/>
            <a:pathLst>
              <a:path w="2632853" h="628099">
                <a:moveTo>
                  <a:pt x="68833" y="0"/>
                </a:moveTo>
                <a:lnTo>
                  <a:pt x="2564019" y="0"/>
                </a:lnTo>
                <a:cubicBezTo>
                  <a:pt x="2602035" y="0"/>
                  <a:pt x="2632853" y="30818"/>
                  <a:pt x="2632853" y="68833"/>
                </a:cubicBezTo>
                <a:lnTo>
                  <a:pt x="2632853" y="559265"/>
                </a:lnTo>
                <a:cubicBezTo>
                  <a:pt x="2632853" y="597281"/>
                  <a:pt x="2602035" y="628099"/>
                  <a:pt x="2564019" y="628099"/>
                </a:cubicBezTo>
                <a:lnTo>
                  <a:pt x="68833" y="628099"/>
                </a:lnTo>
                <a:cubicBezTo>
                  <a:pt x="30818" y="628099"/>
                  <a:pt x="0" y="597281"/>
                  <a:pt x="0" y="559265"/>
                </a:cubicBezTo>
                <a:lnTo>
                  <a:pt x="0" y="68833"/>
                </a:lnTo>
                <a:cubicBezTo>
                  <a:pt x="0" y="30818"/>
                  <a:pt x="30818" y="0"/>
                  <a:pt x="68833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2287" y="4517149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Период обновления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2287" y="4689231"/>
            <a:ext cx="249518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 мс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41323" y="4409598"/>
            <a:ext cx="2632853" cy="628099"/>
          </a:xfrm>
          <a:custGeom>
            <a:avLst/>
            <a:gdLst/>
            <a:ahLst/>
            <a:cxnLst/>
            <a:rect l="l" t="t" r="r" b="b"/>
            <a:pathLst>
              <a:path w="2632853" h="628099">
                <a:moveTo>
                  <a:pt x="68833" y="0"/>
                </a:moveTo>
                <a:lnTo>
                  <a:pt x="2564019" y="0"/>
                </a:lnTo>
                <a:cubicBezTo>
                  <a:pt x="2602035" y="0"/>
                  <a:pt x="2632853" y="30818"/>
                  <a:pt x="2632853" y="68833"/>
                </a:cubicBezTo>
                <a:lnTo>
                  <a:pt x="2632853" y="559265"/>
                </a:lnTo>
                <a:cubicBezTo>
                  <a:pt x="2632853" y="597281"/>
                  <a:pt x="2602035" y="628099"/>
                  <a:pt x="2564019" y="628099"/>
                </a:cubicBezTo>
                <a:lnTo>
                  <a:pt x="68833" y="628099"/>
                </a:lnTo>
                <a:cubicBezTo>
                  <a:pt x="30818" y="628099"/>
                  <a:pt x="0" y="597281"/>
                  <a:pt x="0" y="559265"/>
                </a:cubicBezTo>
                <a:lnTo>
                  <a:pt x="0" y="68833"/>
                </a:lnTo>
                <a:cubicBezTo>
                  <a:pt x="0" y="30818"/>
                  <a:pt x="30818" y="0"/>
                  <a:pt x="68833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8874" y="4517149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Коррекция ошибок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48874" y="4689231"/>
            <a:ext cx="249518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 (7%)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94735" y="5149550"/>
            <a:ext cx="2632853" cy="765764"/>
          </a:xfrm>
          <a:custGeom>
            <a:avLst/>
            <a:gdLst/>
            <a:ahLst/>
            <a:cxnLst/>
            <a:rect l="l" t="t" r="r" b="b"/>
            <a:pathLst>
              <a:path w="2632853" h="765764">
                <a:moveTo>
                  <a:pt x="68835" y="0"/>
                </a:moveTo>
                <a:lnTo>
                  <a:pt x="2564018" y="0"/>
                </a:lnTo>
                <a:cubicBezTo>
                  <a:pt x="2602009" y="0"/>
                  <a:pt x="2632853" y="30844"/>
                  <a:pt x="2632853" y="68835"/>
                </a:cubicBezTo>
                <a:lnTo>
                  <a:pt x="2632853" y="696930"/>
                </a:lnTo>
                <a:cubicBezTo>
                  <a:pt x="2632853" y="734946"/>
                  <a:pt x="2602034" y="765764"/>
                  <a:pt x="2564018" y="765764"/>
                </a:cubicBezTo>
                <a:lnTo>
                  <a:pt x="68835" y="765764"/>
                </a:lnTo>
                <a:cubicBezTo>
                  <a:pt x="30844" y="765764"/>
                  <a:pt x="0" y="734921"/>
                  <a:pt x="0" y="696930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2287" y="5257101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Размер box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2287" y="5429183"/>
            <a:ext cx="249518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8px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02287" y="5670097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Увеличен для чёткости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41323" y="5149550"/>
            <a:ext cx="2632853" cy="765764"/>
          </a:xfrm>
          <a:custGeom>
            <a:avLst/>
            <a:gdLst/>
            <a:ahLst/>
            <a:cxnLst/>
            <a:rect l="l" t="t" r="r" b="b"/>
            <a:pathLst>
              <a:path w="2632853" h="765764">
                <a:moveTo>
                  <a:pt x="68835" y="0"/>
                </a:moveTo>
                <a:lnTo>
                  <a:pt x="2564018" y="0"/>
                </a:lnTo>
                <a:cubicBezTo>
                  <a:pt x="2602009" y="0"/>
                  <a:pt x="2632853" y="30844"/>
                  <a:pt x="2632853" y="68835"/>
                </a:cubicBezTo>
                <a:lnTo>
                  <a:pt x="2632853" y="696930"/>
                </a:lnTo>
                <a:cubicBezTo>
                  <a:pt x="2632853" y="734946"/>
                  <a:pt x="2602034" y="765764"/>
                  <a:pt x="2564018" y="765764"/>
                </a:cubicBezTo>
                <a:lnTo>
                  <a:pt x="68835" y="765764"/>
                </a:lnTo>
                <a:cubicBezTo>
                  <a:pt x="30844" y="765764"/>
                  <a:pt x="0" y="734921"/>
                  <a:pt x="0" y="696930"/>
                </a:cubicBezTo>
                <a:lnTo>
                  <a:pt x="0" y="68835"/>
                </a:lnTo>
                <a:cubicBezTo>
                  <a:pt x="0" y="30844"/>
                  <a:pt x="30844" y="0"/>
                  <a:pt x="6883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48874" y="5257101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Сжатие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348874" y="5429183"/>
            <a:ext cx="249518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zlib L9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348874" y="5670097"/>
            <a:ext cx="2469375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Максимальное сжатие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8597" y="1140042"/>
            <a:ext cx="5670097" cy="3235139"/>
          </a:xfrm>
          <a:custGeom>
            <a:avLst/>
            <a:gdLst/>
            <a:ahLst/>
            <a:cxnLst/>
            <a:rect l="l" t="t" r="r" b="b"/>
            <a:pathLst>
              <a:path w="5670097" h="3235139">
                <a:moveTo>
                  <a:pt x="68844" y="0"/>
                </a:moveTo>
                <a:lnTo>
                  <a:pt x="5601254" y="0"/>
                </a:lnTo>
                <a:cubicBezTo>
                  <a:pt x="5639275" y="0"/>
                  <a:pt x="5670097" y="30822"/>
                  <a:pt x="5670097" y="68844"/>
                </a:cubicBezTo>
                <a:lnTo>
                  <a:pt x="5670097" y="3166295"/>
                </a:lnTo>
                <a:cubicBezTo>
                  <a:pt x="5670097" y="3204317"/>
                  <a:pt x="5639275" y="3235139"/>
                  <a:pt x="5601254" y="3235139"/>
                </a:cubicBezTo>
                <a:lnTo>
                  <a:pt x="68844" y="3235139"/>
                </a:lnTo>
                <a:cubicBezTo>
                  <a:pt x="30822" y="3235139"/>
                  <a:pt x="0" y="3204317"/>
                  <a:pt x="0" y="3166295"/>
                </a:cubicBezTo>
                <a:lnTo>
                  <a:pt x="0" y="68844"/>
                </a:lnTo>
                <a:cubicBezTo>
                  <a:pt x="0" y="30848"/>
                  <a:pt x="30848" y="0"/>
                  <a:pt x="6884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0565" y="1282010"/>
            <a:ext cx="546359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Наложение на видео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4867" y="1630476"/>
            <a:ext cx="5377558" cy="791577"/>
          </a:xfrm>
          <a:custGeom>
            <a:avLst/>
            <a:gdLst/>
            <a:ahLst/>
            <a:cxnLst/>
            <a:rect l="l" t="t" r="r" b="b"/>
            <a:pathLst>
              <a:path w="5377558" h="791577">
                <a:moveTo>
                  <a:pt x="68835" y="0"/>
                </a:moveTo>
                <a:lnTo>
                  <a:pt x="5308723" y="0"/>
                </a:lnTo>
                <a:cubicBezTo>
                  <a:pt x="5346740" y="0"/>
                  <a:pt x="5377558" y="30819"/>
                  <a:pt x="5377558" y="68835"/>
                </a:cubicBezTo>
                <a:lnTo>
                  <a:pt x="5377558" y="722741"/>
                </a:lnTo>
                <a:cubicBezTo>
                  <a:pt x="5377558" y="760758"/>
                  <a:pt x="5346740" y="791577"/>
                  <a:pt x="5308723" y="791577"/>
                </a:cubicBezTo>
                <a:lnTo>
                  <a:pt x="68835" y="791577"/>
                </a:lnTo>
                <a:cubicBezTo>
                  <a:pt x="30819" y="791577"/>
                  <a:pt x="0" y="760758"/>
                  <a:pt x="0" y="722741"/>
                </a:cubicBezTo>
                <a:lnTo>
                  <a:pt x="0" y="68835"/>
                </a:lnTo>
                <a:cubicBezTo>
                  <a:pt x="0" y="30819"/>
                  <a:pt x="30819" y="0"/>
                  <a:pt x="6883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31022" y="1755235"/>
            <a:ext cx="154874" cy="137665"/>
          </a:xfrm>
          <a:custGeom>
            <a:avLst/>
            <a:gdLst/>
            <a:ahLst/>
            <a:cxnLst/>
            <a:rect l="l" t="t" r="r" b="b"/>
            <a:pathLst>
              <a:path w="154874" h="137665">
                <a:moveTo>
                  <a:pt x="77437" y="-4302"/>
                </a:moveTo>
                <a:cubicBezTo>
                  <a:pt x="82196" y="-4302"/>
                  <a:pt x="86041" y="-457"/>
                  <a:pt x="86041" y="4302"/>
                </a:cubicBezTo>
                <a:lnTo>
                  <a:pt x="86041" y="9223"/>
                </a:lnTo>
                <a:cubicBezTo>
                  <a:pt x="112418" y="12987"/>
                  <a:pt x="133283" y="33852"/>
                  <a:pt x="137047" y="60229"/>
                </a:cubicBezTo>
                <a:lnTo>
                  <a:pt x="141968" y="60229"/>
                </a:lnTo>
                <a:cubicBezTo>
                  <a:pt x="146727" y="60229"/>
                  <a:pt x="150572" y="64074"/>
                  <a:pt x="150572" y="68833"/>
                </a:cubicBezTo>
                <a:cubicBezTo>
                  <a:pt x="150572" y="73592"/>
                  <a:pt x="146727" y="77437"/>
                  <a:pt x="141968" y="77437"/>
                </a:cubicBezTo>
                <a:lnTo>
                  <a:pt x="137047" y="77437"/>
                </a:lnTo>
                <a:cubicBezTo>
                  <a:pt x="133283" y="103814"/>
                  <a:pt x="112418" y="124679"/>
                  <a:pt x="86041" y="128443"/>
                </a:cubicBezTo>
                <a:lnTo>
                  <a:pt x="86041" y="133363"/>
                </a:lnTo>
                <a:cubicBezTo>
                  <a:pt x="86041" y="138123"/>
                  <a:pt x="82196" y="141968"/>
                  <a:pt x="77437" y="141968"/>
                </a:cubicBezTo>
                <a:cubicBezTo>
                  <a:pt x="72678" y="141968"/>
                  <a:pt x="68833" y="138123"/>
                  <a:pt x="68833" y="133363"/>
                </a:cubicBezTo>
                <a:lnTo>
                  <a:pt x="68833" y="128443"/>
                </a:lnTo>
                <a:cubicBezTo>
                  <a:pt x="42456" y="124679"/>
                  <a:pt x="21591" y="103814"/>
                  <a:pt x="17827" y="77437"/>
                </a:cubicBezTo>
                <a:lnTo>
                  <a:pt x="12906" y="77437"/>
                </a:lnTo>
                <a:cubicBezTo>
                  <a:pt x="8147" y="77437"/>
                  <a:pt x="4302" y="73592"/>
                  <a:pt x="4302" y="68833"/>
                </a:cubicBezTo>
                <a:cubicBezTo>
                  <a:pt x="4302" y="64074"/>
                  <a:pt x="8147" y="60229"/>
                  <a:pt x="12906" y="60229"/>
                </a:cubicBezTo>
                <a:lnTo>
                  <a:pt x="17827" y="60229"/>
                </a:lnTo>
                <a:cubicBezTo>
                  <a:pt x="21591" y="33852"/>
                  <a:pt x="42456" y="12987"/>
                  <a:pt x="68833" y="9223"/>
                </a:cubicBezTo>
                <a:lnTo>
                  <a:pt x="68833" y="4302"/>
                </a:lnTo>
                <a:cubicBezTo>
                  <a:pt x="68833" y="-457"/>
                  <a:pt x="72678" y="-4302"/>
                  <a:pt x="77437" y="-4302"/>
                </a:cubicBezTo>
                <a:close/>
                <a:moveTo>
                  <a:pt x="35277" y="77437"/>
                </a:moveTo>
                <a:cubicBezTo>
                  <a:pt x="38692" y="94295"/>
                  <a:pt x="51974" y="107578"/>
                  <a:pt x="68833" y="110993"/>
                </a:cubicBezTo>
                <a:lnTo>
                  <a:pt x="68833" y="107551"/>
                </a:lnTo>
                <a:cubicBezTo>
                  <a:pt x="68833" y="102792"/>
                  <a:pt x="72678" y="98947"/>
                  <a:pt x="77437" y="98947"/>
                </a:cubicBezTo>
                <a:cubicBezTo>
                  <a:pt x="82196" y="98947"/>
                  <a:pt x="86041" y="102792"/>
                  <a:pt x="86041" y="107551"/>
                </a:cubicBezTo>
                <a:lnTo>
                  <a:pt x="86041" y="110993"/>
                </a:lnTo>
                <a:cubicBezTo>
                  <a:pt x="102900" y="107578"/>
                  <a:pt x="116182" y="94295"/>
                  <a:pt x="119597" y="77437"/>
                </a:cubicBezTo>
                <a:lnTo>
                  <a:pt x="116155" y="77437"/>
                </a:lnTo>
                <a:cubicBezTo>
                  <a:pt x="111396" y="77437"/>
                  <a:pt x="107551" y="73592"/>
                  <a:pt x="107551" y="68833"/>
                </a:cubicBezTo>
                <a:cubicBezTo>
                  <a:pt x="107551" y="64074"/>
                  <a:pt x="111396" y="60229"/>
                  <a:pt x="116155" y="60229"/>
                </a:cubicBezTo>
                <a:lnTo>
                  <a:pt x="119597" y="60229"/>
                </a:lnTo>
                <a:cubicBezTo>
                  <a:pt x="116182" y="43370"/>
                  <a:pt x="102900" y="30087"/>
                  <a:pt x="86041" y="26673"/>
                </a:cubicBezTo>
                <a:lnTo>
                  <a:pt x="86041" y="30114"/>
                </a:lnTo>
                <a:cubicBezTo>
                  <a:pt x="86041" y="34873"/>
                  <a:pt x="82196" y="38718"/>
                  <a:pt x="77437" y="38718"/>
                </a:cubicBezTo>
                <a:cubicBezTo>
                  <a:pt x="72678" y="38718"/>
                  <a:pt x="68833" y="34873"/>
                  <a:pt x="68833" y="30114"/>
                </a:cubicBezTo>
                <a:lnTo>
                  <a:pt x="68833" y="26673"/>
                </a:lnTo>
                <a:cubicBezTo>
                  <a:pt x="51974" y="30087"/>
                  <a:pt x="38692" y="43370"/>
                  <a:pt x="35277" y="60229"/>
                </a:cubicBezTo>
                <a:lnTo>
                  <a:pt x="38718" y="60229"/>
                </a:lnTo>
                <a:cubicBezTo>
                  <a:pt x="43478" y="60229"/>
                  <a:pt x="47323" y="64074"/>
                  <a:pt x="47323" y="68833"/>
                </a:cubicBezTo>
                <a:cubicBezTo>
                  <a:pt x="47323" y="73592"/>
                  <a:pt x="43478" y="77437"/>
                  <a:pt x="38718" y="77437"/>
                </a:cubicBezTo>
                <a:lnTo>
                  <a:pt x="35277" y="77437"/>
                </a:lnTo>
                <a:close/>
                <a:moveTo>
                  <a:pt x="77437" y="55927"/>
                </a:moveTo>
                <a:cubicBezTo>
                  <a:pt x="84560" y="55927"/>
                  <a:pt x="90343" y="61710"/>
                  <a:pt x="90343" y="68833"/>
                </a:cubicBezTo>
                <a:cubicBezTo>
                  <a:pt x="90343" y="75956"/>
                  <a:pt x="84560" y="81739"/>
                  <a:pt x="77437" y="81739"/>
                </a:cubicBezTo>
                <a:cubicBezTo>
                  <a:pt x="70314" y="81739"/>
                  <a:pt x="64531" y="75956"/>
                  <a:pt x="64531" y="68833"/>
                </a:cubicBezTo>
                <a:cubicBezTo>
                  <a:pt x="64531" y="61710"/>
                  <a:pt x="70314" y="55927"/>
                  <a:pt x="77437" y="5592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6663332" y="1738027"/>
            <a:ext cx="1789651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Адаптивное позиционирование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22418" y="1978941"/>
            <a:ext cx="5214080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 размещается в области с </a:t>
            </a:r>
            <a:r>
              <a:rPr lang="en-US" sz="81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минимальной вариативностью пикселей</a:t>
            </a: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Анализируется сетка 10×10, выбирается ячейка с минимальной дисперсией.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4867" y="2533905"/>
            <a:ext cx="5377558" cy="791577"/>
          </a:xfrm>
          <a:custGeom>
            <a:avLst/>
            <a:gdLst/>
            <a:ahLst/>
            <a:cxnLst/>
            <a:rect l="l" t="t" r="r" b="b"/>
            <a:pathLst>
              <a:path w="5377558" h="791577">
                <a:moveTo>
                  <a:pt x="68835" y="0"/>
                </a:moveTo>
                <a:lnTo>
                  <a:pt x="5308723" y="0"/>
                </a:lnTo>
                <a:cubicBezTo>
                  <a:pt x="5346740" y="0"/>
                  <a:pt x="5377558" y="30819"/>
                  <a:pt x="5377558" y="68835"/>
                </a:cubicBezTo>
                <a:lnTo>
                  <a:pt x="5377558" y="722741"/>
                </a:lnTo>
                <a:cubicBezTo>
                  <a:pt x="5377558" y="760758"/>
                  <a:pt x="5346740" y="791577"/>
                  <a:pt x="5308723" y="791577"/>
                </a:cubicBezTo>
                <a:lnTo>
                  <a:pt x="68835" y="791577"/>
                </a:lnTo>
                <a:cubicBezTo>
                  <a:pt x="30819" y="791577"/>
                  <a:pt x="0" y="760758"/>
                  <a:pt x="0" y="722741"/>
                </a:cubicBezTo>
                <a:lnTo>
                  <a:pt x="0" y="68835"/>
                </a:lnTo>
                <a:cubicBezTo>
                  <a:pt x="0" y="30819"/>
                  <a:pt x="30819" y="0"/>
                  <a:pt x="6883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39626" y="2658665"/>
            <a:ext cx="137665" cy="137665"/>
          </a:xfrm>
          <a:custGeom>
            <a:avLst/>
            <a:gdLst/>
            <a:ahLst/>
            <a:cxnLst/>
            <a:rect l="l" t="t" r="r" b="b"/>
            <a:pathLst>
              <a:path w="137665" h="137665">
                <a:moveTo>
                  <a:pt x="62514" y="1398"/>
                </a:moveTo>
                <a:cubicBezTo>
                  <a:pt x="66520" y="-457"/>
                  <a:pt x="71145" y="-457"/>
                  <a:pt x="75151" y="1398"/>
                </a:cubicBezTo>
                <a:lnTo>
                  <a:pt x="133928" y="28555"/>
                </a:lnTo>
                <a:cubicBezTo>
                  <a:pt x="136214" y="29603"/>
                  <a:pt x="137665" y="31889"/>
                  <a:pt x="137665" y="34416"/>
                </a:cubicBezTo>
                <a:cubicBezTo>
                  <a:pt x="137665" y="36944"/>
                  <a:pt x="136214" y="39229"/>
                  <a:pt x="133928" y="40278"/>
                </a:cubicBezTo>
                <a:lnTo>
                  <a:pt x="75151" y="67435"/>
                </a:lnTo>
                <a:cubicBezTo>
                  <a:pt x="71145" y="69290"/>
                  <a:pt x="66520" y="69290"/>
                  <a:pt x="62514" y="67435"/>
                </a:cubicBezTo>
                <a:lnTo>
                  <a:pt x="3737" y="40278"/>
                </a:lnTo>
                <a:cubicBezTo>
                  <a:pt x="1452" y="39202"/>
                  <a:pt x="0" y="36917"/>
                  <a:pt x="0" y="34416"/>
                </a:cubicBezTo>
                <a:cubicBezTo>
                  <a:pt x="0" y="31916"/>
                  <a:pt x="1452" y="29603"/>
                  <a:pt x="3737" y="28555"/>
                </a:cubicBezTo>
                <a:lnTo>
                  <a:pt x="62514" y="1398"/>
                </a:lnTo>
                <a:close/>
                <a:moveTo>
                  <a:pt x="12933" y="58723"/>
                </a:moveTo>
                <a:lnTo>
                  <a:pt x="57110" y="79131"/>
                </a:lnTo>
                <a:cubicBezTo>
                  <a:pt x="64558" y="82572"/>
                  <a:pt x="73135" y="82572"/>
                  <a:pt x="80583" y="79131"/>
                </a:cubicBezTo>
                <a:lnTo>
                  <a:pt x="124759" y="58723"/>
                </a:lnTo>
                <a:lnTo>
                  <a:pt x="133928" y="62971"/>
                </a:lnTo>
                <a:cubicBezTo>
                  <a:pt x="136214" y="64020"/>
                  <a:pt x="137665" y="66305"/>
                  <a:pt x="137665" y="68833"/>
                </a:cubicBezTo>
                <a:cubicBezTo>
                  <a:pt x="137665" y="71360"/>
                  <a:pt x="136214" y="73646"/>
                  <a:pt x="133928" y="74694"/>
                </a:cubicBezTo>
                <a:lnTo>
                  <a:pt x="75151" y="101851"/>
                </a:lnTo>
                <a:cubicBezTo>
                  <a:pt x="71145" y="103706"/>
                  <a:pt x="66520" y="103706"/>
                  <a:pt x="62514" y="101851"/>
                </a:cubicBezTo>
                <a:lnTo>
                  <a:pt x="3737" y="74694"/>
                </a:lnTo>
                <a:cubicBezTo>
                  <a:pt x="1452" y="73619"/>
                  <a:pt x="0" y="71333"/>
                  <a:pt x="0" y="68833"/>
                </a:cubicBezTo>
                <a:cubicBezTo>
                  <a:pt x="0" y="66332"/>
                  <a:pt x="1452" y="64020"/>
                  <a:pt x="3737" y="62971"/>
                </a:cubicBezTo>
                <a:lnTo>
                  <a:pt x="12906" y="58723"/>
                </a:lnTo>
                <a:close/>
                <a:moveTo>
                  <a:pt x="3737" y="97388"/>
                </a:moveTo>
                <a:lnTo>
                  <a:pt x="12906" y="93139"/>
                </a:lnTo>
                <a:lnTo>
                  <a:pt x="57083" y="113547"/>
                </a:lnTo>
                <a:cubicBezTo>
                  <a:pt x="64531" y="116989"/>
                  <a:pt x="73108" y="116989"/>
                  <a:pt x="80556" y="113547"/>
                </a:cubicBezTo>
                <a:lnTo>
                  <a:pt x="124732" y="93139"/>
                </a:lnTo>
                <a:lnTo>
                  <a:pt x="133901" y="97388"/>
                </a:lnTo>
                <a:cubicBezTo>
                  <a:pt x="136187" y="98436"/>
                  <a:pt x="137639" y="100722"/>
                  <a:pt x="137639" y="103249"/>
                </a:cubicBezTo>
                <a:cubicBezTo>
                  <a:pt x="137639" y="105777"/>
                  <a:pt x="136187" y="108062"/>
                  <a:pt x="133901" y="109111"/>
                </a:cubicBezTo>
                <a:lnTo>
                  <a:pt x="75124" y="136267"/>
                </a:lnTo>
                <a:cubicBezTo>
                  <a:pt x="71118" y="138123"/>
                  <a:pt x="66494" y="138123"/>
                  <a:pt x="62487" y="136267"/>
                </a:cubicBezTo>
                <a:lnTo>
                  <a:pt x="3737" y="109111"/>
                </a:lnTo>
                <a:cubicBezTo>
                  <a:pt x="1452" y="108035"/>
                  <a:pt x="0" y="105750"/>
                  <a:pt x="0" y="103249"/>
                </a:cubicBezTo>
                <a:cubicBezTo>
                  <a:pt x="0" y="100749"/>
                  <a:pt x="1452" y="98436"/>
                  <a:pt x="3737" y="9738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6663332" y="2641457"/>
            <a:ext cx="731348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overlay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22418" y="2882371"/>
            <a:ext cx="5214080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Наложение </a:t>
            </a:r>
            <a:r>
              <a:rPr lang="en-US" sz="81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 alpha blending</a:t>
            </a: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для сохранения чётких пиксельных границ QR-кода. Используется cv2.INTER_NEAREST для масштабирования.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14867" y="3437335"/>
            <a:ext cx="5377558" cy="791577"/>
          </a:xfrm>
          <a:custGeom>
            <a:avLst/>
            <a:gdLst/>
            <a:ahLst/>
            <a:cxnLst/>
            <a:rect l="l" t="t" r="r" b="b"/>
            <a:pathLst>
              <a:path w="5377558" h="791577">
                <a:moveTo>
                  <a:pt x="68835" y="0"/>
                </a:moveTo>
                <a:lnTo>
                  <a:pt x="5308723" y="0"/>
                </a:lnTo>
                <a:cubicBezTo>
                  <a:pt x="5346740" y="0"/>
                  <a:pt x="5377558" y="30819"/>
                  <a:pt x="5377558" y="68835"/>
                </a:cubicBezTo>
                <a:lnTo>
                  <a:pt x="5377558" y="722741"/>
                </a:lnTo>
                <a:cubicBezTo>
                  <a:pt x="5377558" y="760758"/>
                  <a:pt x="5346740" y="791577"/>
                  <a:pt x="5308723" y="791577"/>
                </a:cubicBezTo>
                <a:lnTo>
                  <a:pt x="68835" y="791577"/>
                </a:lnTo>
                <a:cubicBezTo>
                  <a:pt x="30819" y="791577"/>
                  <a:pt x="0" y="760758"/>
                  <a:pt x="0" y="722741"/>
                </a:cubicBezTo>
                <a:lnTo>
                  <a:pt x="0" y="68835"/>
                </a:lnTo>
                <a:cubicBezTo>
                  <a:pt x="0" y="30819"/>
                  <a:pt x="30819" y="0"/>
                  <a:pt x="6883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48230" y="3562095"/>
            <a:ext cx="120457" cy="137665"/>
          </a:xfrm>
          <a:custGeom>
            <a:avLst/>
            <a:gdLst/>
            <a:ahLst/>
            <a:cxnLst/>
            <a:rect l="l" t="t" r="r" b="b"/>
            <a:pathLst>
              <a:path w="120457" h="137665">
                <a:moveTo>
                  <a:pt x="0" y="25812"/>
                </a:moveTo>
                <a:cubicBezTo>
                  <a:pt x="0" y="16321"/>
                  <a:pt x="7717" y="8604"/>
                  <a:pt x="17208" y="8604"/>
                </a:cubicBezTo>
                <a:lnTo>
                  <a:pt x="103249" y="8604"/>
                </a:lnTo>
                <a:cubicBezTo>
                  <a:pt x="112741" y="8604"/>
                  <a:pt x="120457" y="16321"/>
                  <a:pt x="120457" y="25812"/>
                </a:cubicBezTo>
                <a:lnTo>
                  <a:pt x="120457" y="111853"/>
                </a:lnTo>
                <a:cubicBezTo>
                  <a:pt x="120457" y="121345"/>
                  <a:pt x="112741" y="129061"/>
                  <a:pt x="103249" y="129061"/>
                </a:cubicBezTo>
                <a:lnTo>
                  <a:pt x="17208" y="129061"/>
                </a:lnTo>
                <a:cubicBezTo>
                  <a:pt x="7717" y="129061"/>
                  <a:pt x="0" y="121345"/>
                  <a:pt x="0" y="111853"/>
                </a:cubicBezTo>
                <a:lnTo>
                  <a:pt x="0" y="25812"/>
                </a:lnTo>
                <a:close/>
                <a:moveTo>
                  <a:pt x="12906" y="98947"/>
                </a:moveTo>
                <a:lnTo>
                  <a:pt x="12906" y="107551"/>
                </a:lnTo>
                <a:cubicBezTo>
                  <a:pt x="12906" y="109917"/>
                  <a:pt x="14842" y="111853"/>
                  <a:pt x="17208" y="111853"/>
                </a:cubicBezTo>
                <a:lnTo>
                  <a:pt x="25812" y="111853"/>
                </a:lnTo>
                <a:cubicBezTo>
                  <a:pt x="28178" y="111853"/>
                  <a:pt x="30114" y="109917"/>
                  <a:pt x="30114" y="107551"/>
                </a:cubicBezTo>
                <a:lnTo>
                  <a:pt x="30114" y="98947"/>
                </a:lnTo>
                <a:cubicBezTo>
                  <a:pt x="30114" y="96581"/>
                  <a:pt x="28178" y="94645"/>
                  <a:pt x="25812" y="94645"/>
                </a:cubicBezTo>
                <a:lnTo>
                  <a:pt x="17208" y="94645"/>
                </a:lnTo>
                <a:cubicBezTo>
                  <a:pt x="14842" y="94645"/>
                  <a:pt x="12906" y="96581"/>
                  <a:pt x="12906" y="98947"/>
                </a:cubicBezTo>
                <a:close/>
                <a:moveTo>
                  <a:pt x="94645" y="94645"/>
                </a:moveTo>
                <a:cubicBezTo>
                  <a:pt x="92279" y="94645"/>
                  <a:pt x="90343" y="96581"/>
                  <a:pt x="90343" y="98947"/>
                </a:cubicBezTo>
                <a:lnTo>
                  <a:pt x="90343" y="107551"/>
                </a:lnTo>
                <a:cubicBezTo>
                  <a:pt x="90343" y="109917"/>
                  <a:pt x="92279" y="111853"/>
                  <a:pt x="94645" y="111853"/>
                </a:cubicBezTo>
                <a:lnTo>
                  <a:pt x="103249" y="111853"/>
                </a:lnTo>
                <a:cubicBezTo>
                  <a:pt x="105615" y="111853"/>
                  <a:pt x="107551" y="109917"/>
                  <a:pt x="107551" y="107551"/>
                </a:cubicBezTo>
                <a:lnTo>
                  <a:pt x="107551" y="98947"/>
                </a:lnTo>
                <a:cubicBezTo>
                  <a:pt x="107551" y="96581"/>
                  <a:pt x="105615" y="94645"/>
                  <a:pt x="103249" y="94645"/>
                </a:cubicBezTo>
                <a:lnTo>
                  <a:pt x="94645" y="94645"/>
                </a:lnTo>
                <a:close/>
                <a:moveTo>
                  <a:pt x="12906" y="64531"/>
                </a:moveTo>
                <a:lnTo>
                  <a:pt x="12906" y="73135"/>
                </a:lnTo>
                <a:cubicBezTo>
                  <a:pt x="12906" y="75501"/>
                  <a:pt x="14842" y="77437"/>
                  <a:pt x="17208" y="77437"/>
                </a:cubicBezTo>
                <a:lnTo>
                  <a:pt x="25812" y="77437"/>
                </a:lnTo>
                <a:cubicBezTo>
                  <a:pt x="28178" y="77437"/>
                  <a:pt x="30114" y="75501"/>
                  <a:pt x="30114" y="73135"/>
                </a:cubicBezTo>
                <a:lnTo>
                  <a:pt x="30114" y="64531"/>
                </a:lnTo>
                <a:cubicBezTo>
                  <a:pt x="30114" y="62165"/>
                  <a:pt x="28178" y="60229"/>
                  <a:pt x="25812" y="60229"/>
                </a:cubicBezTo>
                <a:lnTo>
                  <a:pt x="17208" y="60229"/>
                </a:lnTo>
                <a:cubicBezTo>
                  <a:pt x="14842" y="60229"/>
                  <a:pt x="12906" y="62165"/>
                  <a:pt x="12906" y="64531"/>
                </a:cubicBezTo>
                <a:close/>
                <a:moveTo>
                  <a:pt x="94645" y="60229"/>
                </a:moveTo>
                <a:cubicBezTo>
                  <a:pt x="92279" y="60229"/>
                  <a:pt x="90343" y="62165"/>
                  <a:pt x="90343" y="64531"/>
                </a:cubicBezTo>
                <a:lnTo>
                  <a:pt x="90343" y="73135"/>
                </a:lnTo>
                <a:cubicBezTo>
                  <a:pt x="90343" y="75501"/>
                  <a:pt x="92279" y="77437"/>
                  <a:pt x="94645" y="77437"/>
                </a:cubicBezTo>
                <a:lnTo>
                  <a:pt x="103249" y="77437"/>
                </a:lnTo>
                <a:cubicBezTo>
                  <a:pt x="105615" y="77437"/>
                  <a:pt x="107551" y="75501"/>
                  <a:pt x="107551" y="73135"/>
                </a:cubicBezTo>
                <a:lnTo>
                  <a:pt x="107551" y="64531"/>
                </a:lnTo>
                <a:cubicBezTo>
                  <a:pt x="107551" y="62165"/>
                  <a:pt x="105615" y="60229"/>
                  <a:pt x="103249" y="60229"/>
                </a:cubicBezTo>
                <a:lnTo>
                  <a:pt x="94645" y="60229"/>
                </a:lnTo>
                <a:close/>
                <a:moveTo>
                  <a:pt x="12906" y="30114"/>
                </a:moveTo>
                <a:lnTo>
                  <a:pt x="12906" y="38718"/>
                </a:lnTo>
                <a:cubicBezTo>
                  <a:pt x="12906" y="41085"/>
                  <a:pt x="14842" y="43020"/>
                  <a:pt x="17208" y="43020"/>
                </a:cubicBezTo>
                <a:lnTo>
                  <a:pt x="25812" y="43020"/>
                </a:lnTo>
                <a:cubicBezTo>
                  <a:pt x="28178" y="43020"/>
                  <a:pt x="30114" y="41085"/>
                  <a:pt x="30114" y="38718"/>
                </a:cubicBezTo>
                <a:lnTo>
                  <a:pt x="30114" y="30114"/>
                </a:lnTo>
                <a:cubicBezTo>
                  <a:pt x="30114" y="27748"/>
                  <a:pt x="28178" y="25812"/>
                  <a:pt x="25812" y="25812"/>
                </a:cubicBezTo>
                <a:lnTo>
                  <a:pt x="17208" y="25812"/>
                </a:lnTo>
                <a:cubicBezTo>
                  <a:pt x="14842" y="25812"/>
                  <a:pt x="12906" y="27748"/>
                  <a:pt x="12906" y="30114"/>
                </a:cubicBezTo>
                <a:close/>
                <a:moveTo>
                  <a:pt x="94645" y="25812"/>
                </a:moveTo>
                <a:cubicBezTo>
                  <a:pt x="92279" y="25812"/>
                  <a:pt x="90343" y="27748"/>
                  <a:pt x="90343" y="30114"/>
                </a:cubicBezTo>
                <a:lnTo>
                  <a:pt x="90343" y="38718"/>
                </a:lnTo>
                <a:cubicBezTo>
                  <a:pt x="90343" y="41085"/>
                  <a:pt x="92279" y="43020"/>
                  <a:pt x="94645" y="43020"/>
                </a:cubicBezTo>
                <a:lnTo>
                  <a:pt x="103249" y="43020"/>
                </a:lnTo>
                <a:cubicBezTo>
                  <a:pt x="105615" y="43020"/>
                  <a:pt x="107551" y="41085"/>
                  <a:pt x="107551" y="38718"/>
                </a:cubicBezTo>
                <a:lnTo>
                  <a:pt x="107551" y="30114"/>
                </a:lnTo>
                <a:cubicBezTo>
                  <a:pt x="107551" y="27748"/>
                  <a:pt x="105615" y="25812"/>
                  <a:pt x="103249" y="25812"/>
                </a:cubicBezTo>
                <a:lnTo>
                  <a:pt x="94645" y="2581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6663332" y="3544886"/>
            <a:ext cx="998075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видео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422418" y="3785801"/>
            <a:ext cx="5214080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Готовое видео можно воспроизвести на </a:t>
            </a:r>
            <a:r>
              <a:rPr lang="en-US" sz="81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air-gapped системе</a:t>
            </a:r>
            <a:r>
              <a:rPr lang="en-US" sz="81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и сканировать QR-коды для извлечения данных. Обратное декодирование включено.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68597" y="4487035"/>
            <a:ext cx="5670097" cy="903430"/>
          </a:xfrm>
          <a:custGeom>
            <a:avLst/>
            <a:gdLst/>
            <a:ahLst/>
            <a:cxnLst/>
            <a:rect l="l" t="t" r="r" b="b"/>
            <a:pathLst>
              <a:path w="5670097" h="903430">
                <a:moveTo>
                  <a:pt x="68832" y="0"/>
                </a:moveTo>
                <a:lnTo>
                  <a:pt x="5601265" y="0"/>
                </a:lnTo>
                <a:cubicBezTo>
                  <a:pt x="5639280" y="0"/>
                  <a:pt x="5670097" y="30817"/>
                  <a:pt x="5670097" y="68832"/>
                </a:cubicBezTo>
                <a:lnTo>
                  <a:pt x="5670097" y="834597"/>
                </a:lnTo>
                <a:cubicBezTo>
                  <a:pt x="5670097" y="872613"/>
                  <a:pt x="5639280" y="903430"/>
                  <a:pt x="5601265" y="903430"/>
                </a:cubicBezTo>
                <a:lnTo>
                  <a:pt x="68832" y="903430"/>
                </a:lnTo>
                <a:cubicBezTo>
                  <a:pt x="30817" y="903430"/>
                  <a:pt x="0" y="872613"/>
                  <a:pt x="0" y="834597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 w="127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1960" y="4835500"/>
            <a:ext cx="206498" cy="206498"/>
          </a:xfrm>
          <a:custGeom>
            <a:avLst/>
            <a:gdLst/>
            <a:ahLst/>
            <a:cxnLst/>
            <a:rect l="l" t="t" r="r" b="b"/>
            <a:pathLst>
              <a:path w="206498" h="206498">
                <a:moveTo>
                  <a:pt x="103249" y="206498"/>
                </a:moveTo>
                <a:cubicBezTo>
                  <a:pt x="160234" y="206498"/>
                  <a:pt x="206498" y="160234"/>
                  <a:pt x="206498" y="103249"/>
                </a:cubicBezTo>
                <a:cubicBezTo>
                  <a:pt x="206498" y="46264"/>
                  <a:pt x="160234" y="0"/>
                  <a:pt x="103249" y="0"/>
                </a:cubicBezTo>
                <a:cubicBezTo>
                  <a:pt x="46264" y="0"/>
                  <a:pt x="0" y="46264"/>
                  <a:pt x="0" y="103249"/>
                </a:cubicBezTo>
                <a:cubicBezTo>
                  <a:pt x="0" y="160234"/>
                  <a:pt x="46264" y="206498"/>
                  <a:pt x="103249" y="206498"/>
                </a:cubicBezTo>
                <a:close/>
                <a:moveTo>
                  <a:pt x="137289" y="85785"/>
                </a:moveTo>
                <a:lnTo>
                  <a:pt x="105024" y="137410"/>
                </a:lnTo>
                <a:cubicBezTo>
                  <a:pt x="103330" y="140112"/>
                  <a:pt x="100426" y="141806"/>
                  <a:pt x="97240" y="141968"/>
                </a:cubicBezTo>
                <a:cubicBezTo>
                  <a:pt x="94053" y="142129"/>
                  <a:pt x="90988" y="140677"/>
                  <a:pt x="89093" y="138096"/>
                </a:cubicBezTo>
                <a:lnTo>
                  <a:pt x="69733" y="112283"/>
                </a:lnTo>
                <a:cubicBezTo>
                  <a:pt x="66507" y="108008"/>
                  <a:pt x="67394" y="101959"/>
                  <a:pt x="71669" y="98732"/>
                </a:cubicBezTo>
                <a:cubicBezTo>
                  <a:pt x="75945" y="95505"/>
                  <a:pt x="81994" y="96393"/>
                  <a:pt x="85221" y="100668"/>
                </a:cubicBezTo>
                <a:lnTo>
                  <a:pt x="96110" y="115187"/>
                </a:lnTo>
                <a:lnTo>
                  <a:pt x="120874" y="75541"/>
                </a:lnTo>
                <a:cubicBezTo>
                  <a:pt x="123697" y="71024"/>
                  <a:pt x="129666" y="69612"/>
                  <a:pt x="134224" y="72476"/>
                </a:cubicBezTo>
                <a:cubicBezTo>
                  <a:pt x="138781" y="75340"/>
                  <a:pt x="140153" y="81268"/>
                  <a:pt x="137289" y="8582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8" name="Text 66"/>
          <p:cNvSpPr/>
          <p:nvPr/>
        </p:nvSpPr>
        <p:spPr>
          <a:xfrm>
            <a:off x="6600549" y="4629002"/>
            <a:ext cx="5179664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Дополнительное задание выполнено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600549" y="4904333"/>
            <a:ext cx="5162456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QR-инфодиод реализован с соответствием всем требованиям: 177×177 пикселей, период 500мс, адаптивное позиционирование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68597" y="5502318"/>
            <a:ext cx="5670097" cy="1350843"/>
          </a:xfrm>
          <a:custGeom>
            <a:avLst/>
            <a:gdLst/>
            <a:ahLst/>
            <a:cxnLst/>
            <a:rect l="l" t="t" r="r" b="b"/>
            <a:pathLst>
              <a:path w="5670097" h="1350843">
                <a:moveTo>
                  <a:pt x="68839" y="0"/>
                </a:moveTo>
                <a:lnTo>
                  <a:pt x="5601258" y="0"/>
                </a:lnTo>
                <a:cubicBezTo>
                  <a:pt x="5639277" y="0"/>
                  <a:pt x="5670097" y="30820"/>
                  <a:pt x="5670097" y="68839"/>
                </a:cubicBezTo>
                <a:lnTo>
                  <a:pt x="5670097" y="1282004"/>
                </a:lnTo>
                <a:cubicBezTo>
                  <a:pt x="5670097" y="1320022"/>
                  <a:pt x="5639277" y="1350843"/>
                  <a:pt x="5601258" y="1350843"/>
                </a:cubicBezTo>
                <a:lnTo>
                  <a:pt x="68839" y="1350843"/>
                </a:lnTo>
                <a:cubicBezTo>
                  <a:pt x="30820" y="1350843"/>
                  <a:pt x="0" y="1320022"/>
                  <a:pt x="0" y="1282004"/>
                </a:cubicBezTo>
                <a:lnTo>
                  <a:pt x="0" y="68839"/>
                </a:lnTo>
                <a:cubicBezTo>
                  <a:pt x="0" y="30820"/>
                  <a:pt x="30820" y="0"/>
                  <a:pt x="6883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76148" y="5609869"/>
            <a:ext cx="5515224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80450" y="5855085"/>
            <a:ext cx="5446391" cy="421601"/>
          </a:xfrm>
          <a:custGeom>
            <a:avLst/>
            <a:gdLst/>
            <a:ahLst/>
            <a:cxnLst/>
            <a:rect l="l" t="t" r="r" b="b"/>
            <a:pathLst>
              <a:path w="5446391" h="421601">
                <a:moveTo>
                  <a:pt x="34415" y="0"/>
                </a:moveTo>
                <a:lnTo>
                  <a:pt x="5411976" y="0"/>
                </a:lnTo>
                <a:cubicBezTo>
                  <a:pt x="5430983" y="0"/>
                  <a:pt x="5446391" y="15408"/>
                  <a:pt x="5446391" y="34415"/>
                </a:cubicBezTo>
                <a:lnTo>
                  <a:pt x="5446391" y="387185"/>
                </a:lnTo>
                <a:cubicBezTo>
                  <a:pt x="5446391" y="406192"/>
                  <a:pt x="5430983" y="421601"/>
                  <a:pt x="5411976" y="421601"/>
                </a:cubicBezTo>
                <a:lnTo>
                  <a:pt x="34415" y="421601"/>
                </a:lnTo>
                <a:cubicBezTo>
                  <a:pt x="15408" y="421601"/>
                  <a:pt x="0" y="406192"/>
                  <a:pt x="0" y="387185"/>
                </a:cubicBezTo>
                <a:lnTo>
                  <a:pt x="0" y="34415"/>
                </a:lnTo>
                <a:cubicBezTo>
                  <a:pt x="0" y="15421"/>
                  <a:pt x="15421" y="0"/>
                  <a:pt x="3441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53585" y="5928220"/>
            <a:ext cx="5351746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/api/qr/generate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53585" y="6065886"/>
            <a:ext cx="5351746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QR-кодов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80450" y="6319706"/>
            <a:ext cx="5446391" cy="421601"/>
          </a:xfrm>
          <a:custGeom>
            <a:avLst/>
            <a:gdLst/>
            <a:ahLst/>
            <a:cxnLst/>
            <a:rect l="l" t="t" r="r" b="b"/>
            <a:pathLst>
              <a:path w="5446391" h="421601">
                <a:moveTo>
                  <a:pt x="34415" y="0"/>
                </a:moveTo>
                <a:lnTo>
                  <a:pt x="5411976" y="0"/>
                </a:lnTo>
                <a:cubicBezTo>
                  <a:pt x="5430983" y="0"/>
                  <a:pt x="5446391" y="15408"/>
                  <a:pt x="5446391" y="34415"/>
                </a:cubicBezTo>
                <a:lnTo>
                  <a:pt x="5446391" y="387185"/>
                </a:lnTo>
                <a:cubicBezTo>
                  <a:pt x="5446391" y="406192"/>
                  <a:pt x="5430983" y="421601"/>
                  <a:pt x="5411976" y="421601"/>
                </a:cubicBezTo>
                <a:lnTo>
                  <a:pt x="34415" y="421601"/>
                </a:lnTo>
                <a:cubicBezTo>
                  <a:pt x="15408" y="421601"/>
                  <a:pt x="0" y="406192"/>
                  <a:pt x="0" y="387185"/>
                </a:cubicBezTo>
                <a:lnTo>
                  <a:pt x="0" y="34415"/>
                </a:lnTo>
                <a:cubicBezTo>
                  <a:pt x="0" y="15421"/>
                  <a:pt x="15421" y="0"/>
                  <a:pt x="3441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53585" y="6392841"/>
            <a:ext cx="5351746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/api/qr/overlay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53585" y="6530507"/>
            <a:ext cx="5351746" cy="13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3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Наложение на видео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646" y="395611"/>
            <a:ext cx="71929" cy="287717"/>
          </a:xfrm>
          <a:custGeom>
            <a:avLst/>
            <a:gdLst/>
            <a:ahLst/>
            <a:cxnLst/>
            <a:rect l="l" t="t" r="r" b="b"/>
            <a:pathLst>
              <a:path w="71929" h="287717">
                <a:moveTo>
                  <a:pt x="35965" y="0"/>
                </a:moveTo>
                <a:lnTo>
                  <a:pt x="35965" y="0"/>
                </a:lnTo>
                <a:cubicBezTo>
                  <a:pt x="55814" y="0"/>
                  <a:pt x="71929" y="16115"/>
                  <a:pt x="71929" y="35965"/>
                </a:cubicBezTo>
                <a:lnTo>
                  <a:pt x="71929" y="251752"/>
                </a:lnTo>
                <a:cubicBezTo>
                  <a:pt x="71929" y="271615"/>
                  <a:pt x="55827" y="287717"/>
                  <a:pt x="35965" y="287717"/>
                </a:cubicBezTo>
                <a:lnTo>
                  <a:pt x="35965" y="287717"/>
                </a:lnTo>
                <a:cubicBezTo>
                  <a:pt x="16102" y="287717"/>
                  <a:pt x="0" y="271615"/>
                  <a:pt x="0" y="251752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39469" y="359646"/>
            <a:ext cx="4288779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Преимущества и сравнение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9469" y="791221"/>
            <a:ext cx="11373805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InfoDiode vs классические подходы к извлечению данных из SCADA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142" y="1191327"/>
            <a:ext cx="5655434" cy="3407646"/>
          </a:xfrm>
          <a:custGeom>
            <a:avLst/>
            <a:gdLst/>
            <a:ahLst/>
            <a:cxnLst/>
            <a:rect l="l" t="t" r="r" b="b"/>
            <a:pathLst>
              <a:path w="5655434" h="3407646">
                <a:moveTo>
                  <a:pt x="71935" y="0"/>
                </a:moveTo>
                <a:lnTo>
                  <a:pt x="5583498" y="0"/>
                </a:lnTo>
                <a:cubicBezTo>
                  <a:pt x="5623227" y="0"/>
                  <a:pt x="5655434" y="32207"/>
                  <a:pt x="5655434" y="71935"/>
                </a:cubicBezTo>
                <a:lnTo>
                  <a:pt x="5655434" y="3335711"/>
                </a:lnTo>
                <a:cubicBezTo>
                  <a:pt x="5655434" y="3375439"/>
                  <a:pt x="5623227" y="3407646"/>
                  <a:pt x="5583498" y="3407646"/>
                </a:cubicBezTo>
                <a:lnTo>
                  <a:pt x="71935" y="3407646"/>
                </a:lnTo>
                <a:cubicBezTo>
                  <a:pt x="32207" y="3407646"/>
                  <a:pt x="0" y="3375439"/>
                  <a:pt x="0" y="3335711"/>
                </a:cubicBezTo>
                <a:lnTo>
                  <a:pt x="0" y="71935"/>
                </a:lnTo>
                <a:cubicBezTo>
                  <a:pt x="0" y="32233"/>
                  <a:pt x="32233" y="0"/>
                  <a:pt x="7193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496" y="1339681"/>
            <a:ext cx="543964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Сравнение подходов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6991" y="1703823"/>
            <a:ext cx="5349735" cy="836177"/>
          </a:xfrm>
          <a:custGeom>
            <a:avLst/>
            <a:gdLst/>
            <a:ahLst/>
            <a:cxnLst/>
            <a:rect l="l" t="t" r="r" b="b"/>
            <a:pathLst>
              <a:path w="5349735" h="836177">
                <a:moveTo>
                  <a:pt x="71928" y="0"/>
                </a:moveTo>
                <a:lnTo>
                  <a:pt x="5277807" y="0"/>
                </a:lnTo>
                <a:cubicBezTo>
                  <a:pt x="5317531" y="0"/>
                  <a:pt x="5349735" y="32203"/>
                  <a:pt x="5349735" y="71928"/>
                </a:cubicBezTo>
                <a:lnTo>
                  <a:pt x="5349735" y="764249"/>
                </a:lnTo>
                <a:cubicBezTo>
                  <a:pt x="5349735" y="803974"/>
                  <a:pt x="5317531" y="836177"/>
                  <a:pt x="5277807" y="836177"/>
                </a:cubicBezTo>
                <a:lnTo>
                  <a:pt x="71928" y="836177"/>
                </a:lnTo>
                <a:cubicBezTo>
                  <a:pt x="32230" y="836177"/>
                  <a:pt x="0" y="803947"/>
                  <a:pt x="0" y="764249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381" y="1852177"/>
            <a:ext cx="159143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Кастомный OCR + правила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4294" y="1816212"/>
            <a:ext cx="449558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9381" y="2139894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для обучения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9381" y="2283752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500+ кадров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28806" y="2139894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настройки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28806" y="2283752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2-4 недели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991" y="2656885"/>
            <a:ext cx="5349735" cy="836177"/>
          </a:xfrm>
          <a:custGeom>
            <a:avLst/>
            <a:gdLst/>
            <a:ahLst/>
            <a:cxnLst/>
            <a:rect l="l" t="t" r="r" b="b"/>
            <a:pathLst>
              <a:path w="5349735" h="836177">
                <a:moveTo>
                  <a:pt x="71928" y="0"/>
                </a:moveTo>
                <a:lnTo>
                  <a:pt x="5277807" y="0"/>
                </a:lnTo>
                <a:cubicBezTo>
                  <a:pt x="5317531" y="0"/>
                  <a:pt x="5349735" y="32203"/>
                  <a:pt x="5349735" y="71928"/>
                </a:cubicBezTo>
                <a:lnTo>
                  <a:pt x="5349735" y="764249"/>
                </a:lnTo>
                <a:cubicBezTo>
                  <a:pt x="5349735" y="803974"/>
                  <a:pt x="5317531" y="836177"/>
                  <a:pt x="5277807" y="836177"/>
                </a:cubicBezTo>
                <a:lnTo>
                  <a:pt x="71928" y="836177"/>
                </a:lnTo>
                <a:cubicBezTo>
                  <a:pt x="32230" y="836177"/>
                  <a:pt x="0" y="803947"/>
                  <a:pt x="0" y="764249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381" y="2805239"/>
            <a:ext cx="1465558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Дообученная Florence-2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9157" y="2769274"/>
            <a:ext cx="75525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~40-60%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381" y="3092956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для обучения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381" y="3236814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1000+ кадров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28806" y="3092956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настройки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28806" y="3236814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 недели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6991" y="3609947"/>
            <a:ext cx="5349735" cy="836177"/>
          </a:xfrm>
          <a:custGeom>
            <a:avLst/>
            <a:gdLst/>
            <a:ahLst/>
            <a:cxnLst/>
            <a:rect l="l" t="t" r="r" b="b"/>
            <a:pathLst>
              <a:path w="5349735" h="836177">
                <a:moveTo>
                  <a:pt x="71928" y="0"/>
                </a:moveTo>
                <a:lnTo>
                  <a:pt x="5277807" y="0"/>
                </a:lnTo>
                <a:cubicBezTo>
                  <a:pt x="5317531" y="0"/>
                  <a:pt x="5349735" y="32203"/>
                  <a:pt x="5349735" y="71928"/>
                </a:cubicBezTo>
                <a:lnTo>
                  <a:pt x="5349735" y="764249"/>
                </a:lnTo>
                <a:cubicBezTo>
                  <a:pt x="5349735" y="803974"/>
                  <a:pt x="5317531" y="836177"/>
                  <a:pt x="5277807" y="836177"/>
                </a:cubicBezTo>
                <a:lnTo>
                  <a:pt x="71928" y="836177"/>
                </a:lnTo>
                <a:cubicBezTo>
                  <a:pt x="32230" y="836177"/>
                  <a:pt x="0" y="803947"/>
                  <a:pt x="0" y="764249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 w="127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381" y="3758301"/>
            <a:ext cx="1627398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InfoDiode (VLM + промпты)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20346" y="3722336"/>
            <a:ext cx="62038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97.44%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9381" y="4046018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для обучения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9381" y="4189876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кадров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28806" y="4046018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настройки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28806" y="4189876"/>
            <a:ext cx="258046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2-4 часа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4142" y="4715858"/>
            <a:ext cx="5655434" cy="2139894"/>
          </a:xfrm>
          <a:custGeom>
            <a:avLst/>
            <a:gdLst/>
            <a:ahLst/>
            <a:cxnLst/>
            <a:rect l="l" t="t" r="r" b="b"/>
            <a:pathLst>
              <a:path w="5655434" h="2139894">
                <a:moveTo>
                  <a:pt x="71922" y="0"/>
                </a:moveTo>
                <a:lnTo>
                  <a:pt x="5583512" y="0"/>
                </a:lnTo>
                <a:cubicBezTo>
                  <a:pt x="5623233" y="0"/>
                  <a:pt x="5655434" y="32201"/>
                  <a:pt x="5655434" y="71922"/>
                </a:cubicBezTo>
                <a:lnTo>
                  <a:pt x="5655434" y="2067972"/>
                </a:lnTo>
                <a:cubicBezTo>
                  <a:pt x="5655434" y="2107693"/>
                  <a:pt x="5623233" y="2139894"/>
                  <a:pt x="5583512" y="2139894"/>
                </a:cubicBezTo>
                <a:lnTo>
                  <a:pt x="71922" y="2139894"/>
                </a:lnTo>
                <a:cubicBezTo>
                  <a:pt x="32201" y="2139894"/>
                  <a:pt x="0" y="2107693"/>
                  <a:pt x="0" y="2067972"/>
                </a:cubicBezTo>
                <a:lnTo>
                  <a:pt x="0" y="71922"/>
                </a:lnTo>
                <a:cubicBezTo>
                  <a:pt x="0" y="32227"/>
                  <a:pt x="32227" y="0"/>
                  <a:pt x="7192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496" y="4864212"/>
            <a:ext cx="543964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Масштабируемость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2496" y="5223858"/>
            <a:ext cx="5421664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Адаптация к новой SCADA-системе требует только </a:t>
            </a:r>
            <a:r>
              <a:rPr lang="en-US" sz="991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изменения промптов и координат зон</a:t>
            </a:r>
            <a:r>
              <a:rPr lang="en-US" sz="99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а не рефакторинга кода.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2496" y="5691398"/>
            <a:ext cx="97104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Калибровка зон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6863" y="5691398"/>
            <a:ext cx="395611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 час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496" y="5943150"/>
            <a:ext cx="1267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Промпт-инжиниринг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40550" y="5943150"/>
            <a:ext cx="791221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~2 часа/зону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2496" y="6194903"/>
            <a:ext cx="764248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 truth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032" y="6194903"/>
            <a:ext cx="584425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~1-2 часа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2496" y="6451150"/>
            <a:ext cx="5358726" cy="8991"/>
          </a:xfrm>
          <a:custGeom>
            <a:avLst/>
            <a:gdLst/>
            <a:ahLst/>
            <a:cxnLst/>
            <a:rect l="l" t="t" r="r" b="b"/>
            <a:pathLst>
              <a:path w="5358726" h="8991">
                <a:moveTo>
                  <a:pt x="0" y="0"/>
                </a:moveTo>
                <a:lnTo>
                  <a:pt x="5358726" y="0"/>
                </a:lnTo>
                <a:lnTo>
                  <a:pt x="5358726" y="8991"/>
                </a:lnTo>
                <a:lnTo>
                  <a:pt x="0" y="8991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38" name="Shape 36"/>
          <p:cNvSpPr/>
          <p:nvPr/>
        </p:nvSpPr>
        <p:spPr>
          <a:xfrm>
            <a:off x="530478" y="6554549"/>
            <a:ext cx="125876" cy="125876"/>
          </a:xfrm>
          <a:custGeom>
            <a:avLst/>
            <a:gdLst/>
            <a:ahLst/>
            <a:cxnLst/>
            <a:rect l="l" t="t" r="r" b="b"/>
            <a:pathLst>
              <a:path w="125876" h="125876">
                <a:moveTo>
                  <a:pt x="62938" y="0"/>
                </a:moveTo>
                <a:cubicBezTo>
                  <a:pt x="97675" y="0"/>
                  <a:pt x="125876" y="28202"/>
                  <a:pt x="125876" y="62938"/>
                </a:cubicBezTo>
                <a:cubicBezTo>
                  <a:pt x="125876" y="97675"/>
                  <a:pt x="97675" y="125876"/>
                  <a:pt x="62938" y="125876"/>
                </a:cubicBezTo>
                <a:cubicBezTo>
                  <a:pt x="28202" y="125876"/>
                  <a:pt x="0" y="97675"/>
                  <a:pt x="0" y="62938"/>
                </a:cubicBezTo>
                <a:cubicBezTo>
                  <a:pt x="0" y="28202"/>
                  <a:pt x="28202" y="0"/>
                  <a:pt x="62938" y="0"/>
                </a:cubicBezTo>
                <a:close/>
                <a:moveTo>
                  <a:pt x="57038" y="29502"/>
                </a:moveTo>
                <a:lnTo>
                  <a:pt x="57038" y="62938"/>
                </a:lnTo>
                <a:cubicBezTo>
                  <a:pt x="57038" y="64905"/>
                  <a:pt x="58021" y="66749"/>
                  <a:pt x="59668" y="67855"/>
                </a:cubicBezTo>
                <a:lnTo>
                  <a:pt x="83270" y="83590"/>
                </a:lnTo>
                <a:cubicBezTo>
                  <a:pt x="85974" y="85409"/>
                  <a:pt x="89638" y="84671"/>
                  <a:pt x="91457" y="81942"/>
                </a:cubicBezTo>
                <a:cubicBezTo>
                  <a:pt x="93276" y="79213"/>
                  <a:pt x="92539" y="75575"/>
                  <a:pt x="89810" y="73756"/>
                </a:cubicBezTo>
                <a:lnTo>
                  <a:pt x="68838" y="59791"/>
                </a:lnTo>
                <a:lnTo>
                  <a:pt x="68838" y="29502"/>
                </a:lnTo>
                <a:cubicBezTo>
                  <a:pt x="68838" y="26232"/>
                  <a:pt x="66208" y="23602"/>
                  <a:pt x="62938" y="23602"/>
                </a:cubicBezTo>
                <a:cubicBezTo>
                  <a:pt x="59668" y="23602"/>
                  <a:pt x="57038" y="26232"/>
                  <a:pt x="57038" y="2950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699798" y="6527575"/>
            <a:ext cx="5234361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Итого: ~3 часа на новую SCADA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4392" y="1191327"/>
            <a:ext cx="5655434" cy="2886159"/>
          </a:xfrm>
          <a:custGeom>
            <a:avLst/>
            <a:gdLst/>
            <a:ahLst/>
            <a:cxnLst/>
            <a:rect l="l" t="t" r="r" b="b"/>
            <a:pathLst>
              <a:path w="5655434" h="2886159">
                <a:moveTo>
                  <a:pt x="71923" y="0"/>
                </a:moveTo>
                <a:lnTo>
                  <a:pt x="5583511" y="0"/>
                </a:lnTo>
                <a:cubicBezTo>
                  <a:pt x="5623233" y="0"/>
                  <a:pt x="5655434" y="32201"/>
                  <a:pt x="5655434" y="71923"/>
                </a:cubicBezTo>
                <a:lnTo>
                  <a:pt x="5655434" y="2814236"/>
                </a:lnTo>
                <a:cubicBezTo>
                  <a:pt x="5655434" y="2853958"/>
                  <a:pt x="5623233" y="2886159"/>
                  <a:pt x="5583511" y="2886159"/>
                </a:cubicBezTo>
                <a:lnTo>
                  <a:pt x="71923" y="2886159"/>
                </a:lnTo>
                <a:cubicBezTo>
                  <a:pt x="32201" y="2886159"/>
                  <a:pt x="0" y="2853958"/>
                  <a:pt x="0" y="2814236"/>
                </a:cubicBezTo>
                <a:lnTo>
                  <a:pt x="0" y="71923"/>
                </a:lnTo>
                <a:cubicBezTo>
                  <a:pt x="0" y="32228"/>
                  <a:pt x="32228" y="0"/>
                  <a:pt x="7192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2746" y="1339681"/>
            <a:ext cx="543964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преимущества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2746" y="1699327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71929" y="0"/>
                </a:moveTo>
                <a:lnTo>
                  <a:pt x="215788" y="0"/>
                </a:lnTo>
                <a:cubicBezTo>
                  <a:pt x="255513" y="0"/>
                  <a:pt x="287717" y="32204"/>
                  <a:pt x="287717" y="71929"/>
                </a:cubicBezTo>
                <a:lnTo>
                  <a:pt x="287717" y="215788"/>
                </a:lnTo>
                <a:cubicBezTo>
                  <a:pt x="287717" y="255513"/>
                  <a:pt x="255513" y="287717"/>
                  <a:pt x="215788" y="287717"/>
                </a:cubicBezTo>
                <a:lnTo>
                  <a:pt x="71929" y="287717"/>
                </a:lnTo>
                <a:cubicBezTo>
                  <a:pt x="32204" y="287717"/>
                  <a:pt x="0" y="255513"/>
                  <a:pt x="0" y="215788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85684" y="1771257"/>
            <a:ext cx="161841" cy="143858"/>
          </a:xfrm>
          <a:custGeom>
            <a:avLst/>
            <a:gdLst/>
            <a:ahLst/>
            <a:cxnLst/>
            <a:rect l="l" t="t" r="r" b="b"/>
            <a:pathLst>
              <a:path w="161841" h="143858">
                <a:moveTo>
                  <a:pt x="13487" y="55015"/>
                </a:moveTo>
                <a:lnTo>
                  <a:pt x="72266" y="79206"/>
                </a:lnTo>
                <a:cubicBezTo>
                  <a:pt x="75020" y="80330"/>
                  <a:pt x="77942" y="80920"/>
                  <a:pt x="80920" y="80920"/>
                </a:cubicBezTo>
                <a:cubicBezTo>
                  <a:pt x="83899" y="80920"/>
                  <a:pt x="86821" y="80330"/>
                  <a:pt x="89574" y="79206"/>
                </a:cubicBezTo>
                <a:lnTo>
                  <a:pt x="157682" y="51165"/>
                </a:lnTo>
                <a:cubicBezTo>
                  <a:pt x="160211" y="50126"/>
                  <a:pt x="161841" y="47681"/>
                  <a:pt x="161841" y="44956"/>
                </a:cubicBezTo>
                <a:cubicBezTo>
                  <a:pt x="161841" y="42230"/>
                  <a:pt x="160211" y="39786"/>
                  <a:pt x="157682" y="38746"/>
                </a:cubicBezTo>
                <a:lnTo>
                  <a:pt x="89574" y="10705"/>
                </a:lnTo>
                <a:cubicBezTo>
                  <a:pt x="86821" y="9581"/>
                  <a:pt x="83899" y="8991"/>
                  <a:pt x="80920" y="8991"/>
                </a:cubicBezTo>
                <a:cubicBezTo>
                  <a:pt x="77942" y="8991"/>
                  <a:pt x="75020" y="9581"/>
                  <a:pt x="72266" y="10705"/>
                </a:cubicBezTo>
                <a:lnTo>
                  <a:pt x="4158" y="38746"/>
                </a:lnTo>
                <a:cubicBezTo>
                  <a:pt x="1630" y="39786"/>
                  <a:pt x="0" y="42230"/>
                  <a:pt x="0" y="44956"/>
                </a:cubicBezTo>
                <a:lnTo>
                  <a:pt x="0" y="128124"/>
                </a:lnTo>
                <a:cubicBezTo>
                  <a:pt x="0" y="131861"/>
                  <a:pt x="3006" y="134867"/>
                  <a:pt x="6743" y="134867"/>
                </a:cubicBezTo>
                <a:cubicBezTo>
                  <a:pt x="10480" y="134867"/>
                  <a:pt x="13487" y="131861"/>
                  <a:pt x="13487" y="128124"/>
                </a:cubicBezTo>
                <a:lnTo>
                  <a:pt x="13487" y="55015"/>
                </a:lnTo>
                <a:close/>
                <a:moveTo>
                  <a:pt x="26973" y="75160"/>
                </a:moveTo>
                <a:lnTo>
                  <a:pt x="26973" y="107894"/>
                </a:lnTo>
                <a:cubicBezTo>
                  <a:pt x="26973" y="122785"/>
                  <a:pt x="51137" y="134867"/>
                  <a:pt x="80920" y="134867"/>
                </a:cubicBezTo>
                <a:cubicBezTo>
                  <a:pt x="110704" y="134867"/>
                  <a:pt x="134867" y="122785"/>
                  <a:pt x="134867" y="107894"/>
                </a:cubicBezTo>
                <a:lnTo>
                  <a:pt x="134867" y="75132"/>
                </a:lnTo>
                <a:lnTo>
                  <a:pt x="94716" y="91682"/>
                </a:lnTo>
                <a:cubicBezTo>
                  <a:pt x="90333" y="93480"/>
                  <a:pt x="85669" y="94407"/>
                  <a:pt x="80920" y="94407"/>
                </a:cubicBezTo>
                <a:cubicBezTo>
                  <a:pt x="76172" y="94407"/>
                  <a:pt x="71508" y="93480"/>
                  <a:pt x="67125" y="91682"/>
                </a:cubicBezTo>
                <a:lnTo>
                  <a:pt x="26973" y="751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6718356" y="1699327"/>
            <a:ext cx="4333735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 дообучения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18356" y="1915115"/>
            <a:ext cx="4324743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Предметные знания живут в промптах, а не в коде. Не требуется размеченных данных.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2746" y="2166867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71929" y="0"/>
                </a:moveTo>
                <a:lnTo>
                  <a:pt x="215788" y="0"/>
                </a:lnTo>
                <a:cubicBezTo>
                  <a:pt x="255513" y="0"/>
                  <a:pt x="287717" y="32204"/>
                  <a:pt x="287717" y="71929"/>
                </a:cubicBezTo>
                <a:lnTo>
                  <a:pt x="287717" y="215788"/>
                </a:lnTo>
                <a:cubicBezTo>
                  <a:pt x="287717" y="255513"/>
                  <a:pt x="255513" y="287717"/>
                  <a:pt x="215788" y="287717"/>
                </a:cubicBezTo>
                <a:lnTo>
                  <a:pt x="71929" y="287717"/>
                </a:lnTo>
                <a:cubicBezTo>
                  <a:pt x="32204" y="287717"/>
                  <a:pt x="0" y="255513"/>
                  <a:pt x="0" y="215788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85684" y="2238796"/>
            <a:ext cx="161841" cy="143858"/>
          </a:xfrm>
          <a:custGeom>
            <a:avLst/>
            <a:gdLst/>
            <a:ahLst/>
            <a:cxnLst/>
            <a:rect l="l" t="t" r="r" b="b"/>
            <a:pathLst>
              <a:path w="161841" h="143858">
                <a:moveTo>
                  <a:pt x="44956" y="0"/>
                </a:moveTo>
                <a:cubicBezTo>
                  <a:pt x="49929" y="0"/>
                  <a:pt x="53947" y="4018"/>
                  <a:pt x="53947" y="8991"/>
                </a:cubicBezTo>
                <a:lnTo>
                  <a:pt x="53947" y="17982"/>
                </a:lnTo>
                <a:lnTo>
                  <a:pt x="89912" y="17982"/>
                </a:lnTo>
                <a:cubicBezTo>
                  <a:pt x="94885" y="17982"/>
                  <a:pt x="98903" y="22000"/>
                  <a:pt x="98903" y="26973"/>
                </a:cubicBezTo>
                <a:cubicBezTo>
                  <a:pt x="98903" y="31947"/>
                  <a:pt x="94885" y="35965"/>
                  <a:pt x="89912" y="35965"/>
                </a:cubicBezTo>
                <a:lnTo>
                  <a:pt x="87214" y="35965"/>
                </a:lnTo>
                <a:lnTo>
                  <a:pt x="84854" y="42455"/>
                </a:lnTo>
                <a:cubicBezTo>
                  <a:pt x="80246" y="55155"/>
                  <a:pt x="73306" y="66759"/>
                  <a:pt x="64568" y="76734"/>
                </a:cubicBezTo>
                <a:cubicBezTo>
                  <a:pt x="68558" y="79206"/>
                  <a:pt x="72716" y="81398"/>
                  <a:pt x="77043" y="83337"/>
                </a:cubicBezTo>
                <a:lnTo>
                  <a:pt x="91204" y="89631"/>
                </a:lnTo>
                <a:lnTo>
                  <a:pt x="108681" y="50294"/>
                </a:lnTo>
                <a:cubicBezTo>
                  <a:pt x="110113" y="47035"/>
                  <a:pt x="113345" y="44956"/>
                  <a:pt x="116885" y="44956"/>
                </a:cubicBezTo>
                <a:cubicBezTo>
                  <a:pt x="120425" y="44956"/>
                  <a:pt x="123656" y="47035"/>
                  <a:pt x="125089" y="50294"/>
                </a:cubicBezTo>
                <a:lnTo>
                  <a:pt x="161054" y="131215"/>
                </a:lnTo>
                <a:cubicBezTo>
                  <a:pt x="163077" y="135766"/>
                  <a:pt x="161026" y="141077"/>
                  <a:pt x="156502" y="143072"/>
                </a:cubicBezTo>
                <a:cubicBezTo>
                  <a:pt x="151979" y="145067"/>
                  <a:pt x="146640" y="143044"/>
                  <a:pt x="144645" y="138520"/>
                </a:cubicBezTo>
                <a:lnTo>
                  <a:pt x="139026" y="125876"/>
                </a:lnTo>
                <a:lnTo>
                  <a:pt x="94772" y="125876"/>
                </a:lnTo>
                <a:lnTo>
                  <a:pt x="89153" y="138520"/>
                </a:lnTo>
                <a:cubicBezTo>
                  <a:pt x="87130" y="143072"/>
                  <a:pt x="81819" y="145095"/>
                  <a:pt x="77296" y="143072"/>
                </a:cubicBezTo>
                <a:cubicBezTo>
                  <a:pt x="72772" y="141049"/>
                  <a:pt x="70721" y="135738"/>
                  <a:pt x="72744" y="131215"/>
                </a:cubicBezTo>
                <a:lnTo>
                  <a:pt x="83927" y="106067"/>
                </a:lnTo>
                <a:lnTo>
                  <a:pt x="69766" y="99774"/>
                </a:lnTo>
                <a:cubicBezTo>
                  <a:pt x="63303" y="96908"/>
                  <a:pt x="57122" y="93480"/>
                  <a:pt x="51278" y="89546"/>
                </a:cubicBezTo>
                <a:cubicBezTo>
                  <a:pt x="45293" y="94379"/>
                  <a:pt x="38746" y="98594"/>
                  <a:pt x="31750" y="102106"/>
                </a:cubicBezTo>
                <a:lnTo>
                  <a:pt x="22000" y="106938"/>
                </a:lnTo>
                <a:cubicBezTo>
                  <a:pt x="17561" y="109158"/>
                  <a:pt x="12166" y="107360"/>
                  <a:pt x="9946" y="102921"/>
                </a:cubicBezTo>
                <a:cubicBezTo>
                  <a:pt x="7727" y="98481"/>
                  <a:pt x="9525" y="93087"/>
                  <a:pt x="13964" y="90867"/>
                </a:cubicBezTo>
                <a:lnTo>
                  <a:pt x="23658" y="86006"/>
                </a:lnTo>
                <a:cubicBezTo>
                  <a:pt x="28238" y="83702"/>
                  <a:pt x="32593" y="81033"/>
                  <a:pt x="36695" y="78054"/>
                </a:cubicBezTo>
                <a:cubicBezTo>
                  <a:pt x="32818" y="74486"/>
                  <a:pt x="29165" y="70637"/>
                  <a:pt x="25765" y="66563"/>
                </a:cubicBezTo>
                <a:lnTo>
                  <a:pt x="22927" y="63135"/>
                </a:lnTo>
                <a:cubicBezTo>
                  <a:pt x="19752" y="59313"/>
                  <a:pt x="20258" y="53638"/>
                  <a:pt x="24079" y="50463"/>
                </a:cubicBezTo>
                <a:cubicBezTo>
                  <a:pt x="27901" y="47288"/>
                  <a:pt x="33576" y="47794"/>
                  <a:pt x="36751" y="51615"/>
                </a:cubicBezTo>
                <a:lnTo>
                  <a:pt x="39617" y="55043"/>
                </a:lnTo>
                <a:cubicBezTo>
                  <a:pt x="42848" y="58948"/>
                  <a:pt x="46389" y="62573"/>
                  <a:pt x="50126" y="65916"/>
                </a:cubicBezTo>
                <a:cubicBezTo>
                  <a:pt x="57852" y="57375"/>
                  <a:pt x="63950" y="47344"/>
                  <a:pt x="67967" y="36302"/>
                </a:cubicBezTo>
                <a:lnTo>
                  <a:pt x="68108" y="35965"/>
                </a:lnTo>
                <a:lnTo>
                  <a:pt x="9019" y="35965"/>
                </a:lnTo>
                <a:cubicBezTo>
                  <a:pt x="4018" y="35965"/>
                  <a:pt x="0" y="31947"/>
                  <a:pt x="0" y="26973"/>
                </a:cubicBezTo>
                <a:cubicBezTo>
                  <a:pt x="0" y="22000"/>
                  <a:pt x="4018" y="17982"/>
                  <a:pt x="8991" y="17982"/>
                </a:cubicBezTo>
                <a:lnTo>
                  <a:pt x="35965" y="17982"/>
                </a:lnTo>
                <a:lnTo>
                  <a:pt x="35965" y="8991"/>
                </a:lnTo>
                <a:cubicBezTo>
                  <a:pt x="35965" y="4018"/>
                  <a:pt x="39983" y="0"/>
                  <a:pt x="44956" y="0"/>
                </a:cubicBezTo>
                <a:close/>
                <a:moveTo>
                  <a:pt x="116885" y="76088"/>
                </a:moveTo>
                <a:lnTo>
                  <a:pt x="102752" y="107894"/>
                </a:lnTo>
                <a:lnTo>
                  <a:pt x="131018" y="107894"/>
                </a:lnTo>
                <a:lnTo>
                  <a:pt x="116885" y="760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6718356" y="2166867"/>
            <a:ext cx="4010053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Мультиязычность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18356" y="2382655"/>
            <a:ext cx="4001062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Qwen3.5-4B нативно обрабатывает кириллицу, латиницу и смешанные скрипты.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2746" y="2634407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71929" y="0"/>
                </a:moveTo>
                <a:lnTo>
                  <a:pt x="215788" y="0"/>
                </a:lnTo>
                <a:cubicBezTo>
                  <a:pt x="255513" y="0"/>
                  <a:pt x="287717" y="32204"/>
                  <a:pt x="287717" y="71929"/>
                </a:cubicBezTo>
                <a:lnTo>
                  <a:pt x="287717" y="215788"/>
                </a:lnTo>
                <a:cubicBezTo>
                  <a:pt x="287717" y="255513"/>
                  <a:pt x="255513" y="287717"/>
                  <a:pt x="215788" y="287717"/>
                </a:cubicBezTo>
                <a:lnTo>
                  <a:pt x="71929" y="287717"/>
                </a:lnTo>
                <a:cubicBezTo>
                  <a:pt x="32204" y="287717"/>
                  <a:pt x="0" y="255513"/>
                  <a:pt x="0" y="215788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85684" y="2706336"/>
            <a:ext cx="161841" cy="143858"/>
          </a:xfrm>
          <a:custGeom>
            <a:avLst/>
            <a:gdLst/>
            <a:ahLst/>
            <a:cxnLst/>
            <a:rect l="l" t="t" r="r" b="b"/>
            <a:pathLst>
              <a:path w="161841" h="143858">
                <a:moveTo>
                  <a:pt x="80920" y="8991"/>
                </a:moveTo>
                <a:cubicBezTo>
                  <a:pt x="58218" y="8991"/>
                  <a:pt x="40039" y="19331"/>
                  <a:pt x="26805" y="31638"/>
                </a:cubicBezTo>
                <a:cubicBezTo>
                  <a:pt x="13655" y="43860"/>
                  <a:pt x="4861" y="58442"/>
                  <a:pt x="674" y="68473"/>
                </a:cubicBezTo>
                <a:cubicBezTo>
                  <a:pt x="-253" y="70693"/>
                  <a:pt x="-253" y="73165"/>
                  <a:pt x="674" y="75385"/>
                </a:cubicBezTo>
                <a:cubicBezTo>
                  <a:pt x="4861" y="85416"/>
                  <a:pt x="13655" y="100027"/>
                  <a:pt x="26805" y="112221"/>
                </a:cubicBezTo>
                <a:cubicBezTo>
                  <a:pt x="40039" y="124499"/>
                  <a:pt x="58218" y="134867"/>
                  <a:pt x="80920" y="134867"/>
                </a:cubicBezTo>
                <a:cubicBezTo>
                  <a:pt x="103623" y="134867"/>
                  <a:pt x="121802" y="124527"/>
                  <a:pt x="135036" y="112221"/>
                </a:cubicBezTo>
                <a:cubicBezTo>
                  <a:pt x="148185" y="99998"/>
                  <a:pt x="156980" y="85416"/>
                  <a:pt x="161166" y="75385"/>
                </a:cubicBezTo>
                <a:cubicBezTo>
                  <a:pt x="162094" y="73165"/>
                  <a:pt x="162094" y="70693"/>
                  <a:pt x="161166" y="68473"/>
                </a:cubicBezTo>
                <a:cubicBezTo>
                  <a:pt x="156980" y="58442"/>
                  <a:pt x="148185" y="43832"/>
                  <a:pt x="135036" y="31638"/>
                </a:cubicBezTo>
                <a:cubicBezTo>
                  <a:pt x="121802" y="19359"/>
                  <a:pt x="103623" y="8991"/>
                  <a:pt x="80920" y="8991"/>
                </a:cubicBezTo>
                <a:close/>
                <a:moveTo>
                  <a:pt x="40460" y="71929"/>
                </a:moveTo>
                <a:cubicBezTo>
                  <a:pt x="40460" y="49599"/>
                  <a:pt x="58590" y="31469"/>
                  <a:pt x="80920" y="31469"/>
                </a:cubicBezTo>
                <a:cubicBezTo>
                  <a:pt x="103251" y="31469"/>
                  <a:pt x="121381" y="49599"/>
                  <a:pt x="121381" y="71929"/>
                </a:cubicBezTo>
                <a:cubicBezTo>
                  <a:pt x="121381" y="94260"/>
                  <a:pt x="103251" y="112389"/>
                  <a:pt x="80920" y="112389"/>
                </a:cubicBezTo>
                <a:cubicBezTo>
                  <a:pt x="58590" y="112389"/>
                  <a:pt x="40460" y="94260"/>
                  <a:pt x="40460" y="71929"/>
                </a:cubicBezTo>
                <a:close/>
                <a:moveTo>
                  <a:pt x="80920" y="53947"/>
                </a:moveTo>
                <a:cubicBezTo>
                  <a:pt x="80920" y="63865"/>
                  <a:pt x="72856" y="71929"/>
                  <a:pt x="62938" y="71929"/>
                </a:cubicBezTo>
                <a:cubicBezTo>
                  <a:pt x="59707" y="71929"/>
                  <a:pt x="56672" y="71086"/>
                  <a:pt x="54031" y="69569"/>
                </a:cubicBezTo>
                <a:cubicBezTo>
                  <a:pt x="53750" y="72632"/>
                  <a:pt x="54003" y="75779"/>
                  <a:pt x="54846" y="78897"/>
                </a:cubicBezTo>
                <a:cubicBezTo>
                  <a:pt x="58695" y="93283"/>
                  <a:pt x="73503" y="101825"/>
                  <a:pt x="87888" y="97975"/>
                </a:cubicBezTo>
                <a:cubicBezTo>
                  <a:pt x="102274" y="94126"/>
                  <a:pt x="110816" y="79319"/>
                  <a:pt x="106967" y="64933"/>
                </a:cubicBezTo>
                <a:cubicBezTo>
                  <a:pt x="103539" y="52092"/>
                  <a:pt x="91373" y="43916"/>
                  <a:pt x="78560" y="45040"/>
                </a:cubicBezTo>
                <a:cubicBezTo>
                  <a:pt x="80049" y="47653"/>
                  <a:pt x="80920" y="50688"/>
                  <a:pt x="80920" y="5394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6718356" y="2634407"/>
            <a:ext cx="4846230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Понимание макета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18356" y="2850195"/>
            <a:ext cx="4837239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 понимает пространственные связи, структурный контекст, семантическую интерпретацию.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2746" y="3101947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71929" y="0"/>
                </a:moveTo>
                <a:lnTo>
                  <a:pt x="215788" y="0"/>
                </a:lnTo>
                <a:cubicBezTo>
                  <a:pt x="255513" y="0"/>
                  <a:pt x="287717" y="32204"/>
                  <a:pt x="287717" y="71929"/>
                </a:cubicBezTo>
                <a:lnTo>
                  <a:pt x="287717" y="215788"/>
                </a:lnTo>
                <a:cubicBezTo>
                  <a:pt x="287717" y="255513"/>
                  <a:pt x="255513" y="287717"/>
                  <a:pt x="215788" y="287717"/>
                </a:cubicBezTo>
                <a:lnTo>
                  <a:pt x="71929" y="287717"/>
                </a:lnTo>
                <a:cubicBezTo>
                  <a:pt x="32204" y="287717"/>
                  <a:pt x="0" y="255513"/>
                  <a:pt x="0" y="215788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394675" y="3173876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71929" y="0"/>
                </a:moveTo>
                <a:cubicBezTo>
                  <a:pt x="73222" y="0"/>
                  <a:pt x="74514" y="281"/>
                  <a:pt x="75694" y="815"/>
                </a:cubicBezTo>
                <a:lnTo>
                  <a:pt x="128630" y="23265"/>
                </a:lnTo>
                <a:cubicBezTo>
                  <a:pt x="134811" y="25878"/>
                  <a:pt x="139419" y="31975"/>
                  <a:pt x="139391" y="39336"/>
                </a:cubicBezTo>
                <a:cubicBezTo>
                  <a:pt x="139250" y="67209"/>
                  <a:pt x="127787" y="118206"/>
                  <a:pt x="79375" y="141386"/>
                </a:cubicBezTo>
                <a:cubicBezTo>
                  <a:pt x="74683" y="143634"/>
                  <a:pt x="69232" y="143634"/>
                  <a:pt x="64540" y="141386"/>
                </a:cubicBezTo>
                <a:cubicBezTo>
                  <a:pt x="16100" y="118206"/>
                  <a:pt x="4664" y="67209"/>
                  <a:pt x="4524" y="39336"/>
                </a:cubicBezTo>
                <a:cubicBezTo>
                  <a:pt x="4496" y="31975"/>
                  <a:pt x="9104" y="25878"/>
                  <a:pt x="15285" y="23265"/>
                </a:cubicBezTo>
                <a:lnTo>
                  <a:pt x="68192" y="815"/>
                </a:lnTo>
                <a:cubicBezTo>
                  <a:pt x="69372" y="281"/>
                  <a:pt x="70637" y="0"/>
                  <a:pt x="71929" y="0"/>
                </a:cubicBezTo>
                <a:close/>
                <a:moveTo>
                  <a:pt x="71929" y="18769"/>
                </a:moveTo>
                <a:lnTo>
                  <a:pt x="71929" y="125005"/>
                </a:lnTo>
                <a:cubicBezTo>
                  <a:pt x="110704" y="106236"/>
                  <a:pt x="121128" y="64652"/>
                  <a:pt x="121381" y="39758"/>
                </a:cubicBezTo>
                <a:lnTo>
                  <a:pt x="71929" y="18797"/>
                </a:lnTo>
                <a:lnTo>
                  <a:pt x="71929" y="1879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6718356" y="3101947"/>
            <a:ext cx="434272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Плавная деградация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18356" y="3317735"/>
            <a:ext cx="4333735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Пустые значения вместо галлюцинаций, оценки confidence, флаги выхода за диапазон.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22746" y="3569487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71929" y="0"/>
                </a:moveTo>
                <a:lnTo>
                  <a:pt x="215788" y="0"/>
                </a:lnTo>
                <a:cubicBezTo>
                  <a:pt x="255513" y="0"/>
                  <a:pt x="287717" y="32204"/>
                  <a:pt x="287717" y="71929"/>
                </a:cubicBezTo>
                <a:lnTo>
                  <a:pt x="287717" y="215788"/>
                </a:lnTo>
                <a:cubicBezTo>
                  <a:pt x="287717" y="255513"/>
                  <a:pt x="255513" y="287717"/>
                  <a:pt x="215788" y="287717"/>
                </a:cubicBezTo>
                <a:lnTo>
                  <a:pt x="71929" y="287717"/>
                </a:lnTo>
                <a:cubicBezTo>
                  <a:pt x="32204" y="287717"/>
                  <a:pt x="0" y="255513"/>
                  <a:pt x="0" y="215788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03666" y="3641416"/>
            <a:ext cx="125876" cy="143858"/>
          </a:xfrm>
          <a:custGeom>
            <a:avLst/>
            <a:gdLst/>
            <a:ahLst/>
            <a:cxnLst/>
            <a:rect l="l" t="t" r="r" b="b"/>
            <a:pathLst>
              <a:path w="125876" h="143858">
                <a:moveTo>
                  <a:pt x="95194" y="-2782"/>
                </a:moveTo>
                <a:cubicBezTo>
                  <a:pt x="98537" y="-365"/>
                  <a:pt x="99774" y="4018"/>
                  <a:pt x="98256" y="7839"/>
                </a:cubicBezTo>
                <a:lnTo>
                  <a:pt x="76228" y="62938"/>
                </a:lnTo>
                <a:lnTo>
                  <a:pt x="116885" y="62938"/>
                </a:lnTo>
                <a:cubicBezTo>
                  <a:pt x="120678" y="62938"/>
                  <a:pt x="124050" y="65298"/>
                  <a:pt x="125342" y="68867"/>
                </a:cubicBezTo>
                <a:cubicBezTo>
                  <a:pt x="126635" y="72435"/>
                  <a:pt x="125539" y="76425"/>
                  <a:pt x="122645" y="78841"/>
                </a:cubicBezTo>
                <a:lnTo>
                  <a:pt x="41725" y="146275"/>
                </a:lnTo>
                <a:cubicBezTo>
                  <a:pt x="38550" y="148916"/>
                  <a:pt x="34026" y="149056"/>
                  <a:pt x="30682" y="146640"/>
                </a:cubicBezTo>
                <a:cubicBezTo>
                  <a:pt x="27339" y="144224"/>
                  <a:pt x="26102" y="139840"/>
                  <a:pt x="27620" y="136019"/>
                </a:cubicBezTo>
                <a:lnTo>
                  <a:pt x="49648" y="80920"/>
                </a:lnTo>
                <a:lnTo>
                  <a:pt x="8991" y="80920"/>
                </a:lnTo>
                <a:cubicBezTo>
                  <a:pt x="5198" y="80920"/>
                  <a:pt x="1826" y="78560"/>
                  <a:pt x="534" y="74992"/>
                </a:cubicBezTo>
                <a:cubicBezTo>
                  <a:pt x="-759" y="71423"/>
                  <a:pt x="337" y="67434"/>
                  <a:pt x="3231" y="65017"/>
                </a:cubicBezTo>
                <a:lnTo>
                  <a:pt x="84152" y="-2416"/>
                </a:lnTo>
                <a:cubicBezTo>
                  <a:pt x="87327" y="-5058"/>
                  <a:pt x="91850" y="-5198"/>
                  <a:pt x="95194" y="-278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6718356" y="3569487"/>
            <a:ext cx="463044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Быстрая итерация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718356" y="3785274"/>
            <a:ext cx="4621451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Новый параметр — добавьте строку в якорную таблицу. Новая SCADA — напишите промпты.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74392" y="4194372"/>
            <a:ext cx="5655434" cy="2472566"/>
          </a:xfrm>
          <a:custGeom>
            <a:avLst/>
            <a:gdLst/>
            <a:ahLst/>
            <a:cxnLst/>
            <a:rect l="l" t="t" r="r" b="b"/>
            <a:pathLst>
              <a:path w="5655434" h="2472566">
                <a:moveTo>
                  <a:pt x="71927" y="0"/>
                </a:moveTo>
                <a:lnTo>
                  <a:pt x="5583507" y="0"/>
                </a:lnTo>
                <a:cubicBezTo>
                  <a:pt x="5623231" y="0"/>
                  <a:pt x="5655434" y="32203"/>
                  <a:pt x="5655434" y="71927"/>
                </a:cubicBezTo>
                <a:lnTo>
                  <a:pt x="5655434" y="2400639"/>
                </a:lnTo>
                <a:cubicBezTo>
                  <a:pt x="5655434" y="2440364"/>
                  <a:pt x="5623231" y="2472566"/>
                  <a:pt x="5583507" y="2472566"/>
                </a:cubicBezTo>
                <a:lnTo>
                  <a:pt x="71927" y="2472566"/>
                </a:lnTo>
                <a:cubicBezTo>
                  <a:pt x="32229" y="2472566"/>
                  <a:pt x="0" y="2440337"/>
                  <a:pt x="0" y="2400639"/>
                </a:cubicBezTo>
                <a:lnTo>
                  <a:pt x="0" y="71927"/>
                </a:lnTo>
                <a:cubicBezTo>
                  <a:pt x="0" y="32229"/>
                  <a:pt x="32229" y="0"/>
                  <a:pt x="71927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2746" y="4342726"/>
            <a:ext cx="543964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Принцип проектирования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27241" y="4706867"/>
            <a:ext cx="5349735" cy="548460"/>
          </a:xfrm>
          <a:custGeom>
            <a:avLst/>
            <a:gdLst/>
            <a:ahLst/>
            <a:cxnLst/>
            <a:rect l="l" t="t" r="r" b="b"/>
            <a:pathLst>
              <a:path w="5349735" h="548460">
                <a:moveTo>
                  <a:pt x="71931" y="0"/>
                </a:moveTo>
                <a:lnTo>
                  <a:pt x="5277804" y="0"/>
                </a:lnTo>
                <a:cubicBezTo>
                  <a:pt x="5317530" y="0"/>
                  <a:pt x="5349735" y="32204"/>
                  <a:pt x="5349735" y="71931"/>
                </a:cubicBezTo>
                <a:lnTo>
                  <a:pt x="5349735" y="476530"/>
                </a:lnTo>
                <a:cubicBezTo>
                  <a:pt x="5349735" y="516256"/>
                  <a:pt x="5317530" y="548460"/>
                  <a:pt x="5277804" y="548460"/>
                </a:cubicBezTo>
                <a:lnTo>
                  <a:pt x="71931" y="548460"/>
                </a:lnTo>
                <a:cubicBezTo>
                  <a:pt x="32204" y="548460"/>
                  <a:pt x="0" y="516256"/>
                  <a:pt x="0" y="476530"/>
                </a:cubicBezTo>
                <a:lnTo>
                  <a:pt x="0" y="71931"/>
                </a:lnTo>
                <a:cubicBezTo>
                  <a:pt x="0" y="32204"/>
                  <a:pt x="32204" y="0"/>
                  <a:pt x="7193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39631" y="4819257"/>
            <a:ext cx="5178903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Ядро InfoDiode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39631" y="4999080"/>
            <a:ext cx="5178903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VLM-клиент, XML-генератор, крипто, email, UI — не зависит от SCADA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27241" y="5336248"/>
            <a:ext cx="5349735" cy="548460"/>
          </a:xfrm>
          <a:custGeom>
            <a:avLst/>
            <a:gdLst/>
            <a:ahLst/>
            <a:cxnLst/>
            <a:rect l="l" t="t" r="r" b="b"/>
            <a:pathLst>
              <a:path w="5349735" h="548460">
                <a:moveTo>
                  <a:pt x="71931" y="0"/>
                </a:moveTo>
                <a:lnTo>
                  <a:pt x="5277804" y="0"/>
                </a:lnTo>
                <a:cubicBezTo>
                  <a:pt x="5317530" y="0"/>
                  <a:pt x="5349735" y="32204"/>
                  <a:pt x="5349735" y="71931"/>
                </a:cubicBezTo>
                <a:lnTo>
                  <a:pt x="5349735" y="476530"/>
                </a:lnTo>
                <a:cubicBezTo>
                  <a:pt x="5349735" y="516256"/>
                  <a:pt x="5317530" y="548460"/>
                  <a:pt x="5277804" y="548460"/>
                </a:cubicBezTo>
                <a:lnTo>
                  <a:pt x="71931" y="548460"/>
                </a:lnTo>
                <a:cubicBezTo>
                  <a:pt x="32204" y="548460"/>
                  <a:pt x="0" y="516256"/>
                  <a:pt x="0" y="476530"/>
                </a:cubicBezTo>
                <a:lnTo>
                  <a:pt x="0" y="71931"/>
                </a:lnTo>
                <a:cubicBezTo>
                  <a:pt x="0" y="32204"/>
                  <a:pt x="32204" y="0"/>
                  <a:pt x="7193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39631" y="5448637"/>
            <a:ext cx="5178903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Модуль оценки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439631" y="5628460"/>
            <a:ext cx="5178903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GT-файл для каждой SCADA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27241" y="5965628"/>
            <a:ext cx="5349735" cy="548460"/>
          </a:xfrm>
          <a:custGeom>
            <a:avLst/>
            <a:gdLst/>
            <a:ahLst/>
            <a:cxnLst/>
            <a:rect l="l" t="t" r="r" b="b"/>
            <a:pathLst>
              <a:path w="5349735" h="548460">
                <a:moveTo>
                  <a:pt x="71931" y="0"/>
                </a:moveTo>
                <a:lnTo>
                  <a:pt x="5277804" y="0"/>
                </a:lnTo>
                <a:cubicBezTo>
                  <a:pt x="5317530" y="0"/>
                  <a:pt x="5349735" y="32204"/>
                  <a:pt x="5349735" y="71931"/>
                </a:cubicBezTo>
                <a:lnTo>
                  <a:pt x="5349735" y="476530"/>
                </a:lnTo>
                <a:cubicBezTo>
                  <a:pt x="5349735" y="516256"/>
                  <a:pt x="5317530" y="548460"/>
                  <a:pt x="5277804" y="548460"/>
                </a:cubicBezTo>
                <a:lnTo>
                  <a:pt x="71931" y="548460"/>
                </a:lnTo>
                <a:cubicBezTo>
                  <a:pt x="32204" y="548460"/>
                  <a:pt x="0" y="516256"/>
                  <a:pt x="0" y="476530"/>
                </a:cubicBezTo>
                <a:lnTo>
                  <a:pt x="0" y="71931"/>
                </a:lnTo>
                <a:cubicBezTo>
                  <a:pt x="0" y="32204"/>
                  <a:pt x="32204" y="0"/>
                  <a:pt x="7193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39631" y="6078018"/>
            <a:ext cx="5178903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Конфигурация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439631" y="6257841"/>
            <a:ext cx="5178903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Промпты и координаты зон для каждой SCADA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81000"/>
            <a:ext cx="445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Заключение и перспективы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995363"/>
            <a:ext cx="5629275" cy="2219325"/>
          </a:xfrm>
          <a:custGeom>
            <a:avLst/>
            <a:gdLst/>
            <a:ahLst/>
            <a:cxnLst/>
            <a:rect l="l" t="t" r="r" b="b"/>
            <a:pathLst>
              <a:path w="5629275" h="2219325">
                <a:moveTo>
                  <a:pt x="76189" y="0"/>
                </a:moveTo>
                <a:lnTo>
                  <a:pt x="5553086" y="0"/>
                </a:lnTo>
                <a:cubicBezTo>
                  <a:pt x="5595136" y="0"/>
                  <a:pt x="5629275" y="34139"/>
                  <a:pt x="5629275" y="76189"/>
                </a:cubicBezTo>
                <a:lnTo>
                  <a:pt x="5629275" y="2143136"/>
                </a:lnTo>
                <a:cubicBezTo>
                  <a:pt x="5629275" y="2185214"/>
                  <a:pt x="5595164" y="2219325"/>
                  <a:pt x="5553086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200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1525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Достижения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1975" y="1571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809625" y="1533525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Точность 97.44%</a:t>
            </a: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превышает требование ≥95%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1838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18002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Полное покрытие</a:t>
            </a: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100% параметров (28/28)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105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2066925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Корректный XML</a:t>
            </a: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формат со снапшотами 500мс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2371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23336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Шифрование и отправка</a:t>
            </a: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GPG + SMTP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2638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09625" y="2600325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QR-инфодиод</a:t>
            </a: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дополнительное задание выполнено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2905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809625" y="2867025"/>
            <a:ext cx="371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Полностью офлайн</a:t>
            </a: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работа на одном ПК с GPU 8GB VRAM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338513"/>
            <a:ext cx="5629275" cy="3114675"/>
          </a:xfrm>
          <a:custGeom>
            <a:avLst/>
            <a:gdLst/>
            <a:ahLst/>
            <a:cxnLst/>
            <a:rect l="l" t="t" r="r" b="b"/>
            <a:pathLst>
              <a:path w="5629275" h="3114675">
                <a:moveTo>
                  <a:pt x="76185" y="0"/>
                </a:moveTo>
                <a:lnTo>
                  <a:pt x="5553090" y="0"/>
                </a:lnTo>
                <a:cubicBezTo>
                  <a:pt x="5595166" y="0"/>
                  <a:pt x="5629275" y="34109"/>
                  <a:pt x="5629275" y="76185"/>
                </a:cubicBezTo>
                <a:lnTo>
                  <a:pt x="5629275" y="3038490"/>
                </a:lnTo>
                <a:cubicBezTo>
                  <a:pt x="5629275" y="3080566"/>
                  <a:pt x="5595166" y="3114675"/>
                  <a:pt x="5553090" y="3114675"/>
                </a:cubicBezTo>
                <a:lnTo>
                  <a:pt x="76185" y="3114675"/>
                </a:lnTo>
                <a:cubicBezTo>
                  <a:pt x="34109" y="3114675"/>
                  <a:pt x="0" y="3080566"/>
                  <a:pt x="0" y="3038490"/>
                </a:cubicBezTo>
                <a:lnTo>
                  <a:pt x="0" y="76185"/>
                </a:lnTo>
                <a:cubicBezTo>
                  <a:pt x="0" y="34109"/>
                  <a:pt x="34109" y="0"/>
                  <a:pt x="7618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925" y="349567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Системные требования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925" y="3876675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43699" y="387667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3.12+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925" y="4143375"/>
            <a:ext cx="51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48771" y="4143375"/>
            <a:ext cx="27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2925" y="441007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GPU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3655" y="44100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8GB VRAM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2925" y="4676775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9118" y="4676775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16GB (минимум)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2925" y="4948238"/>
            <a:ext cx="5314950" cy="9525"/>
          </a:xfrm>
          <a:custGeom>
            <a:avLst/>
            <a:gdLst/>
            <a:ahLst/>
            <a:cxnLst/>
            <a:rect l="l" t="t" r="r" b="b"/>
            <a:pathLst>
              <a:path w="5314950" h="9525">
                <a:moveTo>
                  <a:pt x="0" y="0"/>
                </a:moveTo>
                <a:lnTo>
                  <a:pt x="5314950" y="0"/>
                </a:lnTo>
                <a:lnTo>
                  <a:pt x="5314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31" name="Shape 29"/>
          <p:cNvSpPr/>
          <p:nvPr/>
        </p:nvSpPr>
        <p:spPr>
          <a:xfrm>
            <a:off x="557213" y="5038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714375" y="5029200"/>
            <a:ext cx="520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Compose для запуска всего стека одной командой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6963" y="995363"/>
            <a:ext cx="5629275" cy="4067175"/>
          </a:xfrm>
          <a:custGeom>
            <a:avLst/>
            <a:gdLst/>
            <a:ahLst/>
            <a:cxnLst/>
            <a:rect l="l" t="t" r="r" b="b"/>
            <a:pathLst>
              <a:path w="5629275" h="4067175">
                <a:moveTo>
                  <a:pt x="76219" y="0"/>
                </a:moveTo>
                <a:lnTo>
                  <a:pt x="5553056" y="0"/>
                </a:lnTo>
                <a:cubicBezTo>
                  <a:pt x="5595151" y="0"/>
                  <a:pt x="5629275" y="34124"/>
                  <a:pt x="5629275" y="76219"/>
                </a:cubicBezTo>
                <a:lnTo>
                  <a:pt x="5629275" y="3990956"/>
                </a:lnTo>
                <a:cubicBezTo>
                  <a:pt x="5629275" y="4033051"/>
                  <a:pt x="5595151" y="4067175"/>
                  <a:pt x="5553056" y="4067175"/>
                </a:cubicBezTo>
                <a:lnTo>
                  <a:pt x="76219" y="4067175"/>
                </a:lnTo>
                <a:cubicBezTo>
                  <a:pt x="34124" y="4067175"/>
                  <a:pt x="0" y="4033051"/>
                  <a:pt x="0" y="3990956"/>
                </a:cubicBezTo>
                <a:lnTo>
                  <a:pt x="0" y="76219"/>
                </a:lnTo>
                <a:cubicBezTo>
                  <a:pt x="0" y="34153"/>
                  <a:pt x="34153" y="0"/>
                  <a:pt x="7621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4125" y="11525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Перспективы развития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8888" y="1538288"/>
            <a:ext cx="5305425" cy="1000125"/>
          </a:xfrm>
          <a:custGeom>
            <a:avLst/>
            <a:gdLst/>
            <a:ahLst/>
            <a:cxnLst/>
            <a:rect l="l" t="t" r="r" b="b"/>
            <a:pathLst>
              <a:path w="5305425" h="1000125">
                <a:moveTo>
                  <a:pt x="76200" y="0"/>
                </a:moveTo>
                <a:lnTo>
                  <a:pt x="5229225" y="0"/>
                </a:lnTo>
                <a:cubicBezTo>
                  <a:pt x="5271309" y="0"/>
                  <a:pt x="5305425" y="34116"/>
                  <a:pt x="5305425" y="76200"/>
                </a:cubicBezTo>
                <a:lnTo>
                  <a:pt x="5305425" y="923925"/>
                </a:lnTo>
                <a:cubicBezTo>
                  <a:pt x="5305425" y="966009"/>
                  <a:pt x="5271309" y="1000125"/>
                  <a:pt x="52292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3669" y="16859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16573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Краткосрочные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57950" y="18859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Динамическая детекция зон (~2 недели)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7950" y="20764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Кеширование промптов (~1 неделя)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7950" y="22669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Консенсус по множеству кадров (~3 дня)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8888" y="2624138"/>
            <a:ext cx="5305425" cy="1000125"/>
          </a:xfrm>
          <a:custGeom>
            <a:avLst/>
            <a:gdLst/>
            <a:ahLst/>
            <a:cxnLst/>
            <a:rect l="l" t="t" r="r" b="b"/>
            <a:pathLst>
              <a:path w="5305425" h="1000125">
                <a:moveTo>
                  <a:pt x="76200" y="0"/>
                </a:moveTo>
                <a:lnTo>
                  <a:pt x="5229225" y="0"/>
                </a:lnTo>
                <a:cubicBezTo>
                  <a:pt x="5271309" y="0"/>
                  <a:pt x="5305425" y="34116"/>
                  <a:pt x="5305425" y="76200"/>
                </a:cubicBezTo>
                <a:lnTo>
                  <a:pt x="5305425" y="923925"/>
                </a:lnTo>
                <a:cubicBezTo>
                  <a:pt x="5305425" y="966009"/>
                  <a:pt x="5271309" y="1000125"/>
                  <a:pt x="52292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85334" y="2771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2743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Среднесрочные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57950" y="29718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Крупная VLM (7B/14B) — выше точность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57950" y="31623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GPU-батчинг — ускорение 3-4×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57950" y="33528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Спекулятивный декодинг — ускорение 2×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8888" y="3709988"/>
            <a:ext cx="5305425" cy="1190625"/>
          </a:xfrm>
          <a:custGeom>
            <a:avLst/>
            <a:gdLst/>
            <a:ahLst/>
            <a:cxnLst/>
            <a:rect l="l" t="t" r="r" b="b"/>
            <a:pathLst>
              <a:path w="5305425" h="1190625">
                <a:moveTo>
                  <a:pt x="76200" y="0"/>
                </a:moveTo>
                <a:lnTo>
                  <a:pt x="5229225" y="0"/>
                </a:lnTo>
                <a:cubicBezTo>
                  <a:pt x="5271281" y="0"/>
                  <a:pt x="5305425" y="34144"/>
                  <a:pt x="5305425" y="76200"/>
                </a:cubicBezTo>
                <a:lnTo>
                  <a:pt x="5305425" y="1114425"/>
                </a:lnTo>
                <a:cubicBezTo>
                  <a:pt x="5305425" y="1156481"/>
                  <a:pt x="5271281" y="1190625"/>
                  <a:pt x="5229225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77000" y="3857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6629400" y="38290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Долгосрочные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57950" y="40576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Few-shot промптинг для новых SCADA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57950" y="42481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Стриминг-анализ (реалтайм)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57950" y="44386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Краевой деплоймент на Jetson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57950" y="46291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Активное обучение (human-in-the-loop)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7663" y="661035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InfoDiode — Интеллектуальная система извлечения данных из изолированных SCADA-систем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1914</Words>
  <Application>Microsoft Office PowerPoint</Application>
  <PresentationFormat>Широкоэкранный</PresentationFormat>
  <Paragraphs>461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Liter</vt:lpstr>
      <vt:lpstr>MiSans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InfoDiode - Хакатон РТУ МИРЭА 2026</dc:title>
  <dc:subject>InfoDiode - Хакатон РТУ МИРЭА 2026</dc:subject>
  <dc:creator>Kimi</dc:creator>
  <cp:lastModifiedBy>123 123</cp:lastModifiedBy>
  <cp:revision>1</cp:revision>
  <dcterms:created xsi:type="dcterms:W3CDTF">2026-04-19T18:18:07Z</dcterms:created>
  <dcterms:modified xsi:type="dcterms:W3CDTF">2026-04-19T18:42:42Z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{"Label":"InfoDiode - Хакатон РТУ МИРЭА 2026","ContentProducer":"001191110108MACG2KBH8F10000","ProduceID":"19da6e12-b3e2-8c44-8000-00001530851c","ReservedCode1":"","ContentPropagator":"001191110108MACG2KBH8F20000","PropagateID":"19da6e12-b3e2-8c44-8000-00001530851c","ReservedCode2":""}</vt:lpwstr>
  </property>
</Properties>
</file>